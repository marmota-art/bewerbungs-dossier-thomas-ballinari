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4" r:id="rId3"/>
    <p:sldId id="275" r:id="rId4"/>
    <p:sldId id="276" r:id="rId5"/>
    <p:sldId id="277" r:id="rId6"/>
    <p:sldId id="278" r:id="rId7"/>
    <p:sldId id="279" r:id="rId8"/>
    <p:sldId id="280" r:id="rId9"/>
    <p:sldId id="281" r:id="rId10"/>
    <p:sldId id="282" r:id="rId11"/>
    <p:sldId id="273"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meltier 9000" userId="1fa2a075d92b2545" providerId="LiveId" clId="{4D4C794E-702E-40E3-9382-686988CE81BE}"/>
    <pc:docChg chg="custSel addSld modSld sldOrd">
      <pc:chgData name="Murmeltier 9000" userId="1fa2a075d92b2545" providerId="LiveId" clId="{4D4C794E-702E-40E3-9382-686988CE81BE}" dt="2026-10-03T03:58:51.219" v="348" actId="27636"/>
      <pc:docMkLst>
        <pc:docMk/>
      </pc:docMkLst>
      <pc:sldChg chg="modSp mod">
        <pc:chgData name="Murmeltier 9000" userId="1fa2a075d92b2545" providerId="LiveId" clId="{4D4C794E-702E-40E3-9382-686988CE81BE}" dt="2026-09-18T06:29:09.433" v="91" actId="20577"/>
        <pc:sldMkLst>
          <pc:docMk/>
          <pc:sldMk cId="0" sldId="256"/>
        </pc:sldMkLst>
        <pc:spChg chg="mod">
          <ac:chgData name="Murmeltier 9000" userId="1fa2a075d92b2545" providerId="LiveId" clId="{4D4C794E-702E-40E3-9382-686988CE81BE}" dt="2026-09-18T06:29:09.433" v="91" actId="20577"/>
          <ac:spMkLst>
            <pc:docMk/>
            <pc:sldMk cId="0" sldId="256"/>
            <ac:spMk id="31" creationId="{00000000-0000-0000-0000-000000000000}"/>
          </ac:spMkLst>
        </pc:spChg>
        <pc:spChg chg="mod">
          <ac:chgData name="Murmeltier 9000" userId="1fa2a075d92b2545" providerId="LiveId" clId="{4D4C794E-702E-40E3-9382-686988CE81BE}" dt="2026-09-18T05:42:22.287" v="12" actId="14100"/>
          <ac:spMkLst>
            <pc:docMk/>
            <pc:sldMk cId="0" sldId="256"/>
            <ac:spMk id="32" creationId="{00000000-0000-0000-0000-000000000000}"/>
          </ac:spMkLst>
        </pc:spChg>
      </pc:sldChg>
      <pc:sldChg chg="modSp mod">
        <pc:chgData name="Murmeltier 9000" userId="1fa2a075d92b2545" providerId="LiveId" clId="{4D4C794E-702E-40E3-9382-686988CE81BE}" dt="2026-10-01T11:26:02.742" v="322" actId="1076"/>
        <pc:sldMkLst>
          <pc:docMk/>
          <pc:sldMk cId="0" sldId="273"/>
        </pc:sldMkLst>
        <pc:spChg chg="mod">
          <ac:chgData name="Murmeltier 9000" userId="1fa2a075d92b2545" providerId="LiveId" clId="{4D4C794E-702E-40E3-9382-686988CE81BE}" dt="2026-10-01T11:26:02.742" v="322" actId="1076"/>
          <ac:spMkLst>
            <pc:docMk/>
            <pc:sldMk cId="0" sldId="273"/>
            <ac:spMk id="2" creationId="{00000000-0000-0000-0000-000000000000}"/>
          </ac:spMkLst>
        </pc:spChg>
        <pc:spChg chg="mod">
          <ac:chgData name="Murmeltier 9000" userId="1fa2a075d92b2545" providerId="LiveId" clId="{4D4C794E-702E-40E3-9382-686988CE81BE}" dt="2026-09-18T06:11:18.244" v="80" actId="6549"/>
          <ac:spMkLst>
            <pc:docMk/>
            <pc:sldMk cId="0" sldId="273"/>
            <ac:spMk id="31" creationId="{00000000-0000-0000-0000-000000000000}"/>
          </ac:spMkLst>
        </pc:spChg>
      </pc:sldChg>
      <pc:sldChg chg="addSp modSp mod">
        <pc:chgData name="Murmeltier 9000" userId="1fa2a075d92b2545" providerId="LiveId" clId="{4D4C794E-702E-40E3-9382-686988CE81BE}" dt="2026-09-18T06:58:18.799" v="154" actId="1076"/>
        <pc:sldMkLst>
          <pc:docMk/>
          <pc:sldMk cId="0" sldId="275"/>
        </pc:sldMkLst>
        <pc:spChg chg="mod">
          <ac:chgData name="Murmeltier 9000" userId="1fa2a075d92b2545" providerId="LiveId" clId="{4D4C794E-702E-40E3-9382-686988CE81BE}" dt="2026-09-18T06:52:52.089" v="104" actId="1076"/>
          <ac:spMkLst>
            <pc:docMk/>
            <pc:sldMk cId="0" sldId="275"/>
            <ac:spMk id="14" creationId="{00000000-0000-0000-0000-000000000000}"/>
          </ac:spMkLst>
        </pc:spChg>
        <pc:spChg chg="mod">
          <ac:chgData name="Murmeltier 9000" userId="1fa2a075d92b2545" providerId="LiveId" clId="{4D4C794E-702E-40E3-9382-686988CE81BE}" dt="2026-09-18T06:58:18.799" v="154" actId="1076"/>
          <ac:spMkLst>
            <pc:docMk/>
            <pc:sldMk cId="0" sldId="275"/>
            <ac:spMk id="15" creationId="{00000000-0000-0000-0000-000000000000}"/>
          </ac:spMkLst>
        </pc:spChg>
        <pc:spChg chg="mod">
          <ac:chgData name="Murmeltier 9000" userId="1fa2a075d92b2545" providerId="LiveId" clId="{4D4C794E-702E-40E3-9382-686988CE81BE}" dt="2026-09-18T06:52:57.384" v="106" actId="1076"/>
          <ac:spMkLst>
            <pc:docMk/>
            <pc:sldMk cId="0" sldId="275"/>
            <ac:spMk id="16" creationId="{00000000-0000-0000-0000-000000000000}"/>
          </ac:spMkLst>
        </pc:spChg>
        <pc:spChg chg="mod">
          <ac:chgData name="Murmeltier 9000" userId="1fa2a075d92b2545" providerId="LiveId" clId="{4D4C794E-702E-40E3-9382-686988CE81BE}" dt="2026-09-18T06:51:15.497" v="95" actId="1076"/>
          <ac:spMkLst>
            <pc:docMk/>
            <pc:sldMk cId="0" sldId="275"/>
            <ac:spMk id="17" creationId="{00000000-0000-0000-0000-000000000000}"/>
          </ac:spMkLst>
        </pc:spChg>
        <pc:spChg chg="mod">
          <ac:chgData name="Murmeltier 9000" userId="1fa2a075d92b2545" providerId="LiveId" clId="{4D4C794E-702E-40E3-9382-686988CE81BE}" dt="2026-09-18T06:56:58.148" v="151" actId="1076"/>
          <ac:spMkLst>
            <pc:docMk/>
            <pc:sldMk cId="0" sldId="275"/>
            <ac:spMk id="18" creationId="{00000000-0000-0000-0000-000000000000}"/>
          </ac:spMkLst>
        </pc:spChg>
        <pc:spChg chg="mod">
          <ac:chgData name="Murmeltier 9000" userId="1fa2a075d92b2545" providerId="LiveId" clId="{4D4C794E-702E-40E3-9382-686988CE81BE}" dt="2026-09-18T06:51:56.237" v="100" actId="1076"/>
          <ac:spMkLst>
            <pc:docMk/>
            <pc:sldMk cId="0" sldId="275"/>
            <ac:spMk id="19" creationId="{00000000-0000-0000-0000-000000000000}"/>
          </ac:spMkLst>
        </pc:spChg>
        <pc:spChg chg="mod">
          <ac:chgData name="Murmeltier 9000" userId="1fa2a075d92b2545" providerId="LiveId" clId="{4D4C794E-702E-40E3-9382-686988CE81BE}" dt="2026-09-18T06:51:22.612" v="96" actId="1076"/>
          <ac:spMkLst>
            <pc:docMk/>
            <pc:sldMk cId="0" sldId="275"/>
            <ac:spMk id="20" creationId="{00000000-0000-0000-0000-000000000000}"/>
          </ac:spMkLst>
        </pc:spChg>
        <pc:spChg chg="mod">
          <ac:chgData name="Murmeltier 9000" userId="1fa2a075d92b2545" providerId="LiveId" clId="{4D4C794E-702E-40E3-9382-686988CE81BE}" dt="2026-09-18T06:57:02.935" v="152" actId="1076"/>
          <ac:spMkLst>
            <pc:docMk/>
            <pc:sldMk cId="0" sldId="275"/>
            <ac:spMk id="21" creationId="{00000000-0000-0000-0000-000000000000}"/>
          </ac:spMkLst>
        </pc:spChg>
        <pc:spChg chg="mod">
          <ac:chgData name="Murmeltier 9000" userId="1fa2a075d92b2545" providerId="LiveId" clId="{4D4C794E-702E-40E3-9382-686988CE81BE}" dt="2026-09-18T06:51:30.635" v="97" actId="1076"/>
          <ac:spMkLst>
            <pc:docMk/>
            <pc:sldMk cId="0" sldId="275"/>
            <ac:spMk id="23" creationId="{00000000-0000-0000-0000-000000000000}"/>
          </ac:spMkLst>
        </pc:spChg>
        <pc:spChg chg="mod">
          <ac:chgData name="Murmeltier 9000" userId="1fa2a075d92b2545" providerId="LiveId" clId="{4D4C794E-702E-40E3-9382-686988CE81BE}" dt="2026-09-18T06:57:11.655" v="153" actId="1076"/>
          <ac:spMkLst>
            <pc:docMk/>
            <pc:sldMk cId="0" sldId="275"/>
            <ac:spMk id="24" creationId="{00000000-0000-0000-0000-000000000000}"/>
          </ac:spMkLst>
        </pc:spChg>
        <pc:spChg chg="mod">
          <ac:chgData name="Murmeltier 9000" userId="1fa2a075d92b2545" providerId="LiveId" clId="{4D4C794E-702E-40E3-9382-686988CE81BE}" dt="2026-09-18T06:08:51.077" v="54" actId="20577"/>
          <ac:spMkLst>
            <pc:docMk/>
            <pc:sldMk cId="0" sldId="275"/>
            <ac:spMk id="27" creationId="{00000000-0000-0000-0000-000000000000}"/>
          </ac:spMkLst>
        </pc:spChg>
        <pc:spChg chg="add mod">
          <ac:chgData name="Murmeltier 9000" userId="1fa2a075d92b2545" providerId="LiveId" clId="{4D4C794E-702E-40E3-9382-686988CE81BE}" dt="2026-09-18T06:54:02.570" v="119" actId="207"/>
          <ac:spMkLst>
            <pc:docMk/>
            <pc:sldMk cId="0" sldId="275"/>
            <ac:spMk id="31" creationId="{58630B1E-306C-3B5C-8EAA-1D9A2CED58FC}"/>
          </ac:spMkLst>
        </pc:spChg>
        <pc:spChg chg="add mod">
          <ac:chgData name="Murmeltier 9000" userId="1fa2a075d92b2545" providerId="LiveId" clId="{4D4C794E-702E-40E3-9382-686988CE81BE}" dt="2026-09-18T06:55:09.532" v="130" actId="20577"/>
          <ac:spMkLst>
            <pc:docMk/>
            <pc:sldMk cId="0" sldId="275"/>
            <ac:spMk id="33" creationId="{D1EE5FAA-D0B3-90A3-64CC-4C39F445EB97}"/>
          </ac:spMkLst>
        </pc:spChg>
        <pc:spChg chg="add mod">
          <ac:chgData name="Murmeltier 9000" userId="1fa2a075d92b2545" providerId="LiveId" clId="{4D4C794E-702E-40E3-9382-686988CE81BE}" dt="2026-09-18T06:55:49.397" v="139" actId="20577"/>
          <ac:spMkLst>
            <pc:docMk/>
            <pc:sldMk cId="0" sldId="275"/>
            <ac:spMk id="35" creationId="{4A80E7D8-4C7D-0338-FD42-F577B889FE52}"/>
          </ac:spMkLst>
        </pc:spChg>
        <pc:spChg chg="add mod">
          <ac:chgData name="Murmeltier 9000" userId="1fa2a075d92b2545" providerId="LiveId" clId="{4D4C794E-702E-40E3-9382-686988CE81BE}" dt="2026-09-18T06:56:36.517" v="149" actId="20577"/>
          <ac:spMkLst>
            <pc:docMk/>
            <pc:sldMk cId="0" sldId="275"/>
            <ac:spMk id="37" creationId="{33BCE735-8AB2-4956-66A6-FD0B31102816}"/>
          </ac:spMkLst>
        </pc:spChg>
      </pc:sldChg>
      <pc:sldChg chg="modSp mod">
        <pc:chgData name="Murmeltier 9000" userId="1fa2a075d92b2545" providerId="LiveId" clId="{4D4C794E-702E-40E3-9382-686988CE81BE}" dt="2026-09-18T06:09:03.842" v="56" actId="6549"/>
        <pc:sldMkLst>
          <pc:docMk/>
          <pc:sldMk cId="0" sldId="276"/>
        </pc:sldMkLst>
        <pc:spChg chg="mod">
          <ac:chgData name="Murmeltier 9000" userId="1fa2a075d92b2545" providerId="LiveId" clId="{4D4C794E-702E-40E3-9382-686988CE81BE}" dt="2026-09-18T06:08:59.097" v="55" actId="20577"/>
          <ac:spMkLst>
            <pc:docMk/>
            <pc:sldMk cId="0" sldId="276"/>
            <ac:spMk id="19" creationId="{00000000-0000-0000-0000-000000000000}"/>
          </ac:spMkLst>
        </pc:spChg>
        <pc:spChg chg="mod">
          <ac:chgData name="Murmeltier 9000" userId="1fa2a075d92b2545" providerId="LiveId" clId="{4D4C794E-702E-40E3-9382-686988CE81BE}" dt="2026-09-18T06:09:03.842" v="56" actId="6549"/>
          <ac:spMkLst>
            <pc:docMk/>
            <pc:sldMk cId="0" sldId="276"/>
            <ac:spMk id="21" creationId="{00000000-0000-0000-0000-000000000000}"/>
          </ac:spMkLst>
        </pc:spChg>
      </pc:sldChg>
      <pc:sldChg chg="modSp mod ord">
        <pc:chgData name="Murmeltier 9000" userId="1fa2a075d92b2545" providerId="LiveId" clId="{4D4C794E-702E-40E3-9382-686988CE81BE}" dt="2026-10-02T10:08:39.441" v="346"/>
        <pc:sldMkLst>
          <pc:docMk/>
          <pc:sldMk cId="0" sldId="277"/>
        </pc:sldMkLst>
        <pc:spChg chg="mod">
          <ac:chgData name="Murmeltier 9000" userId="1fa2a075d92b2545" providerId="LiveId" clId="{4D4C794E-702E-40E3-9382-686988CE81BE}" dt="2026-09-18T06:09:58.114" v="67" actId="20577"/>
          <ac:spMkLst>
            <pc:docMk/>
            <pc:sldMk cId="0" sldId="277"/>
            <ac:spMk id="48" creationId="{00000000-0000-0000-0000-000000000000}"/>
          </ac:spMkLst>
        </pc:spChg>
      </pc:sldChg>
      <pc:sldChg chg="modSp mod modNotesTx">
        <pc:chgData name="Murmeltier 9000" userId="1fa2a075d92b2545" providerId="LiveId" clId="{4D4C794E-702E-40E3-9382-686988CE81BE}" dt="2026-09-18T07:04:58.678" v="155" actId="1076"/>
        <pc:sldMkLst>
          <pc:docMk/>
          <pc:sldMk cId="0" sldId="278"/>
        </pc:sldMkLst>
        <pc:spChg chg="mod">
          <ac:chgData name="Murmeltier 9000" userId="1fa2a075d92b2545" providerId="LiveId" clId="{4D4C794E-702E-40E3-9382-686988CE81BE}" dt="2026-09-18T07:04:58.678" v="155" actId="1076"/>
          <ac:spMkLst>
            <pc:docMk/>
            <pc:sldMk cId="0" sldId="278"/>
            <ac:spMk id="42" creationId="{00000000-0000-0000-0000-000000000000}"/>
          </ac:spMkLst>
        </pc:spChg>
      </pc:sldChg>
      <pc:sldChg chg="modSp mod modNotesTx">
        <pc:chgData name="Murmeltier 9000" userId="1fa2a075d92b2545" providerId="LiveId" clId="{4D4C794E-702E-40E3-9382-686988CE81BE}" dt="2026-09-18T07:05:11.716" v="157" actId="20577"/>
        <pc:sldMkLst>
          <pc:docMk/>
          <pc:sldMk cId="0" sldId="279"/>
        </pc:sldMkLst>
        <pc:spChg chg="mod">
          <ac:chgData name="Murmeltier 9000" userId="1fa2a075d92b2545" providerId="LiveId" clId="{4D4C794E-702E-40E3-9382-686988CE81BE}" dt="2026-09-18T07:05:11.716" v="157" actId="20577"/>
          <ac:spMkLst>
            <pc:docMk/>
            <pc:sldMk cId="0" sldId="279"/>
            <ac:spMk id="16" creationId="{00000000-0000-0000-0000-000000000000}"/>
          </ac:spMkLst>
        </pc:spChg>
        <pc:spChg chg="mod">
          <ac:chgData name="Murmeltier 9000" userId="1fa2a075d92b2545" providerId="LiveId" clId="{4D4C794E-702E-40E3-9382-686988CE81BE}" dt="2026-09-18T06:10:37.294" v="73" actId="20577"/>
          <ac:spMkLst>
            <pc:docMk/>
            <pc:sldMk cId="0" sldId="279"/>
            <ac:spMk id="32" creationId="{00000000-0000-0000-0000-000000000000}"/>
          </ac:spMkLst>
        </pc:spChg>
      </pc:sldChg>
      <pc:sldChg chg="modSp mod">
        <pc:chgData name="Murmeltier 9000" userId="1fa2a075d92b2545" providerId="LiveId" clId="{4D4C794E-702E-40E3-9382-686988CE81BE}" dt="2026-10-01T08:14:34.075" v="316" actId="20577"/>
        <pc:sldMkLst>
          <pc:docMk/>
          <pc:sldMk cId="0" sldId="281"/>
        </pc:sldMkLst>
        <pc:spChg chg="mod">
          <ac:chgData name="Murmeltier 9000" userId="1fa2a075d92b2545" providerId="LiveId" clId="{4D4C794E-702E-40E3-9382-686988CE81BE}" dt="2026-10-01T08:14:34.075" v="316" actId="20577"/>
          <ac:spMkLst>
            <pc:docMk/>
            <pc:sldMk cId="0" sldId="281"/>
            <ac:spMk id="12" creationId="{00000000-0000-0000-0000-000000000000}"/>
          </ac:spMkLst>
        </pc:spChg>
        <pc:spChg chg="mod">
          <ac:chgData name="Murmeltier 9000" userId="1fa2a075d92b2545" providerId="LiveId" clId="{4D4C794E-702E-40E3-9382-686988CE81BE}" dt="2026-09-18T08:38:39.184" v="226" actId="20577"/>
          <ac:spMkLst>
            <pc:docMk/>
            <pc:sldMk cId="0" sldId="281"/>
            <ac:spMk id="14" creationId="{00000000-0000-0000-0000-000000000000}"/>
          </ac:spMkLst>
        </pc:spChg>
        <pc:spChg chg="mod">
          <ac:chgData name="Murmeltier 9000" userId="1fa2a075d92b2545" providerId="LiveId" clId="{4D4C794E-702E-40E3-9382-686988CE81BE}" dt="2026-09-18T08:37:04.955" v="199" actId="20577"/>
          <ac:spMkLst>
            <pc:docMk/>
            <pc:sldMk cId="0" sldId="281"/>
            <ac:spMk id="15" creationId="{00000000-0000-0000-0000-000000000000}"/>
          </ac:spMkLst>
        </pc:spChg>
        <pc:spChg chg="mod">
          <ac:chgData name="Murmeltier 9000" userId="1fa2a075d92b2545" providerId="LiveId" clId="{4D4C794E-702E-40E3-9382-686988CE81BE}" dt="2026-09-18T06:08:20.285" v="51" actId="6549"/>
          <ac:spMkLst>
            <pc:docMk/>
            <pc:sldMk cId="0" sldId="281"/>
            <ac:spMk id="18" creationId="{00000000-0000-0000-0000-000000000000}"/>
          </ac:spMkLst>
        </pc:spChg>
        <pc:spChg chg="mod">
          <ac:chgData name="Murmeltier 9000" userId="1fa2a075d92b2545" providerId="LiveId" clId="{4D4C794E-702E-40E3-9382-686988CE81BE}" dt="2026-09-18T06:08:16.124" v="50" actId="6549"/>
          <ac:spMkLst>
            <pc:docMk/>
            <pc:sldMk cId="0" sldId="281"/>
            <ac:spMk id="21" creationId="{00000000-0000-0000-0000-000000000000}"/>
          </ac:spMkLst>
        </pc:spChg>
        <pc:spChg chg="mod">
          <ac:chgData name="Murmeltier 9000" userId="1fa2a075d92b2545" providerId="LiveId" clId="{4D4C794E-702E-40E3-9382-686988CE81BE}" dt="2026-09-18T06:08:25.227" v="52" actId="20577"/>
          <ac:spMkLst>
            <pc:docMk/>
            <pc:sldMk cId="0" sldId="281"/>
            <ac:spMk id="24" creationId="{00000000-0000-0000-0000-000000000000}"/>
          </ac:spMkLst>
        </pc:spChg>
        <pc:spChg chg="mod">
          <ac:chgData name="Murmeltier 9000" userId="1fa2a075d92b2545" providerId="LiveId" clId="{4D4C794E-702E-40E3-9382-686988CE81BE}" dt="2026-09-18T06:08:35.742" v="53" actId="20577"/>
          <ac:spMkLst>
            <pc:docMk/>
            <pc:sldMk cId="0" sldId="281"/>
            <ac:spMk id="25" creationId="{00000000-0000-0000-0000-000000000000}"/>
          </ac:spMkLst>
        </pc:spChg>
      </pc:sldChg>
      <pc:sldChg chg="modSp mod">
        <pc:chgData name="Murmeltier 9000" userId="1fa2a075d92b2545" providerId="LiveId" clId="{4D4C794E-702E-40E3-9382-686988CE81BE}" dt="2026-09-18T06:11:07.301" v="79" actId="6549"/>
        <pc:sldMkLst>
          <pc:docMk/>
          <pc:sldMk cId="0" sldId="282"/>
        </pc:sldMkLst>
        <pc:spChg chg="mod">
          <ac:chgData name="Murmeltier 9000" userId="1fa2a075d92b2545" providerId="LiveId" clId="{4D4C794E-702E-40E3-9382-686988CE81BE}" dt="2026-09-18T06:11:07.301" v="79" actId="6549"/>
          <ac:spMkLst>
            <pc:docMk/>
            <pc:sldMk cId="0" sldId="282"/>
            <ac:spMk id="25" creationId="{00000000-0000-0000-0000-000000000000}"/>
          </ac:spMkLst>
        </pc:spChg>
      </pc:sldChg>
      <pc:sldChg chg="modSp add mod setBg">
        <pc:chgData name="Murmeltier 9000" userId="1fa2a075d92b2545" providerId="LiveId" clId="{4D4C794E-702E-40E3-9382-686988CE81BE}" dt="2026-09-28T10:46:51.431" v="227" actId="14100"/>
        <pc:sldMkLst>
          <pc:docMk/>
          <pc:sldMk cId="0" sldId="286"/>
        </pc:sldMkLst>
        <pc:spChg chg="mod">
          <ac:chgData name="Murmeltier 9000" userId="1fa2a075d92b2545" providerId="LiveId" clId="{4D4C794E-702E-40E3-9382-686988CE81BE}" dt="2026-09-28T10:46:51.431" v="227" actId="14100"/>
          <ac:spMkLst>
            <pc:docMk/>
            <pc:sldMk cId="0" sldId="286"/>
            <ac:spMk id="18" creationId="{00000000-0000-0000-0000-000000000000}"/>
          </ac:spMkLst>
        </pc:spChg>
      </pc:sldChg>
      <pc:sldChg chg="modSp mod">
        <pc:chgData name="Murmeltier 9000" userId="1fa2a075d92b2545" providerId="LiveId" clId="{4D4C794E-702E-40E3-9382-686988CE81BE}" dt="2026-10-01T18:58:32.619" v="344" actId="20577"/>
        <pc:sldMkLst>
          <pc:docMk/>
          <pc:sldMk cId="0" sldId="289"/>
        </pc:sldMkLst>
        <pc:spChg chg="mod">
          <ac:chgData name="Murmeltier 9000" userId="1fa2a075d92b2545" providerId="LiveId" clId="{4D4C794E-702E-40E3-9382-686988CE81BE}" dt="2026-10-01T18:58:32.619" v="344" actId="20577"/>
          <ac:spMkLst>
            <pc:docMk/>
            <pc:sldMk cId="0" sldId="289"/>
            <ac:spMk id="312" creationId="{00000000-0000-0000-0000-000000000000}"/>
          </ac:spMkLst>
        </pc:spChg>
        <pc:spChg chg="mod">
          <ac:chgData name="Murmeltier 9000" userId="1fa2a075d92b2545" providerId="LiveId" clId="{4D4C794E-702E-40E3-9382-686988CE81BE}" dt="2026-09-28T11:40:45.214" v="229" actId="27636"/>
          <ac:spMkLst>
            <pc:docMk/>
            <pc:sldMk cId="0" sldId="289"/>
            <ac:spMk id="330" creationId="{00000000-0000-0000-0000-000000000000}"/>
          </ac:spMkLst>
        </pc:spChg>
      </pc:sldChg>
      <pc:sldChg chg="modSp mod">
        <pc:chgData name="Murmeltier 9000" userId="1fa2a075d92b2545" providerId="LiveId" clId="{4D4C794E-702E-40E3-9382-686988CE81BE}" dt="2026-10-03T03:58:51.219" v="348" actId="27636"/>
        <pc:sldMkLst>
          <pc:docMk/>
          <pc:sldMk cId="0" sldId="290"/>
        </pc:sldMkLst>
        <pc:spChg chg="mod">
          <ac:chgData name="Murmeltier 9000" userId="1fa2a075d92b2545" providerId="LiveId" clId="{4D4C794E-702E-40E3-9382-686988CE81BE}" dt="2026-10-03T03:58:51.219" v="348" actId="27636"/>
          <ac:spMkLst>
            <pc:docMk/>
            <pc:sldMk cId="0" sldId="290"/>
            <ac:spMk id="514" creationId="{00000000-0000-0000-0000-000000000000}"/>
          </ac:spMkLst>
        </pc:spChg>
        <pc:spChg chg="mod">
          <ac:chgData name="Murmeltier 9000" userId="1fa2a075d92b2545" providerId="LiveId" clId="{4D4C794E-702E-40E3-9382-686988CE81BE}" dt="2026-09-28T12:08:24.271" v="295" actId="20577"/>
          <ac:spMkLst>
            <pc:docMk/>
            <pc:sldMk cId="0" sldId="290"/>
            <ac:spMk id="5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2529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0:00 – 1:20   ·   Das </a:t>
            </a:r>
            <a:r>
              <a:rPr sz="1300" b="1" dirty="0" err="1"/>
              <a:t>tägliche</a:t>
            </a:r>
            <a:r>
              <a:rPr sz="1300" b="1" dirty="0"/>
              <a:t> Drama</a:t>
            </a:r>
          </a:p>
          <a:p>
            <a:r>
              <a:rPr sz="1100" b="1" dirty="0"/>
              <a:t>KERNAUSSAGE: Das Problem </a:t>
            </a:r>
            <a:r>
              <a:rPr sz="1100" b="1" dirty="0" err="1"/>
              <a:t>ist</a:t>
            </a:r>
            <a:r>
              <a:rPr sz="1100" b="1" dirty="0"/>
              <a:t> </a:t>
            </a:r>
            <a:r>
              <a:rPr sz="1100" b="1" dirty="0" err="1"/>
              <a:t>kein</a:t>
            </a:r>
            <a:r>
              <a:rPr sz="1100" b="1" dirty="0"/>
              <a:t> </a:t>
            </a:r>
            <a:r>
              <a:rPr sz="1100" b="1" dirty="0" err="1"/>
              <a:t>Technikproblem</a:t>
            </a:r>
            <a:r>
              <a:rPr sz="1100" b="1" dirty="0"/>
              <a:t>. Es </a:t>
            </a:r>
            <a:r>
              <a:rPr sz="1100" b="1" dirty="0" err="1"/>
              <a:t>ist</a:t>
            </a:r>
            <a:r>
              <a:rPr sz="1100" b="1" dirty="0"/>
              <a:t> </a:t>
            </a:r>
            <a:r>
              <a:rPr sz="1100" b="1" dirty="0" err="1"/>
              <a:t>ein</a:t>
            </a:r>
            <a:r>
              <a:rPr sz="1100" b="1" dirty="0"/>
              <a:t> </a:t>
            </a:r>
            <a:r>
              <a:rPr sz="1100" b="1" dirty="0" err="1"/>
              <a:t>Tagesablauf</a:t>
            </a:r>
            <a:r>
              <a:rPr sz="1100" b="1" dirty="0"/>
              <a:t>, den </a:t>
            </a:r>
            <a:r>
              <a:rPr sz="1100" b="1" dirty="0" err="1"/>
              <a:t>jeder</a:t>
            </a:r>
            <a:r>
              <a:rPr sz="1100" b="1" dirty="0"/>
              <a:t> in </a:t>
            </a:r>
            <a:r>
              <a:rPr sz="1100" b="1" dirty="0" err="1"/>
              <a:t>einer</a:t>
            </a:r>
            <a:r>
              <a:rPr sz="1100" b="1" dirty="0"/>
              <a:t> </a:t>
            </a:r>
            <a:r>
              <a:rPr sz="1100" b="1" dirty="0" err="1"/>
              <a:t>Küche</a:t>
            </a:r>
            <a:r>
              <a:rPr sz="1100" b="1" dirty="0"/>
              <a:t> </a:t>
            </a:r>
            <a:r>
              <a:rPr sz="1100" b="1" dirty="0" err="1"/>
              <a:t>kennt</a:t>
            </a:r>
            <a:r>
              <a:rPr sz="1100" b="1" dirty="0"/>
              <a:t>.</a:t>
            </a:r>
          </a:p>
          <a:p>
            <a:endParaRPr sz="1100" b="1" dirty="0"/>
          </a:p>
          <a:p>
            <a:r>
              <a:rPr sz="1100" dirty="0"/>
              <a:t>[Vor der </a:t>
            </a:r>
            <a:r>
              <a:rPr sz="1100" dirty="0" err="1"/>
              <a:t>ersten</a:t>
            </a:r>
            <a:r>
              <a:rPr sz="1100" dirty="0"/>
              <a:t> Folie. </a:t>
            </a:r>
            <a:r>
              <a:rPr sz="1100" dirty="0" err="1"/>
              <a:t>Aufrecht</a:t>
            </a:r>
            <a:r>
              <a:rPr sz="1100" dirty="0"/>
              <a:t> </a:t>
            </a:r>
            <a:r>
              <a:rPr sz="1100" dirty="0" err="1"/>
              <a:t>stehen</a:t>
            </a:r>
            <a:r>
              <a:rPr sz="1100" dirty="0"/>
              <a:t>, Blick </a:t>
            </a:r>
            <a:r>
              <a:rPr sz="1100" dirty="0" err="1"/>
              <a:t>zu</a:t>
            </a:r>
            <a:r>
              <a:rPr sz="1100" dirty="0"/>
              <a:t> </a:t>
            </a:r>
            <a:r>
              <a:rPr sz="1100" dirty="0" err="1"/>
              <a:t>beiden</a:t>
            </a:r>
            <a:r>
              <a:rPr sz="1100" dirty="0"/>
              <a:t> </a:t>
            </a:r>
            <a:r>
              <a:rPr sz="1100" dirty="0" err="1"/>
              <a:t>Expertinnen</a:t>
            </a:r>
            <a:r>
              <a:rPr sz="1100" dirty="0"/>
              <a:t> und </a:t>
            </a:r>
            <a:r>
              <a:rPr sz="1100" dirty="0" err="1"/>
              <a:t>Experten</a:t>
            </a:r>
            <a:r>
              <a:rPr sz="1100" dirty="0"/>
              <a:t>. </a:t>
            </a:r>
            <a:r>
              <a:rPr sz="1100" dirty="0" err="1"/>
              <a:t>Wörtlich</a:t>
            </a:r>
            <a:r>
              <a:rPr sz="1100" dirty="0"/>
              <a:t> </a:t>
            </a:r>
            <a:r>
              <a:rPr sz="1100" dirty="0" err="1"/>
              <a:t>auswendig</a:t>
            </a:r>
            <a:r>
              <a:rPr sz="1100" dirty="0"/>
              <a:t>. </a:t>
            </a:r>
            <a:r>
              <a:rPr sz="1100" dirty="0" err="1"/>
              <a:t>Langsamer</a:t>
            </a:r>
            <a:r>
              <a:rPr sz="1100" dirty="0"/>
              <a:t> </a:t>
            </a:r>
            <a:r>
              <a:rPr sz="1100" dirty="0" err="1"/>
              <a:t>sprechen</a:t>
            </a:r>
            <a:r>
              <a:rPr sz="1100" dirty="0"/>
              <a:t>, </a:t>
            </a:r>
            <a:r>
              <a:rPr sz="1100" dirty="0" err="1"/>
              <a:t>als</a:t>
            </a:r>
            <a:r>
              <a:rPr sz="1100" dirty="0"/>
              <a:t> es </a:t>
            </a:r>
            <a:r>
              <a:rPr sz="1100" dirty="0" err="1"/>
              <a:t>sich</a:t>
            </a:r>
            <a:r>
              <a:rPr sz="1100" dirty="0"/>
              <a:t> </a:t>
            </a:r>
            <a:r>
              <a:rPr sz="1100" dirty="0" err="1"/>
              <a:t>anfühlt</a:t>
            </a:r>
            <a:r>
              <a:rPr sz="1100" dirty="0"/>
              <a:t>.]</a:t>
            </a:r>
          </a:p>
          <a:p>
            <a:r>
              <a:rPr sz="1100" dirty="0"/>
              <a:t>«</a:t>
            </a:r>
            <a:r>
              <a:rPr sz="1100" dirty="0" err="1"/>
              <a:t>Guten</a:t>
            </a:r>
            <a:r>
              <a:rPr sz="1100" dirty="0"/>
              <a:t> Tag, </a:t>
            </a:r>
            <a:r>
              <a:rPr sz="1100" dirty="0" err="1"/>
              <a:t>mein</a:t>
            </a:r>
            <a:r>
              <a:rPr sz="1100" dirty="0"/>
              <a:t> Name </a:t>
            </a:r>
            <a:r>
              <a:rPr sz="1100" dirty="0" err="1"/>
              <a:t>ist</a:t>
            </a:r>
            <a:r>
              <a:rPr sz="1100" dirty="0"/>
              <a:t> Thomas Ballinari. ||  Ich bin Initiator, </a:t>
            </a:r>
            <a:r>
              <a:rPr sz="1100" dirty="0" err="1"/>
              <a:t>Projektleiter</a:t>
            </a:r>
            <a:r>
              <a:rPr sz="1100" dirty="0"/>
              <a:t> und </a:t>
            </a:r>
            <a:r>
              <a:rPr sz="1100" dirty="0" err="1"/>
              <a:t>Entwickler</a:t>
            </a:r>
            <a:r>
              <a:rPr sz="1100" dirty="0"/>
              <a:t> von SmartGastro.ai. |||</a:t>
            </a:r>
          </a:p>
          <a:p>
            <a:r>
              <a:rPr sz="1100" dirty="0"/>
              <a:t>Ich </a:t>
            </a:r>
            <a:r>
              <a:rPr sz="1100" dirty="0" err="1"/>
              <a:t>zeige</a:t>
            </a:r>
            <a:r>
              <a:rPr sz="1100" dirty="0"/>
              <a:t> Ihnen in den </a:t>
            </a:r>
            <a:r>
              <a:rPr sz="1100" dirty="0" err="1"/>
              <a:t>nächsten</a:t>
            </a:r>
            <a:r>
              <a:rPr sz="1100" dirty="0"/>
              <a:t> </a:t>
            </a:r>
            <a:r>
              <a:rPr sz="1100" dirty="0" err="1"/>
              <a:t>vierzehn</a:t>
            </a:r>
            <a:r>
              <a:rPr sz="1100" dirty="0"/>
              <a:t> Minuten die </a:t>
            </a:r>
            <a:r>
              <a:rPr sz="1100" dirty="0" err="1"/>
              <a:t>Managementpräsentation</a:t>
            </a:r>
            <a:r>
              <a:rPr sz="1100" dirty="0"/>
              <a:t>, </a:t>
            </a:r>
            <a:r>
              <a:rPr sz="1100" dirty="0" err="1"/>
              <a:t>mit</a:t>
            </a:r>
            <a:r>
              <a:rPr sz="1100" dirty="0"/>
              <a:t> der ich </a:t>
            </a:r>
            <a:r>
              <a:rPr sz="1100" dirty="0" err="1"/>
              <a:t>im</a:t>
            </a:r>
            <a:r>
              <a:rPr sz="1100" dirty="0"/>
              <a:t> Restaurant </a:t>
            </a:r>
            <a:r>
              <a:rPr sz="1100" dirty="0" err="1"/>
              <a:t>Löwenburg</a:t>
            </a:r>
            <a:r>
              <a:rPr sz="1100" dirty="0"/>
              <a:t> den </a:t>
            </a:r>
            <a:r>
              <a:rPr sz="1100" dirty="0" err="1"/>
              <a:t>Entscheid</a:t>
            </a:r>
            <a:r>
              <a:rPr sz="1100" dirty="0"/>
              <a:t> für </a:t>
            </a:r>
            <a:r>
              <a:rPr sz="1100" dirty="0" err="1"/>
              <a:t>eine</a:t>
            </a:r>
            <a:r>
              <a:rPr sz="1100" dirty="0"/>
              <a:t> KI-</a:t>
            </a:r>
            <a:r>
              <a:rPr sz="1100" dirty="0" err="1"/>
              <a:t>gestützte</a:t>
            </a:r>
            <a:r>
              <a:rPr sz="1100" dirty="0"/>
              <a:t> </a:t>
            </a:r>
            <a:r>
              <a:rPr sz="1100" dirty="0" err="1"/>
              <a:t>Nachfrageprognose</a:t>
            </a:r>
            <a:r>
              <a:rPr sz="1100" dirty="0"/>
              <a:t> </a:t>
            </a:r>
            <a:r>
              <a:rPr sz="1100" dirty="0" err="1"/>
              <a:t>herbeigeführt</a:t>
            </a:r>
            <a:r>
              <a:rPr sz="1100" dirty="0"/>
              <a:t> </a:t>
            </a:r>
            <a:r>
              <a:rPr sz="1100" dirty="0" err="1"/>
              <a:t>habe</a:t>
            </a:r>
            <a:r>
              <a:rPr sz="1100" dirty="0"/>
              <a:t> ||  – und </a:t>
            </a:r>
            <a:r>
              <a:rPr sz="1100" dirty="0" err="1"/>
              <a:t>erkläre</a:t>
            </a:r>
            <a:r>
              <a:rPr sz="1100" dirty="0"/>
              <a:t> Ihnen </a:t>
            </a:r>
            <a:r>
              <a:rPr sz="1100" dirty="0" err="1"/>
              <a:t>unterwegs</a:t>
            </a:r>
            <a:r>
              <a:rPr sz="1100" dirty="0"/>
              <a:t>, </a:t>
            </a:r>
            <a:r>
              <a:rPr sz="1100" dirty="0" err="1"/>
              <a:t>wie</a:t>
            </a:r>
            <a:r>
              <a:rPr sz="1100" dirty="0"/>
              <a:t> ich </a:t>
            </a:r>
            <a:r>
              <a:rPr sz="1100" dirty="0" err="1"/>
              <a:t>zu</a:t>
            </a:r>
            <a:r>
              <a:rPr sz="1100" dirty="0"/>
              <a:t> </a:t>
            </a:r>
            <a:r>
              <a:rPr sz="1100" dirty="0" err="1"/>
              <a:t>meinen</a:t>
            </a:r>
            <a:r>
              <a:rPr sz="1100" dirty="0"/>
              <a:t> </a:t>
            </a:r>
            <a:r>
              <a:rPr sz="1100" dirty="0" err="1"/>
              <a:t>Aussagen</a:t>
            </a:r>
            <a:r>
              <a:rPr sz="1100" dirty="0"/>
              <a:t> </a:t>
            </a:r>
            <a:r>
              <a:rPr sz="1100" dirty="0" err="1"/>
              <a:t>gekommen</a:t>
            </a:r>
            <a:r>
              <a:rPr sz="1100" dirty="0"/>
              <a:t> bin.» |||</a:t>
            </a:r>
          </a:p>
          <a:p>
            <a:r>
              <a:rPr sz="1100" dirty="0"/>
              <a:t>[Folie 1 </a:t>
            </a:r>
            <a:r>
              <a:rPr sz="1100" dirty="0" err="1"/>
              <a:t>auflegen</a:t>
            </a:r>
            <a:r>
              <a:rPr sz="1100" dirty="0"/>
              <a:t>. Zwei </a:t>
            </a:r>
            <a:r>
              <a:rPr sz="1100" dirty="0" err="1"/>
              <a:t>Sekunden</a:t>
            </a:r>
            <a:r>
              <a:rPr sz="1100" dirty="0"/>
              <a:t> </a:t>
            </a:r>
            <a:r>
              <a:rPr sz="1100" dirty="0" err="1"/>
              <a:t>nichts</a:t>
            </a:r>
            <a:r>
              <a:rPr sz="1100" dirty="0"/>
              <a:t> </a:t>
            </a:r>
            <a:r>
              <a:rPr sz="1100" dirty="0" err="1"/>
              <a:t>sagen</a:t>
            </a:r>
            <a:r>
              <a:rPr sz="1100" dirty="0"/>
              <a:t>.]</a:t>
            </a:r>
          </a:p>
          <a:p>
            <a:r>
              <a:rPr sz="1100" dirty="0"/>
              <a:t>«</a:t>
            </a:r>
            <a:r>
              <a:rPr sz="1100" dirty="0" err="1"/>
              <a:t>Nachproduziert</a:t>
            </a:r>
            <a:r>
              <a:rPr sz="1100" dirty="0"/>
              <a:t> in der </a:t>
            </a:r>
            <a:r>
              <a:rPr sz="1100" dirty="0" err="1"/>
              <a:t>Stosszeit</a:t>
            </a:r>
            <a:r>
              <a:rPr sz="1100" dirty="0"/>
              <a:t> und </a:t>
            </a:r>
            <a:r>
              <a:rPr sz="1100" dirty="0" err="1"/>
              <a:t>trotzdem</a:t>
            </a:r>
            <a:r>
              <a:rPr sz="1100" dirty="0"/>
              <a:t> Food Waste. |  Das </a:t>
            </a:r>
            <a:r>
              <a:rPr sz="1100" dirty="0" err="1"/>
              <a:t>nervt</a:t>
            </a:r>
            <a:r>
              <a:rPr sz="1100" dirty="0"/>
              <a:t>!» |||</a:t>
            </a:r>
          </a:p>
          <a:p>
            <a:r>
              <a:rPr sz="1100" dirty="0" err="1"/>
              <a:t>Originalzitat</a:t>
            </a:r>
            <a:r>
              <a:rPr sz="1100" dirty="0"/>
              <a:t> von Fotios </a:t>
            </a:r>
            <a:r>
              <a:rPr sz="1100" dirty="0" err="1"/>
              <a:t>Kleidaras</a:t>
            </a:r>
            <a:r>
              <a:rPr sz="1100" dirty="0"/>
              <a:t>, </a:t>
            </a:r>
            <a:r>
              <a:rPr sz="1100" dirty="0" err="1"/>
              <a:t>Küchenchef</a:t>
            </a:r>
            <a:r>
              <a:rPr sz="1100" dirty="0"/>
              <a:t> und </a:t>
            </a:r>
            <a:r>
              <a:rPr sz="1100" dirty="0" err="1"/>
              <a:t>Pächter</a:t>
            </a:r>
            <a:r>
              <a:rPr sz="1100" dirty="0"/>
              <a:t>. |||</a:t>
            </a:r>
          </a:p>
          <a:p>
            <a:r>
              <a:rPr sz="1100" dirty="0"/>
              <a:t>[</a:t>
            </a:r>
            <a:r>
              <a:rPr sz="1100" dirty="0" err="1"/>
              <a:t>Jetzt</a:t>
            </a:r>
            <a:r>
              <a:rPr sz="1100" dirty="0"/>
              <a:t> </a:t>
            </a:r>
            <a:r>
              <a:rPr sz="1100" dirty="0" err="1"/>
              <a:t>langsam</a:t>
            </a:r>
            <a:r>
              <a:rPr sz="1100" dirty="0"/>
              <a:t>. Auf die </a:t>
            </a:r>
            <a:r>
              <a:rPr sz="1100" dirty="0" err="1"/>
              <a:t>drei</a:t>
            </a:r>
            <a:r>
              <a:rPr sz="1100" dirty="0"/>
              <a:t> Bilder </a:t>
            </a:r>
            <a:r>
              <a:rPr sz="1100" dirty="0" err="1"/>
              <a:t>zeigen</a:t>
            </a:r>
            <a:r>
              <a:rPr sz="1100" dirty="0"/>
              <a:t>, </a:t>
            </a:r>
            <a:r>
              <a:rPr sz="1100" dirty="0" err="1"/>
              <a:t>eines</a:t>
            </a:r>
            <a:r>
              <a:rPr sz="1100" dirty="0"/>
              <a:t> </a:t>
            </a:r>
            <a:r>
              <a:rPr sz="1100" dirty="0" err="1"/>
              <a:t>nach</a:t>
            </a:r>
            <a:r>
              <a:rPr sz="1100" dirty="0"/>
              <a:t> dem </a:t>
            </a:r>
            <a:r>
              <a:rPr sz="1100" dirty="0" err="1"/>
              <a:t>anderen</a:t>
            </a:r>
            <a:r>
              <a:rPr sz="1100" dirty="0"/>
              <a:t>.]</a:t>
            </a:r>
          </a:p>
          <a:p>
            <a:r>
              <a:rPr sz="1100" dirty="0" err="1"/>
              <a:t>Stellen</a:t>
            </a:r>
            <a:r>
              <a:rPr sz="1100" dirty="0"/>
              <a:t> Sie </a:t>
            </a:r>
            <a:r>
              <a:rPr sz="1100" dirty="0" err="1"/>
              <a:t>sich</a:t>
            </a:r>
            <a:r>
              <a:rPr sz="1100" dirty="0"/>
              <a:t> </a:t>
            </a:r>
            <a:r>
              <a:rPr sz="1100" dirty="0" err="1"/>
              <a:t>vor</a:t>
            </a:r>
            <a:r>
              <a:rPr sz="1100" dirty="0"/>
              <a:t>, Sie </a:t>
            </a:r>
            <a:r>
              <a:rPr sz="1100" dirty="0" err="1"/>
              <a:t>sind</a:t>
            </a:r>
            <a:r>
              <a:rPr sz="1100" dirty="0"/>
              <a:t> Koch. |||</a:t>
            </a:r>
          </a:p>
          <a:p>
            <a:r>
              <a:rPr sz="1100" dirty="0"/>
              <a:t>Am Morgen um </a:t>
            </a:r>
            <a:r>
              <a:rPr sz="1100" dirty="0" err="1"/>
              <a:t>zehn</a:t>
            </a:r>
            <a:r>
              <a:rPr sz="1100" dirty="0"/>
              <a:t> </a:t>
            </a:r>
            <a:r>
              <a:rPr sz="1100" dirty="0" err="1"/>
              <a:t>bereiten</a:t>
            </a:r>
            <a:r>
              <a:rPr sz="1100" dirty="0"/>
              <a:t> Sie das Mise </a:t>
            </a:r>
            <a:r>
              <a:rPr sz="1100" dirty="0" err="1"/>
              <a:t>en</a:t>
            </a:r>
            <a:r>
              <a:rPr sz="1100" dirty="0"/>
              <a:t> Place </a:t>
            </a:r>
            <a:r>
              <a:rPr sz="1100" dirty="0" err="1"/>
              <a:t>vor</a:t>
            </a:r>
            <a:r>
              <a:rPr sz="1100" dirty="0"/>
              <a:t>. ||  </a:t>
            </a:r>
            <a:r>
              <a:rPr sz="1100" dirty="0" err="1"/>
              <a:t>Gechillt</a:t>
            </a:r>
            <a:r>
              <a:rPr sz="1100" dirty="0"/>
              <a:t>. |||</a:t>
            </a:r>
          </a:p>
          <a:p>
            <a:r>
              <a:rPr sz="1100" dirty="0"/>
              <a:t>Um </a:t>
            </a:r>
            <a:r>
              <a:rPr sz="1100" dirty="0" err="1"/>
              <a:t>halb</a:t>
            </a:r>
            <a:r>
              <a:rPr sz="1100" dirty="0"/>
              <a:t> </a:t>
            </a:r>
            <a:r>
              <a:rPr sz="1100" dirty="0" err="1"/>
              <a:t>eins</a:t>
            </a:r>
            <a:r>
              <a:rPr sz="1100" dirty="0"/>
              <a:t> </a:t>
            </a:r>
            <a:r>
              <a:rPr sz="1100" dirty="0" err="1"/>
              <a:t>kommen</a:t>
            </a:r>
            <a:r>
              <a:rPr sz="1100" dirty="0"/>
              <a:t> </a:t>
            </a:r>
            <a:r>
              <a:rPr sz="1100" dirty="0" err="1"/>
              <a:t>mehr</a:t>
            </a:r>
            <a:r>
              <a:rPr sz="1100" dirty="0"/>
              <a:t> </a:t>
            </a:r>
            <a:r>
              <a:rPr sz="1100" dirty="0" err="1"/>
              <a:t>Gäste</a:t>
            </a:r>
            <a:r>
              <a:rPr sz="1100" dirty="0"/>
              <a:t> </a:t>
            </a:r>
            <a:r>
              <a:rPr sz="1100" dirty="0" err="1"/>
              <a:t>als</a:t>
            </a:r>
            <a:r>
              <a:rPr sz="1100" dirty="0"/>
              <a:t> </a:t>
            </a:r>
            <a:r>
              <a:rPr sz="1100" dirty="0" err="1"/>
              <a:t>erwartet</a:t>
            </a:r>
            <a:r>
              <a:rPr sz="1100" dirty="0"/>
              <a:t>. ||  </a:t>
            </a:r>
            <a:r>
              <a:rPr sz="1100" dirty="0" err="1"/>
              <a:t>Nachproduktion</a:t>
            </a:r>
            <a:r>
              <a:rPr sz="1100" dirty="0"/>
              <a:t> mitten in der </a:t>
            </a:r>
            <a:r>
              <a:rPr sz="1100" dirty="0" err="1"/>
              <a:t>Stosszeit</a:t>
            </a:r>
            <a:r>
              <a:rPr sz="1100" dirty="0"/>
              <a:t>. ||  Stress. </a:t>
            </a:r>
            <a:r>
              <a:rPr lang="de-DE" sz="1100" dirty="0"/>
              <a:t>Rot</a:t>
            </a:r>
            <a:r>
              <a:rPr sz="1100" dirty="0"/>
              <a:t>|||</a:t>
            </a:r>
          </a:p>
          <a:p>
            <a:r>
              <a:rPr sz="1100" dirty="0"/>
              <a:t>Um </a:t>
            </a:r>
            <a:r>
              <a:rPr sz="1100" dirty="0" err="1"/>
              <a:t>drei</a:t>
            </a:r>
            <a:r>
              <a:rPr sz="1100" dirty="0"/>
              <a:t> </a:t>
            </a:r>
            <a:r>
              <a:rPr sz="1100" dirty="0" err="1"/>
              <a:t>sind</a:t>
            </a:r>
            <a:r>
              <a:rPr sz="1100" dirty="0"/>
              <a:t> Sie </a:t>
            </a:r>
            <a:r>
              <a:rPr sz="1100" dirty="0" err="1"/>
              <a:t>erschöpft</a:t>
            </a:r>
            <a:r>
              <a:rPr sz="1100" dirty="0"/>
              <a:t> –</a:t>
            </a:r>
            <a:r>
              <a:rPr lang="de-DE" sz="1100" dirty="0"/>
              <a:t>Tot</a:t>
            </a:r>
            <a:r>
              <a:rPr sz="1100" dirty="0"/>
              <a:t> ||  und </a:t>
            </a:r>
            <a:r>
              <a:rPr sz="1100" dirty="0" err="1"/>
              <a:t>trotzdem</a:t>
            </a:r>
            <a:r>
              <a:rPr sz="1100" dirty="0"/>
              <a:t> </a:t>
            </a:r>
            <a:r>
              <a:rPr sz="1100" dirty="0" err="1"/>
              <a:t>bleibt</a:t>
            </a:r>
            <a:r>
              <a:rPr sz="1100" dirty="0"/>
              <a:t> Ware </a:t>
            </a:r>
            <a:r>
              <a:rPr sz="1100" dirty="0" err="1"/>
              <a:t>übrig</a:t>
            </a:r>
            <a:r>
              <a:rPr sz="1100"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1:20 – 1:50   ·   Projektauftrag</a:t>
            </a:r>
          </a:p>
          <a:p>
            <a:r>
              <a:rPr sz="1100" b="1"/>
              <a:t>KERNAUSSAGE: Der Auftrag kam aus dem Betrieb, nicht aus der Technik – und er ist freigegeben.</a:t>
            </a:r>
          </a:p>
          <a:p>
            <a:endParaRPr sz="1100" b="1"/>
          </a:p>
          <a:p>
            <a:r>
              <a:rPr sz="1100"/>
              <a:t>Das Restaurant Löwenburg in Lienz: ||  120 Sitzplätze innen, 185 aussen, an Spitzentagen 400 bis 500 Gäste. |||</a:t>
            </a:r>
          </a:p>
          <a:p>
            <a:r>
              <a:rPr sz="1100"/>
              <a:t>Auftraggeber ist Fotios Kleidaras, Pächter und Küchenchef. ||  Er gibt frei, er entscheidet. |||</a:t>
            </a:r>
          </a:p>
          <a:p>
            <a:r>
              <a:rPr sz="1100"/>
              <a:t>Mein Ziel war nicht, schnell eine KI zu bauen, sondern Einsatzmöglichkeiten systematisch zu bewerten und den besten bis zum lauffähigen Prototyp zu führen. |||</a:t>
            </a:r>
          </a:p>
          <a:p>
            <a:r>
              <a:rPr sz="1100"/>
              <a:t>Kein Rollout auf weitere Betriebe – das ist bewusst abgegrenzt.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1:50 – 2:35   ·   Problemstellung · B2</a:t>
            </a:r>
          </a:p>
          <a:p>
            <a:r>
              <a:rPr sz="1100" b="1"/>
              <a:t>KERNAUSSAGE: Die Folgen der Fehlplanung stammen aus der IST-Analyse.</a:t>
            </a:r>
          </a:p>
          <a:p>
            <a:endParaRPr sz="1100" b="1"/>
          </a:p>
          <a:p>
            <a:r>
              <a:rPr sz="1100"/>
              <a:t>Vier Zahlen, alle aus der IST-Analyse. |||</a:t>
            </a:r>
          </a:p>
          <a:p>
            <a:r>
              <a:rPr sz="1100"/>
              <a:t>CHF 1’000 bis 2’000 Food Waste pro Monat. ||  45 Minuten Planung pro Tag. ||  Zwölf Out-of-Stock-Fälle pro Monat. ||  Und ein Stresslevel von 7 von 10, gemessen im monatlichen Teamfragebogen. |||</a:t>
            </a:r>
          </a:p>
          <a:p>
            <a:r>
              <a:rPr sz="1100"/>
              <a:t>Darunter das Szenario aus dem Interview: Samstagmittag, ||  40 Schnitzel vorbereitet, 97 gebraucht. |||</a:t>
            </a:r>
          </a:p>
          <a:p>
            <a:r>
              <a:rPr sz="1100"/>
              <a:t>Geplant wird aus Erfahrung. Die Daten aus der Kasse liegen ungenutzt. |||</a:t>
            </a:r>
          </a:p>
          <a:p>
            <a:r>
              <a:rPr sz="1100"/>
              <a:t>Meine Frage war deshalb: Wo erzeugt KI hier einen messbaren Geschäftsnutzen?</a:t>
            </a:r>
          </a:p>
          <a:p>
            <a:r>
              <a:rPr sz="1100"/>
              <a:t>[Auf die Stresslevel-Spalte zeigen.]</a:t>
            </a:r>
          </a:p>
          <a:p>
            <a:r>
              <a:rPr sz="1100"/>
              <a:t>Eine Zahl davon kann ich Ihnen schon heute fortschreiben: ||  Der Stresslevel lag im Februar bei 7 von 10, zuletzt gemessen im Mai bei 4.9. ||  Gleicher Fragebogen, ganzes Team. |||</a:t>
            </a:r>
          </a:p>
          <a:p>
            <a:r>
              <a:rPr sz="1100"/>
              <a:t>Falls gefragt, wie ich die Wirkung von Saison, Garten und Personal trenne: «Gar nicht sauber, und das sage ich offen. Der Stresswert zeigt einen Verlauf, keinen Kausalbeweis. Er ist ein Frühindikator; in Franken rechne ich nur die Überstunden, und die nur für eine Person.» Falls nach Werten nach Mai gefragt: «Die nächste Erhebung ist am 6. Oktober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2:35 – 3:35   ·   </a:t>
            </a:r>
            <a:r>
              <a:rPr sz="1300" b="1" dirty="0" err="1"/>
              <a:t>Priorisierung</a:t>
            </a:r>
            <a:r>
              <a:rPr sz="1300" b="1" dirty="0"/>
              <a:t> · B3  (</a:t>
            </a:r>
            <a:r>
              <a:rPr sz="1300" b="1" dirty="0" err="1"/>
              <a:t>mit</a:t>
            </a:r>
            <a:r>
              <a:rPr sz="1300" b="1" dirty="0"/>
              <a:t> Poster)</a:t>
            </a:r>
          </a:p>
          <a:p>
            <a:r>
              <a:rPr sz="1100" b="1" dirty="0"/>
              <a:t>KERNAUSSAGE: </a:t>
            </a:r>
            <a:r>
              <a:rPr sz="1100" b="1" dirty="0" err="1"/>
              <a:t>Fünf</a:t>
            </a:r>
            <a:r>
              <a:rPr sz="1100" b="1" dirty="0"/>
              <a:t> Use Cases, </a:t>
            </a:r>
            <a:r>
              <a:rPr sz="1100" b="1" dirty="0" err="1"/>
              <a:t>einer</a:t>
            </a:r>
            <a:r>
              <a:rPr sz="1100" b="1" dirty="0"/>
              <a:t> </a:t>
            </a:r>
            <a:r>
              <a:rPr sz="1100" b="1" dirty="0" err="1"/>
              <a:t>gewinnt</a:t>
            </a:r>
            <a:r>
              <a:rPr sz="1100" b="1" dirty="0"/>
              <a:t> – und Platz 1 hält auch </a:t>
            </a:r>
            <a:r>
              <a:rPr sz="1100" b="1" dirty="0" err="1"/>
              <a:t>bei</a:t>
            </a:r>
            <a:r>
              <a:rPr sz="1100" b="1" dirty="0"/>
              <a:t> </a:t>
            </a:r>
            <a:r>
              <a:rPr sz="1100" b="1" dirty="0" err="1"/>
              <a:t>anderer</a:t>
            </a:r>
            <a:r>
              <a:rPr sz="1100" b="1" dirty="0"/>
              <a:t> </a:t>
            </a:r>
            <a:r>
              <a:rPr sz="1100" b="1" dirty="0" err="1"/>
              <a:t>Gewichtung</a:t>
            </a:r>
            <a:r>
              <a:rPr sz="1100" b="1" dirty="0"/>
              <a:t>.</a:t>
            </a:r>
          </a:p>
          <a:p>
            <a:endParaRPr sz="1100" b="1" dirty="0"/>
          </a:p>
          <a:p>
            <a:r>
              <a:rPr sz="1100" dirty="0"/>
              <a:t>[Das Poster </a:t>
            </a:r>
            <a:r>
              <a:rPr sz="1100" dirty="0" err="1"/>
              <a:t>hängt</a:t>
            </a:r>
            <a:r>
              <a:rPr sz="1100" dirty="0"/>
              <a:t> </a:t>
            </a:r>
            <a:r>
              <a:rPr sz="1100" dirty="0" err="1"/>
              <a:t>seit</a:t>
            </a:r>
            <a:r>
              <a:rPr sz="1100" dirty="0"/>
              <a:t> </a:t>
            </a:r>
            <a:r>
              <a:rPr sz="1100" dirty="0" err="1"/>
              <a:t>Beginn</a:t>
            </a:r>
            <a:r>
              <a:rPr sz="1100" dirty="0"/>
              <a:t> </a:t>
            </a:r>
            <a:r>
              <a:rPr sz="1100" dirty="0" err="1"/>
              <a:t>sichtbar</a:t>
            </a:r>
            <a:r>
              <a:rPr sz="1100" dirty="0"/>
              <a:t>. Zwei </a:t>
            </a:r>
            <a:r>
              <a:rPr sz="1100" dirty="0" err="1"/>
              <a:t>Schritte</a:t>
            </a:r>
            <a:r>
              <a:rPr sz="1100" dirty="0"/>
              <a:t> </a:t>
            </a:r>
            <a:r>
              <a:rPr sz="1100" dirty="0" err="1"/>
              <a:t>hin</a:t>
            </a:r>
            <a:r>
              <a:rPr sz="1100" dirty="0"/>
              <a:t>, </a:t>
            </a:r>
            <a:r>
              <a:rPr sz="1100" dirty="0" err="1"/>
              <a:t>darauf</a:t>
            </a:r>
            <a:r>
              <a:rPr sz="1100" dirty="0"/>
              <a:t> </a:t>
            </a:r>
            <a:r>
              <a:rPr sz="1100" dirty="0" err="1"/>
              <a:t>zeigen</a:t>
            </a:r>
            <a:r>
              <a:rPr sz="1100" dirty="0"/>
              <a:t>, NICHT </a:t>
            </a:r>
            <a:r>
              <a:rPr sz="1100" dirty="0" err="1"/>
              <a:t>davorstellen</a:t>
            </a:r>
            <a:r>
              <a:rPr sz="1100" dirty="0"/>
              <a:t> und NICHT </a:t>
            </a:r>
            <a:r>
              <a:rPr sz="1100" dirty="0" err="1"/>
              <a:t>ablesen</a:t>
            </a:r>
            <a:r>
              <a:rPr sz="1100" dirty="0"/>
              <a:t>. Nach 20 </a:t>
            </a:r>
            <a:r>
              <a:rPr sz="1100" dirty="0" err="1"/>
              <a:t>Sekunden</a:t>
            </a:r>
            <a:r>
              <a:rPr sz="1100" dirty="0"/>
              <a:t> </a:t>
            </a:r>
            <a:r>
              <a:rPr sz="1100" dirty="0" err="1"/>
              <a:t>zurück</a:t>
            </a:r>
            <a:r>
              <a:rPr sz="1100" dirty="0"/>
              <a:t>.]</a:t>
            </a:r>
          </a:p>
          <a:p>
            <a:r>
              <a:rPr sz="1100" dirty="0"/>
              <a:t>Damit </a:t>
            </a:r>
            <a:r>
              <a:rPr sz="1100" dirty="0" err="1"/>
              <a:t>zur</a:t>
            </a:r>
            <a:r>
              <a:rPr sz="1100" dirty="0"/>
              <a:t> </a:t>
            </a:r>
            <a:r>
              <a:rPr sz="1100" dirty="0" err="1"/>
              <a:t>Auswahl</a:t>
            </a:r>
            <a:r>
              <a:rPr sz="1100" dirty="0"/>
              <a:t>. |</a:t>
            </a:r>
          </a:p>
          <a:p>
            <a:r>
              <a:rPr sz="1100" dirty="0"/>
              <a:t>Aus 15 Ursachen einer Ishikawa-Analyse, drei Stakeholder-Interviews, einem Gespräch mit dem WaiterOne-Gründer und der POS-Datenanalyse habe ich fünf Use Cases abgeleitet. |||</a:t>
            </a:r>
          </a:p>
          <a:p>
            <a:r>
              <a:rPr sz="1100" dirty="0"/>
              <a:t>[Zum Poster </a:t>
            </a:r>
            <a:r>
              <a:rPr sz="1100" dirty="0" err="1"/>
              <a:t>zeigen</a:t>
            </a:r>
            <a:r>
              <a:rPr sz="1100" dirty="0"/>
              <a:t>.]</a:t>
            </a:r>
          </a:p>
          <a:p>
            <a:r>
              <a:rPr sz="1100" dirty="0" err="1"/>
              <a:t>Nachfrageprognose</a:t>
            </a:r>
            <a:r>
              <a:rPr sz="1100" dirty="0"/>
              <a:t>, </a:t>
            </a:r>
            <a:r>
              <a:rPr sz="1100" dirty="0" err="1"/>
              <a:t>Bestelloptimierung</a:t>
            </a:r>
            <a:r>
              <a:rPr sz="1100" dirty="0"/>
              <a:t>, </a:t>
            </a:r>
            <a:r>
              <a:rPr sz="1100" dirty="0" err="1"/>
              <a:t>Personaleinsatzplanung</a:t>
            </a:r>
            <a:r>
              <a:rPr sz="1100" dirty="0"/>
              <a:t>, </a:t>
            </a:r>
            <a:r>
              <a:rPr sz="1100" dirty="0" err="1"/>
              <a:t>Anomalie-Erkennung</a:t>
            </a:r>
            <a:r>
              <a:rPr sz="1100" dirty="0"/>
              <a:t>, </a:t>
            </a:r>
            <a:r>
              <a:rPr sz="1100" dirty="0" err="1"/>
              <a:t>Tagesmenü-Optimierung</a:t>
            </a:r>
            <a:r>
              <a:rPr sz="1100" dirty="0"/>
              <a:t>. ||  Sie </a:t>
            </a:r>
            <a:r>
              <a:rPr sz="1100" dirty="0" err="1"/>
              <a:t>hängen</a:t>
            </a:r>
            <a:r>
              <a:rPr sz="1100" dirty="0"/>
              <a:t> </a:t>
            </a:r>
            <a:r>
              <a:rPr sz="1100" dirty="0" err="1"/>
              <a:t>hier</a:t>
            </a:r>
            <a:r>
              <a:rPr sz="1100" dirty="0"/>
              <a:t>, </a:t>
            </a:r>
            <a:r>
              <a:rPr sz="1100" dirty="0" err="1"/>
              <a:t>mit</a:t>
            </a:r>
            <a:r>
              <a:rPr sz="1100" dirty="0"/>
              <a:t> der </a:t>
            </a:r>
            <a:r>
              <a:rPr sz="1100" dirty="0" err="1"/>
              <a:t>vollständigen</a:t>
            </a:r>
            <a:r>
              <a:rPr sz="1100" dirty="0"/>
              <a:t> </a:t>
            </a:r>
            <a:r>
              <a:rPr sz="1100" dirty="0" err="1"/>
              <a:t>Bewertung</a:t>
            </a:r>
            <a:r>
              <a:rPr sz="1100" dirty="0"/>
              <a:t> – </a:t>
            </a:r>
            <a:r>
              <a:rPr sz="1100" dirty="0" err="1"/>
              <a:t>auch</a:t>
            </a:r>
            <a:r>
              <a:rPr sz="1100" dirty="0"/>
              <a:t> für das </a:t>
            </a:r>
            <a:r>
              <a:rPr sz="1100" dirty="0" err="1"/>
              <a:t>Fachgespräch</a:t>
            </a:r>
            <a:r>
              <a:rPr sz="1100" dirty="0"/>
              <a:t>. |||</a:t>
            </a:r>
          </a:p>
          <a:p>
            <a:r>
              <a:rPr sz="1100" dirty="0"/>
              <a:t>[</a:t>
            </a:r>
            <a:r>
              <a:rPr sz="1100" dirty="0" err="1"/>
              <a:t>Zurück</a:t>
            </a:r>
            <a:r>
              <a:rPr sz="1100" dirty="0"/>
              <a:t> </a:t>
            </a:r>
            <a:r>
              <a:rPr sz="1100" dirty="0" err="1"/>
              <a:t>zur</a:t>
            </a:r>
            <a:r>
              <a:rPr sz="1100" dirty="0"/>
              <a:t> Leinwand.]</a:t>
            </a:r>
          </a:p>
          <a:p>
            <a:r>
              <a:rPr sz="1100" dirty="0" err="1"/>
              <a:t>Verglichen</a:t>
            </a:r>
            <a:r>
              <a:rPr sz="1100" dirty="0"/>
              <a:t> </a:t>
            </a:r>
            <a:r>
              <a:rPr sz="1100" dirty="0" err="1"/>
              <a:t>habe</a:t>
            </a:r>
            <a:r>
              <a:rPr sz="1100" dirty="0"/>
              <a:t> ich </a:t>
            </a:r>
            <a:r>
              <a:rPr sz="1100" dirty="0" err="1"/>
              <a:t>sie</a:t>
            </a:r>
            <a:r>
              <a:rPr sz="1100" dirty="0"/>
              <a:t> </a:t>
            </a:r>
            <a:r>
              <a:rPr sz="1100" dirty="0" err="1"/>
              <a:t>mit</a:t>
            </a:r>
            <a:r>
              <a:rPr sz="1100" dirty="0"/>
              <a:t> </a:t>
            </a:r>
            <a:r>
              <a:rPr sz="1100" dirty="0" err="1"/>
              <a:t>einer</a:t>
            </a:r>
            <a:r>
              <a:rPr sz="1100" dirty="0"/>
              <a:t> </a:t>
            </a:r>
            <a:r>
              <a:rPr sz="1100" dirty="0" err="1"/>
              <a:t>gewichteten</a:t>
            </a:r>
            <a:r>
              <a:rPr sz="1100" dirty="0"/>
              <a:t> </a:t>
            </a:r>
            <a:r>
              <a:rPr sz="1100" dirty="0" err="1"/>
              <a:t>Nutzwertanalyse</a:t>
            </a:r>
            <a:r>
              <a:rPr sz="1100" dirty="0"/>
              <a:t>: </a:t>
            </a:r>
            <a:r>
              <a:rPr sz="1100" dirty="0" err="1"/>
              <a:t>Datenverfügbarkeit</a:t>
            </a:r>
            <a:r>
              <a:rPr sz="1100" dirty="0"/>
              <a:t> 30 </a:t>
            </a:r>
            <a:r>
              <a:rPr sz="1100" dirty="0" err="1"/>
              <a:t>Prozent</a:t>
            </a:r>
            <a:r>
              <a:rPr sz="1100" dirty="0"/>
              <a:t> – das </a:t>
            </a:r>
            <a:r>
              <a:rPr sz="1100" dirty="0" err="1"/>
              <a:t>höchste</a:t>
            </a:r>
            <a:r>
              <a:rPr sz="1100" dirty="0"/>
              <a:t> </a:t>
            </a:r>
            <a:r>
              <a:rPr sz="1100" dirty="0" err="1"/>
              <a:t>Gewicht</a:t>
            </a:r>
            <a:r>
              <a:rPr sz="1100" dirty="0"/>
              <a:t> –, </a:t>
            </a:r>
            <a:r>
              <a:rPr sz="1100" dirty="0" err="1"/>
              <a:t>Wirtschaftlichkeit</a:t>
            </a:r>
            <a:r>
              <a:rPr sz="1100" dirty="0"/>
              <a:t> und </a:t>
            </a:r>
            <a:r>
              <a:rPr sz="1100" dirty="0" err="1"/>
              <a:t>strategische</a:t>
            </a:r>
            <a:r>
              <a:rPr sz="1100" dirty="0"/>
              <a:t> </a:t>
            </a:r>
            <a:r>
              <a:rPr sz="1100" dirty="0" err="1"/>
              <a:t>Passung</a:t>
            </a:r>
            <a:r>
              <a:rPr sz="1100" dirty="0"/>
              <a:t> je 20, </a:t>
            </a:r>
            <a:r>
              <a:rPr sz="1100" dirty="0" err="1"/>
              <a:t>Machbarkeit</a:t>
            </a:r>
            <a:r>
              <a:rPr sz="1100" dirty="0"/>
              <a:t> und </a:t>
            </a:r>
            <a:r>
              <a:rPr sz="1100" dirty="0" err="1"/>
              <a:t>Akzeptanz</a:t>
            </a:r>
            <a:r>
              <a:rPr sz="1100" dirty="0"/>
              <a:t> je 15. |||</a:t>
            </a:r>
          </a:p>
          <a:p>
            <a:r>
              <a:rPr sz="1100" dirty="0"/>
              <a:t>UC01 </a:t>
            </a:r>
            <a:r>
              <a:rPr sz="1100" dirty="0" err="1"/>
              <a:t>erreicht</a:t>
            </a:r>
            <a:r>
              <a:rPr sz="1100" dirty="0"/>
              <a:t> 4.55. ||  </a:t>
            </a:r>
            <a:r>
              <a:rPr sz="1100" dirty="0" err="1"/>
              <a:t>Entscheidend</a:t>
            </a:r>
            <a:r>
              <a:rPr sz="1100" dirty="0"/>
              <a:t> </a:t>
            </a:r>
            <a:r>
              <a:rPr sz="1100" dirty="0" err="1"/>
              <a:t>ist</a:t>
            </a:r>
            <a:r>
              <a:rPr sz="1100" dirty="0"/>
              <a:t> </a:t>
            </a:r>
            <a:r>
              <a:rPr sz="1100" dirty="0" err="1"/>
              <a:t>aber</a:t>
            </a:r>
            <a:r>
              <a:rPr sz="1100" dirty="0"/>
              <a:t> nicht die </a:t>
            </a:r>
            <a:r>
              <a:rPr sz="1100" dirty="0" err="1"/>
              <a:t>Höhe</a:t>
            </a:r>
            <a:r>
              <a:rPr sz="1100" dirty="0"/>
              <a:t>, </a:t>
            </a:r>
            <a:r>
              <a:rPr sz="1100" dirty="0" err="1"/>
              <a:t>sondern</a:t>
            </a:r>
            <a:r>
              <a:rPr sz="1100" dirty="0"/>
              <a:t> die </a:t>
            </a:r>
            <a:r>
              <a:rPr sz="1100" dirty="0" err="1"/>
              <a:t>Robustheit</a:t>
            </a:r>
            <a:r>
              <a:rPr sz="1100" dirty="0"/>
              <a:t>: UC01 </a:t>
            </a:r>
            <a:r>
              <a:rPr sz="1100" dirty="0" err="1"/>
              <a:t>liegt</a:t>
            </a:r>
            <a:r>
              <a:rPr sz="1100" dirty="0"/>
              <a:t> in </a:t>
            </a:r>
            <a:r>
              <a:rPr sz="1100" dirty="0" err="1"/>
              <a:t>keinem</a:t>
            </a:r>
            <a:r>
              <a:rPr sz="1100" dirty="0"/>
              <a:t> </a:t>
            </a:r>
            <a:r>
              <a:rPr sz="1100" dirty="0" err="1"/>
              <a:t>einzigen</a:t>
            </a:r>
            <a:r>
              <a:rPr sz="1100" dirty="0"/>
              <a:t> </a:t>
            </a:r>
            <a:r>
              <a:rPr sz="1100" dirty="0" err="1"/>
              <a:t>Kriterium</a:t>
            </a:r>
            <a:r>
              <a:rPr sz="1100" dirty="0"/>
              <a:t> hinter </a:t>
            </a:r>
            <a:r>
              <a:rPr sz="1100" dirty="0" err="1"/>
              <a:t>einem</a:t>
            </a:r>
            <a:r>
              <a:rPr sz="1100" dirty="0"/>
              <a:t> </a:t>
            </a:r>
            <a:r>
              <a:rPr sz="1100" dirty="0" err="1"/>
              <a:t>anderen</a:t>
            </a:r>
            <a:r>
              <a:rPr sz="1100" dirty="0"/>
              <a:t> Use Case. ||  Platz 1 hält also auch </a:t>
            </a:r>
            <a:r>
              <a:rPr sz="1100" dirty="0" err="1"/>
              <a:t>dann</a:t>
            </a:r>
            <a:r>
              <a:rPr sz="1100" dirty="0"/>
              <a:t>, </a:t>
            </a:r>
            <a:r>
              <a:rPr sz="1100" dirty="0" err="1"/>
              <a:t>wenn</a:t>
            </a:r>
            <a:r>
              <a:rPr sz="1100" dirty="0"/>
              <a:t> Sie die </a:t>
            </a:r>
            <a:r>
              <a:rPr sz="1100" dirty="0" err="1"/>
              <a:t>Gewichte</a:t>
            </a:r>
            <a:r>
              <a:rPr sz="1100" dirty="0"/>
              <a:t> </a:t>
            </a:r>
            <a:r>
              <a:rPr sz="1100" dirty="0" err="1"/>
              <a:t>anders</a:t>
            </a:r>
            <a:r>
              <a:rPr sz="1100" dirty="0"/>
              <a:t> </a:t>
            </a:r>
            <a:r>
              <a:rPr sz="1100" dirty="0" err="1"/>
              <a:t>setzen</a:t>
            </a:r>
            <a:r>
              <a:rPr sz="1100" dirty="0"/>
              <a:t>. |||</a:t>
            </a:r>
          </a:p>
          <a:p>
            <a:r>
              <a:rPr sz="1100" dirty="0"/>
              <a:t>Ein Use Case bis </a:t>
            </a:r>
            <a:r>
              <a:rPr sz="1100" dirty="0" err="1"/>
              <a:t>zur</a:t>
            </a:r>
            <a:r>
              <a:rPr sz="1100" dirty="0"/>
              <a:t> </a:t>
            </a:r>
            <a:r>
              <a:rPr sz="1100" dirty="0" err="1"/>
              <a:t>Entscheidungsreife</a:t>
            </a:r>
            <a:r>
              <a:rPr sz="1100" dirty="0"/>
              <a:t>, </a:t>
            </a:r>
            <a:r>
              <a:rPr sz="1100" dirty="0" err="1"/>
              <a:t>statt</a:t>
            </a:r>
            <a:r>
              <a:rPr sz="1100" dirty="0"/>
              <a:t> </a:t>
            </a:r>
            <a:r>
              <a:rPr sz="1100" dirty="0" err="1"/>
              <a:t>fünf</a:t>
            </a:r>
            <a:r>
              <a:rPr sz="1100" dirty="0"/>
              <a:t> parallel.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3:35 – 4:20   ·   </a:t>
            </a:r>
            <a:r>
              <a:rPr sz="1300" b="1" dirty="0" err="1"/>
              <a:t>Lösungsansätze</a:t>
            </a:r>
            <a:r>
              <a:rPr sz="1300" b="1" dirty="0"/>
              <a:t> · C2</a:t>
            </a:r>
          </a:p>
          <a:p>
            <a:r>
              <a:rPr sz="1100" b="1" dirty="0"/>
              <a:t>KERNAUSSAGE: Die Cloud war nicht die </a:t>
            </a:r>
            <a:r>
              <a:rPr sz="1100" b="1" dirty="0" err="1"/>
              <a:t>Präferenz</a:t>
            </a:r>
            <a:r>
              <a:rPr sz="1100" b="1" dirty="0"/>
              <a:t>, </a:t>
            </a:r>
            <a:r>
              <a:rPr sz="1100" b="1" dirty="0" err="1"/>
              <a:t>sondern</a:t>
            </a:r>
            <a:r>
              <a:rPr sz="1100" b="1" dirty="0"/>
              <a:t> das </a:t>
            </a:r>
            <a:r>
              <a:rPr sz="1100" b="1" dirty="0" err="1"/>
              <a:t>Ergebnis</a:t>
            </a:r>
            <a:r>
              <a:rPr sz="1100" b="1" dirty="0"/>
              <a:t> – und das </a:t>
            </a:r>
            <a:r>
              <a:rPr sz="1100" b="1" dirty="0" err="1"/>
              <a:t>Scheitern</a:t>
            </a:r>
            <a:r>
              <a:rPr sz="1100" b="1" dirty="0"/>
              <a:t> war </a:t>
            </a:r>
            <a:r>
              <a:rPr sz="1100" b="1" dirty="0" err="1"/>
              <a:t>ein</a:t>
            </a:r>
            <a:r>
              <a:rPr sz="1100" b="1" dirty="0"/>
              <a:t> </a:t>
            </a:r>
            <a:r>
              <a:rPr sz="1100" b="1" dirty="0" err="1"/>
              <a:t>Beschaffungsfehler</a:t>
            </a:r>
            <a:r>
              <a:rPr sz="1100" b="1" dirty="0"/>
              <a:t>.</a:t>
            </a:r>
          </a:p>
          <a:p>
            <a:endParaRPr sz="1100" b="1" dirty="0"/>
          </a:p>
          <a:p>
            <a:r>
              <a:rPr sz="1100" dirty="0"/>
              <a:t>[Auf den </a:t>
            </a:r>
            <a:r>
              <a:rPr sz="1100" dirty="0" err="1"/>
              <a:t>markierten</a:t>
            </a:r>
            <a:r>
              <a:rPr sz="1100" dirty="0"/>
              <a:t> </a:t>
            </a:r>
            <a:r>
              <a:rPr sz="1100" dirty="0" err="1"/>
              <a:t>Pfad</a:t>
            </a:r>
            <a:r>
              <a:rPr sz="1100" dirty="0"/>
              <a:t> </a:t>
            </a:r>
            <a:r>
              <a:rPr sz="1100" dirty="0" err="1"/>
              <a:t>zeigen</a:t>
            </a:r>
            <a:r>
              <a:rPr sz="1100" dirty="0"/>
              <a:t>.]</a:t>
            </a:r>
          </a:p>
          <a:p>
            <a:r>
              <a:rPr sz="1100" dirty="0"/>
              <a:t>Vier </a:t>
            </a:r>
            <a:r>
              <a:rPr sz="1100" dirty="0" err="1"/>
              <a:t>Dimensionen</a:t>
            </a:r>
            <a:r>
              <a:rPr sz="1100" dirty="0"/>
              <a:t>, je </a:t>
            </a:r>
            <a:r>
              <a:rPr sz="1100" dirty="0" err="1"/>
              <a:t>drei</a:t>
            </a:r>
            <a:r>
              <a:rPr sz="1100" dirty="0"/>
              <a:t> </a:t>
            </a:r>
            <a:r>
              <a:rPr sz="1100" dirty="0" err="1"/>
              <a:t>Varianten</a:t>
            </a:r>
            <a:r>
              <a:rPr sz="1100" dirty="0"/>
              <a:t>. Der </a:t>
            </a:r>
            <a:r>
              <a:rPr sz="1100" dirty="0" err="1"/>
              <a:t>markierte</a:t>
            </a:r>
            <a:r>
              <a:rPr sz="1100" dirty="0"/>
              <a:t> Weg </a:t>
            </a:r>
            <a:r>
              <a:rPr sz="1100" dirty="0" err="1"/>
              <a:t>ist</a:t>
            </a:r>
            <a:r>
              <a:rPr sz="1100" dirty="0"/>
              <a:t> die </a:t>
            </a:r>
            <a:r>
              <a:rPr sz="1100" dirty="0" err="1"/>
              <a:t>Zielarchitektur</a:t>
            </a:r>
            <a:r>
              <a:rPr sz="1100" dirty="0"/>
              <a:t>. |||</a:t>
            </a:r>
          </a:p>
          <a:p>
            <a:r>
              <a:rPr sz="1100" dirty="0"/>
              <a:t>Parallel </a:t>
            </a:r>
            <a:r>
              <a:rPr sz="1100" dirty="0" err="1"/>
              <a:t>habe</a:t>
            </a:r>
            <a:r>
              <a:rPr sz="1100" dirty="0"/>
              <a:t> ich </a:t>
            </a:r>
            <a:r>
              <a:rPr sz="1100" dirty="0" err="1"/>
              <a:t>eine</a:t>
            </a:r>
            <a:r>
              <a:rPr sz="1100" dirty="0"/>
              <a:t> On-Premise-</a:t>
            </a:r>
            <a:r>
              <a:rPr sz="1100" dirty="0" err="1"/>
              <a:t>Variante</a:t>
            </a:r>
            <a:r>
              <a:rPr sz="1100" dirty="0"/>
              <a:t> </a:t>
            </a:r>
            <a:r>
              <a:rPr sz="1100" dirty="0" err="1"/>
              <a:t>gebaut</a:t>
            </a:r>
            <a:r>
              <a:rPr sz="1100" dirty="0"/>
              <a:t> und von </a:t>
            </a:r>
            <a:r>
              <a:rPr sz="1100" dirty="0" err="1"/>
              <a:t>Januar</a:t>
            </a:r>
            <a:r>
              <a:rPr sz="1100" dirty="0"/>
              <a:t> bis April </a:t>
            </a:r>
            <a:r>
              <a:rPr sz="1100" dirty="0" err="1"/>
              <a:t>getestet</a:t>
            </a:r>
            <a:r>
              <a:rPr sz="1100" dirty="0"/>
              <a:t>. ||  Der </a:t>
            </a:r>
            <a:r>
              <a:rPr sz="1100" dirty="0" err="1"/>
              <a:t>Versuch</a:t>
            </a:r>
            <a:r>
              <a:rPr sz="1100" dirty="0"/>
              <a:t> </a:t>
            </a:r>
            <a:r>
              <a:rPr sz="1100" dirty="0" err="1"/>
              <a:t>ist</a:t>
            </a:r>
            <a:r>
              <a:rPr sz="1100" dirty="0"/>
              <a:t> </a:t>
            </a:r>
            <a:r>
              <a:rPr sz="1100" dirty="0" err="1"/>
              <a:t>gescheitert</a:t>
            </a:r>
            <a:r>
              <a:rPr sz="1100" dirty="0"/>
              <a:t>: Die </a:t>
            </a:r>
            <a:r>
              <a:rPr sz="1100" dirty="0" err="1"/>
              <a:t>gelieferten</a:t>
            </a:r>
            <a:r>
              <a:rPr sz="1100" dirty="0"/>
              <a:t> </a:t>
            </a:r>
            <a:r>
              <a:rPr sz="1100" dirty="0" err="1"/>
              <a:t>Speichermedien</a:t>
            </a:r>
            <a:r>
              <a:rPr sz="1100" dirty="0"/>
              <a:t> </a:t>
            </a:r>
            <a:r>
              <a:rPr sz="1100" dirty="0" err="1"/>
              <a:t>waren</a:t>
            </a:r>
            <a:r>
              <a:rPr sz="1100" dirty="0"/>
              <a:t> </a:t>
            </a:r>
            <a:r>
              <a:rPr sz="1100" dirty="0" err="1"/>
              <a:t>gefälscht</a:t>
            </a:r>
            <a:r>
              <a:rPr sz="1100" dirty="0"/>
              <a:t>. ||  Das </a:t>
            </a:r>
            <a:r>
              <a:rPr sz="1100" dirty="0" err="1"/>
              <a:t>ist</a:t>
            </a:r>
            <a:r>
              <a:rPr sz="1100" dirty="0"/>
              <a:t> </a:t>
            </a:r>
            <a:r>
              <a:rPr sz="1100" dirty="0" err="1"/>
              <a:t>ein</a:t>
            </a:r>
            <a:r>
              <a:rPr sz="1100" dirty="0"/>
              <a:t> </a:t>
            </a:r>
            <a:r>
              <a:rPr sz="1100" dirty="0" err="1"/>
              <a:t>Beschaffungsfehler</a:t>
            </a:r>
            <a:r>
              <a:rPr sz="1100" dirty="0"/>
              <a:t> – </a:t>
            </a:r>
            <a:r>
              <a:rPr sz="1100" dirty="0" err="1"/>
              <a:t>kein</a:t>
            </a:r>
            <a:r>
              <a:rPr sz="1100" dirty="0"/>
              <a:t> Argument </a:t>
            </a:r>
            <a:r>
              <a:rPr sz="1100" dirty="0" err="1"/>
              <a:t>gegen</a:t>
            </a:r>
            <a:r>
              <a:rPr sz="1100" dirty="0"/>
              <a:t> On-Premise </a:t>
            </a:r>
            <a:r>
              <a:rPr sz="1100" dirty="0" err="1"/>
              <a:t>als</a:t>
            </a:r>
            <a:r>
              <a:rPr sz="1100" dirty="0"/>
              <a:t> </a:t>
            </a:r>
            <a:r>
              <a:rPr sz="1100" dirty="0" err="1"/>
              <a:t>Architektur</a:t>
            </a:r>
            <a:r>
              <a:rPr sz="1100" dirty="0"/>
              <a:t>. |||</a:t>
            </a:r>
          </a:p>
          <a:p>
            <a:r>
              <a:rPr sz="1100" dirty="0"/>
              <a:t>Für die Cloud </a:t>
            </a:r>
            <a:r>
              <a:rPr sz="1100" dirty="0" err="1"/>
              <a:t>sprachen</a:t>
            </a:r>
            <a:r>
              <a:rPr sz="1100" dirty="0"/>
              <a:t> </a:t>
            </a:r>
            <a:r>
              <a:rPr sz="1100" dirty="0" err="1"/>
              <a:t>zwei</a:t>
            </a:r>
            <a:r>
              <a:rPr sz="1100" dirty="0"/>
              <a:t> Dinge </a:t>
            </a:r>
            <a:r>
              <a:rPr sz="1100" dirty="0" err="1"/>
              <a:t>unabhängig</a:t>
            </a:r>
            <a:r>
              <a:rPr sz="1100" dirty="0"/>
              <a:t> </a:t>
            </a:r>
            <a:r>
              <a:rPr sz="1100" dirty="0" err="1"/>
              <a:t>davon</a:t>
            </a:r>
            <a:r>
              <a:rPr sz="1100" dirty="0"/>
              <a:t>: Sie war in </a:t>
            </a:r>
            <a:r>
              <a:rPr sz="1100" dirty="0" err="1"/>
              <a:t>meiner</a:t>
            </a:r>
            <a:r>
              <a:rPr sz="1100" dirty="0"/>
              <a:t> </a:t>
            </a:r>
            <a:r>
              <a:rPr lang="de-DE" sz="1100" dirty="0"/>
              <a:t>Kosten</a:t>
            </a:r>
            <a:r>
              <a:rPr sz="1100" dirty="0"/>
              <a:t>-</a:t>
            </a:r>
            <a:r>
              <a:rPr sz="1100" dirty="0" err="1"/>
              <a:t>Bewertung</a:t>
            </a:r>
            <a:r>
              <a:rPr sz="1100" dirty="0"/>
              <a:t> </a:t>
            </a:r>
            <a:r>
              <a:rPr sz="1100" dirty="0" err="1"/>
              <a:t>günstiger</a:t>
            </a:r>
            <a:r>
              <a:rPr sz="1100" dirty="0"/>
              <a:t>, ||  und die </a:t>
            </a:r>
            <a:r>
              <a:rPr sz="1100" dirty="0" err="1"/>
              <a:t>Datenhaltung</a:t>
            </a:r>
            <a:r>
              <a:rPr sz="1100" dirty="0"/>
              <a:t> </a:t>
            </a:r>
            <a:r>
              <a:rPr sz="1100" dirty="0" err="1"/>
              <a:t>ist</a:t>
            </a:r>
            <a:r>
              <a:rPr sz="1100" dirty="0"/>
              <a:t> </a:t>
            </a:r>
            <a:r>
              <a:rPr sz="1100" dirty="0" err="1"/>
              <a:t>dort</a:t>
            </a:r>
            <a:r>
              <a:rPr sz="1100" dirty="0"/>
              <a:t> </a:t>
            </a:r>
            <a:r>
              <a:rPr sz="1100" dirty="0" err="1"/>
              <a:t>nachweisbar</a:t>
            </a:r>
            <a:r>
              <a:rPr sz="1100" dirty="0"/>
              <a:t> </a:t>
            </a:r>
            <a:r>
              <a:rPr sz="1100" dirty="0" err="1"/>
              <a:t>kontrolliert</a:t>
            </a:r>
            <a:r>
              <a:rPr sz="1100" dirty="0"/>
              <a:t> – das </a:t>
            </a:r>
            <a:r>
              <a:rPr sz="1100" dirty="0" err="1"/>
              <a:t>brauche</a:t>
            </a:r>
            <a:r>
              <a:rPr sz="1100" dirty="0"/>
              <a:t> ich </a:t>
            </a:r>
            <a:r>
              <a:rPr sz="1100" dirty="0" err="1"/>
              <a:t>unter</a:t>
            </a:r>
            <a:r>
              <a:rPr sz="1100" dirty="0"/>
              <a:t> dem DSG. |||</a:t>
            </a:r>
          </a:p>
          <a:p>
            <a:r>
              <a:rPr sz="1100" dirty="0"/>
              <a:t>Nicht die Cloud war die </a:t>
            </a:r>
            <a:r>
              <a:rPr sz="1100" dirty="0" err="1"/>
              <a:t>Präferenz</a:t>
            </a:r>
            <a:r>
              <a:rPr sz="1100" dirty="0"/>
              <a:t>. Sie war das </a:t>
            </a:r>
            <a:r>
              <a:rPr sz="1100" dirty="0" err="1"/>
              <a:t>Ergebnis</a:t>
            </a:r>
            <a:r>
              <a:rPr sz="1100"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4:20 – 5:05   ·   </a:t>
            </a:r>
            <a:r>
              <a:rPr sz="1300" b="1" dirty="0" err="1"/>
              <a:t>Architektur</a:t>
            </a:r>
            <a:r>
              <a:rPr sz="1300" b="1" dirty="0"/>
              <a:t> &amp; </a:t>
            </a:r>
            <a:r>
              <a:rPr sz="1300" b="1" dirty="0" err="1"/>
              <a:t>Daten</a:t>
            </a:r>
            <a:r>
              <a:rPr sz="1300" b="1" dirty="0"/>
              <a:t> · C3</a:t>
            </a:r>
          </a:p>
          <a:p>
            <a:r>
              <a:rPr sz="1100" b="1" dirty="0"/>
              <a:t>KERNAUSSAGE: </a:t>
            </a:r>
            <a:r>
              <a:rPr sz="1100" b="1" dirty="0" err="1"/>
              <a:t>Entscheidend</a:t>
            </a:r>
            <a:r>
              <a:rPr sz="1100" b="1" dirty="0"/>
              <a:t> </a:t>
            </a:r>
            <a:r>
              <a:rPr sz="1100" b="1" dirty="0" err="1"/>
              <a:t>ist</a:t>
            </a:r>
            <a:r>
              <a:rPr sz="1100" b="1" dirty="0"/>
              <a:t> der </a:t>
            </a:r>
            <a:r>
              <a:rPr sz="1100" b="1" dirty="0" err="1"/>
              <a:t>fünfte</a:t>
            </a:r>
            <a:r>
              <a:rPr sz="1100" b="1" dirty="0"/>
              <a:t> Schritt: der </a:t>
            </a:r>
            <a:r>
              <a:rPr sz="1100" b="1" dirty="0" err="1"/>
              <a:t>Vergleich</a:t>
            </a:r>
            <a:r>
              <a:rPr sz="1100" b="1" dirty="0"/>
              <a:t> von Prognose und </a:t>
            </a:r>
            <a:r>
              <a:rPr sz="1100" b="1" dirty="0" err="1"/>
              <a:t>Verkauf</a:t>
            </a:r>
            <a:r>
              <a:rPr sz="1100" b="1" dirty="0"/>
              <a:t>.</a:t>
            </a:r>
          </a:p>
          <a:p>
            <a:endParaRPr sz="1100" b="1" dirty="0"/>
          </a:p>
          <a:p>
            <a:r>
              <a:rPr sz="1100" dirty="0"/>
              <a:t>Damit </a:t>
            </a:r>
            <a:r>
              <a:rPr sz="1100" dirty="0" err="1"/>
              <a:t>zur</a:t>
            </a:r>
            <a:r>
              <a:rPr sz="1100" dirty="0"/>
              <a:t> </a:t>
            </a:r>
            <a:r>
              <a:rPr sz="1100" dirty="0" err="1"/>
              <a:t>Lösung</a:t>
            </a:r>
            <a:r>
              <a:rPr sz="1100" dirty="0"/>
              <a:t>. |</a:t>
            </a:r>
          </a:p>
          <a:p>
            <a:r>
              <a:rPr sz="1100" dirty="0" err="1"/>
              <a:t>Fünf</a:t>
            </a:r>
            <a:r>
              <a:rPr sz="1100" dirty="0"/>
              <a:t> </a:t>
            </a:r>
            <a:r>
              <a:rPr sz="1100" dirty="0" err="1"/>
              <a:t>Schritte</a:t>
            </a:r>
            <a:r>
              <a:rPr sz="1100" dirty="0"/>
              <a:t>. ||  Die Tickets </a:t>
            </a:r>
            <a:r>
              <a:rPr sz="1100" dirty="0" err="1"/>
              <a:t>beider</a:t>
            </a:r>
            <a:r>
              <a:rPr sz="1100" dirty="0"/>
              <a:t> Kassen, die </a:t>
            </a:r>
            <a:r>
              <a:rPr sz="1100" dirty="0" err="1"/>
              <a:t>Anreicherung</a:t>
            </a:r>
            <a:r>
              <a:rPr sz="1100" dirty="0"/>
              <a:t> </a:t>
            </a:r>
            <a:r>
              <a:rPr sz="1100" dirty="0" err="1"/>
              <a:t>mit</a:t>
            </a:r>
            <a:r>
              <a:rPr sz="1100" dirty="0"/>
              <a:t> Wetter und </a:t>
            </a:r>
            <a:r>
              <a:rPr sz="1100" dirty="0" err="1"/>
              <a:t>Anlässen</a:t>
            </a:r>
            <a:r>
              <a:rPr sz="1100" dirty="0"/>
              <a:t>, die Prognose, das Dashboard – ||  und der </a:t>
            </a:r>
            <a:r>
              <a:rPr sz="1100" dirty="0" err="1"/>
              <a:t>fünfte</a:t>
            </a:r>
            <a:r>
              <a:rPr sz="1100" dirty="0"/>
              <a:t>: der </a:t>
            </a:r>
            <a:r>
              <a:rPr sz="1100" dirty="0" err="1"/>
              <a:t>Vergleich</a:t>
            </a:r>
            <a:r>
              <a:rPr sz="1100" dirty="0"/>
              <a:t> von Prognose und </a:t>
            </a:r>
            <a:r>
              <a:rPr sz="1100" dirty="0" err="1"/>
              <a:t>Verkauf</a:t>
            </a:r>
            <a:r>
              <a:rPr sz="1100" dirty="0"/>
              <a:t>. |||</a:t>
            </a:r>
          </a:p>
          <a:p>
            <a:r>
              <a:rPr sz="1100" dirty="0"/>
              <a:t>Das </a:t>
            </a:r>
            <a:r>
              <a:rPr sz="1100" dirty="0" err="1"/>
              <a:t>ist</a:t>
            </a:r>
            <a:r>
              <a:rPr sz="1100" dirty="0"/>
              <a:t> der Feedback-Loop, und er </a:t>
            </a:r>
            <a:r>
              <a:rPr sz="1100" dirty="0" err="1"/>
              <a:t>ist</a:t>
            </a:r>
            <a:r>
              <a:rPr sz="1100" dirty="0"/>
              <a:t> der Kern der </a:t>
            </a:r>
            <a:r>
              <a:rPr sz="1100" dirty="0" err="1"/>
              <a:t>Lösung</a:t>
            </a:r>
            <a:r>
              <a:rPr sz="1100" dirty="0"/>
              <a:t>. |||</a:t>
            </a:r>
          </a:p>
          <a:p>
            <a:r>
              <a:rPr sz="1100" dirty="0"/>
              <a:t>Die </a:t>
            </a:r>
            <a:r>
              <a:rPr sz="1100" dirty="0" err="1"/>
              <a:t>Grundlage</a:t>
            </a:r>
            <a:r>
              <a:rPr sz="1100" dirty="0"/>
              <a:t> links: POS, Wetter, </a:t>
            </a:r>
            <a:r>
              <a:rPr lang="de-CH" sz="1100" dirty="0"/>
              <a:t>Events</a:t>
            </a:r>
            <a:r>
              <a:rPr sz="1100" dirty="0"/>
              <a:t> – und die Real-</a:t>
            </a:r>
            <a:r>
              <a:rPr sz="1100" dirty="0" err="1"/>
              <a:t>Werte</a:t>
            </a:r>
            <a:r>
              <a:rPr sz="1100" dirty="0"/>
              <a:t> </a:t>
            </a:r>
            <a:r>
              <a:rPr sz="1100" dirty="0" err="1"/>
              <a:t>aus</a:t>
            </a:r>
            <a:r>
              <a:rPr sz="1100" dirty="0"/>
              <a:t> der </a:t>
            </a:r>
            <a:r>
              <a:rPr sz="1100" dirty="0" err="1"/>
              <a:t>Küche</a:t>
            </a:r>
            <a:r>
              <a:rPr sz="1100" dirty="0"/>
              <a:t> </a:t>
            </a:r>
            <a:r>
              <a:rPr sz="1100" dirty="0" err="1"/>
              <a:t>als</a:t>
            </a:r>
            <a:r>
              <a:rPr sz="1100" dirty="0"/>
              <a:t> Ground Truth. |||</a:t>
            </a:r>
          </a:p>
          <a:p>
            <a:r>
              <a:rPr sz="1100" dirty="0" err="1"/>
              <a:t>Rechts</a:t>
            </a:r>
            <a:r>
              <a:rPr sz="1100" dirty="0"/>
              <a:t> die </a:t>
            </a:r>
            <a:r>
              <a:rPr sz="1100" dirty="0" err="1"/>
              <a:t>Anforderungen</a:t>
            </a:r>
            <a:r>
              <a:rPr sz="1100" dirty="0"/>
              <a:t>: </a:t>
            </a:r>
            <a:r>
              <a:rPr sz="1100" dirty="0" err="1"/>
              <a:t>acht</a:t>
            </a:r>
            <a:r>
              <a:rPr sz="1100" dirty="0"/>
              <a:t> </a:t>
            </a:r>
            <a:r>
              <a:rPr sz="1100" dirty="0" err="1"/>
              <a:t>funktionale</a:t>
            </a:r>
            <a:r>
              <a:rPr sz="1100" dirty="0"/>
              <a:t>, </a:t>
            </a:r>
            <a:r>
              <a:rPr sz="1100" dirty="0" err="1"/>
              <a:t>drei</a:t>
            </a:r>
            <a:r>
              <a:rPr sz="1100" dirty="0"/>
              <a:t> nicht-</a:t>
            </a:r>
            <a:r>
              <a:rPr sz="1100" dirty="0" err="1"/>
              <a:t>funktionale</a:t>
            </a:r>
            <a:r>
              <a:rPr sz="1100" dirty="0"/>
              <a:t>, vier User Stories </a:t>
            </a:r>
            <a:r>
              <a:rPr sz="1100" dirty="0" err="1"/>
              <a:t>nach</a:t>
            </a:r>
            <a:r>
              <a:rPr sz="1100" dirty="0"/>
              <a:t> </a:t>
            </a:r>
            <a:r>
              <a:rPr sz="1100" dirty="0" err="1"/>
              <a:t>MoSCoW</a:t>
            </a:r>
            <a:r>
              <a:rPr sz="1100" dirty="0"/>
              <a:t>. ||  Und der </a:t>
            </a:r>
            <a:r>
              <a:rPr sz="1100" dirty="0" err="1"/>
              <a:t>Datenschutz</a:t>
            </a:r>
            <a:r>
              <a:rPr sz="1100" dirty="0"/>
              <a:t>: Rollen </a:t>
            </a:r>
            <a:r>
              <a:rPr sz="1100" dirty="0" err="1"/>
              <a:t>strikt</a:t>
            </a:r>
            <a:r>
              <a:rPr sz="1100" dirty="0"/>
              <a:t> </a:t>
            </a:r>
            <a:r>
              <a:rPr sz="1100" dirty="0" err="1"/>
              <a:t>getrennt</a:t>
            </a:r>
            <a:r>
              <a:rPr sz="1100" dirty="0"/>
              <a:t>, </a:t>
            </a:r>
            <a:r>
              <a:rPr sz="1100" dirty="0" err="1"/>
              <a:t>Datenhaltung</a:t>
            </a:r>
            <a:r>
              <a:rPr sz="1100" dirty="0"/>
              <a:t> in der Schweiz, </a:t>
            </a:r>
            <a:r>
              <a:rPr sz="1100" dirty="0" err="1"/>
              <a:t>Konzept</a:t>
            </a:r>
            <a:r>
              <a:rPr sz="1100" dirty="0"/>
              <a:t> </a:t>
            </a:r>
            <a:r>
              <a:rPr sz="1100" dirty="0" err="1"/>
              <a:t>nach</a:t>
            </a:r>
            <a:r>
              <a:rPr sz="1100" dirty="0"/>
              <a:t> DSG. |||</a:t>
            </a:r>
          </a:p>
          <a:p>
            <a:r>
              <a:rPr sz="1100" dirty="0"/>
              <a:t>Ein Satz </a:t>
            </a:r>
            <a:r>
              <a:rPr sz="1100" dirty="0" err="1"/>
              <a:t>zum</a:t>
            </a:r>
            <a:r>
              <a:rPr sz="1100" dirty="0"/>
              <a:t> </a:t>
            </a:r>
            <a:r>
              <a:rPr sz="1100" dirty="0" err="1"/>
              <a:t>ersten</a:t>
            </a:r>
            <a:r>
              <a:rPr sz="1100" dirty="0"/>
              <a:t> Schritt: ||  </a:t>
            </a:r>
            <a:r>
              <a:rPr sz="1100" dirty="0" err="1"/>
              <a:t>WaiterOne</a:t>
            </a:r>
            <a:r>
              <a:rPr sz="1100" dirty="0"/>
              <a:t> hat mir die REST API v2 </a:t>
            </a:r>
            <a:r>
              <a:rPr sz="1100" dirty="0" err="1"/>
              <a:t>bestätigt</a:t>
            </a:r>
            <a:r>
              <a:rPr sz="1100" dirty="0"/>
              <a:t>, den </a:t>
            </a:r>
            <a:r>
              <a:rPr sz="1100" dirty="0" err="1"/>
              <a:t>Schlüssel</a:t>
            </a:r>
            <a:r>
              <a:rPr sz="1100" dirty="0"/>
              <a:t> </a:t>
            </a:r>
            <a:r>
              <a:rPr sz="1100" dirty="0" err="1"/>
              <a:t>aber</a:t>
            </a:r>
            <a:r>
              <a:rPr sz="1100" dirty="0"/>
              <a:t> nicht </a:t>
            </a:r>
            <a:r>
              <a:rPr sz="1100" dirty="0" err="1"/>
              <a:t>erteilt</a:t>
            </a:r>
            <a:r>
              <a:rPr sz="1100" dirty="0"/>
              <a:t>. ||  Der </a:t>
            </a:r>
            <a:r>
              <a:rPr sz="1100" dirty="0" err="1"/>
              <a:t>Ticketabruf</a:t>
            </a:r>
            <a:r>
              <a:rPr sz="1100" dirty="0"/>
              <a:t> </a:t>
            </a:r>
            <a:r>
              <a:rPr sz="1100" dirty="0" err="1"/>
              <a:t>läuft</a:t>
            </a:r>
            <a:r>
              <a:rPr sz="1100" dirty="0"/>
              <a:t> </a:t>
            </a:r>
            <a:r>
              <a:rPr sz="1100" dirty="0" err="1"/>
              <a:t>deshalb</a:t>
            </a:r>
            <a:r>
              <a:rPr sz="1100" dirty="0"/>
              <a:t> </a:t>
            </a:r>
            <a:r>
              <a:rPr sz="1100" dirty="0" err="1"/>
              <a:t>seit</a:t>
            </a:r>
            <a:r>
              <a:rPr sz="1100" dirty="0"/>
              <a:t> dem 11. September </a:t>
            </a:r>
            <a:r>
              <a:rPr sz="1100" dirty="0" err="1"/>
              <a:t>automatisiert</a:t>
            </a:r>
            <a:r>
              <a:rPr sz="1100" dirty="0"/>
              <a:t> </a:t>
            </a:r>
            <a:r>
              <a:rPr sz="1100" dirty="0" err="1"/>
              <a:t>über</a:t>
            </a:r>
            <a:r>
              <a:rPr sz="1100" dirty="0"/>
              <a:t> das Back-Office des </a:t>
            </a:r>
            <a:r>
              <a:rPr sz="1100" dirty="0" err="1"/>
              <a:t>Betriebs</a:t>
            </a:r>
            <a:r>
              <a:rPr sz="1100" dirty="0"/>
              <a:t> - </a:t>
            </a:r>
            <a:r>
              <a:rPr sz="1100" dirty="0" err="1"/>
              <a:t>funktional</a:t>
            </a:r>
            <a:r>
              <a:rPr sz="1100" dirty="0"/>
              <a:t> </a:t>
            </a:r>
            <a:r>
              <a:rPr sz="1100" dirty="0" err="1"/>
              <a:t>erfüllt</a:t>
            </a:r>
            <a:r>
              <a:rPr sz="1100" dirty="0"/>
              <a:t>, </a:t>
            </a:r>
            <a:r>
              <a:rPr sz="1100" dirty="0" err="1"/>
              <a:t>technisch</a:t>
            </a:r>
            <a:r>
              <a:rPr sz="1100" dirty="0"/>
              <a:t> auf dem </a:t>
            </a:r>
            <a:r>
              <a:rPr sz="1100" dirty="0" err="1"/>
              <a:t>zweiten</a:t>
            </a:r>
            <a:r>
              <a:rPr sz="1100" dirty="0"/>
              <a:t> Weg. ||  Ich sage das, </a:t>
            </a:r>
            <a:r>
              <a:rPr sz="1100" dirty="0" err="1"/>
              <a:t>damit</a:t>
            </a:r>
            <a:r>
              <a:rPr sz="1100" dirty="0"/>
              <a:t> Sie es nicht </a:t>
            </a:r>
            <a:r>
              <a:rPr sz="1100" dirty="0" err="1"/>
              <a:t>suchen</a:t>
            </a:r>
            <a:r>
              <a:rPr sz="1100" dirty="0"/>
              <a:t> </a:t>
            </a:r>
            <a:r>
              <a:rPr sz="1100" dirty="0" err="1"/>
              <a:t>müssen</a:t>
            </a:r>
            <a:r>
              <a:rPr sz="1100" dirty="0"/>
              <a:t>. |||</a:t>
            </a:r>
          </a:p>
          <a:p>
            <a:r>
              <a:rPr sz="1100" dirty="0"/>
              <a:t>Wie das </a:t>
            </a:r>
            <a:r>
              <a:rPr sz="1100" dirty="0" err="1"/>
              <a:t>im</a:t>
            </a:r>
            <a:r>
              <a:rPr sz="1100" dirty="0"/>
              <a:t> </a:t>
            </a:r>
            <a:r>
              <a:rPr sz="1100" dirty="0" err="1"/>
              <a:t>Betrieb</a:t>
            </a:r>
            <a:r>
              <a:rPr sz="1100" dirty="0"/>
              <a:t> </a:t>
            </a:r>
            <a:r>
              <a:rPr sz="1100" dirty="0" err="1"/>
              <a:t>aussieht</a:t>
            </a:r>
            <a:r>
              <a:rPr sz="1100" dirty="0"/>
              <a:t>, </a:t>
            </a:r>
            <a:r>
              <a:rPr sz="1100" dirty="0" err="1"/>
              <a:t>zeige</a:t>
            </a:r>
            <a:r>
              <a:rPr sz="1100" dirty="0"/>
              <a:t> ich Ihnen </a:t>
            </a:r>
            <a:r>
              <a:rPr sz="1100" dirty="0" err="1"/>
              <a:t>jetzt</a:t>
            </a:r>
            <a:r>
              <a:rPr sz="1100" dirty="0"/>
              <a:t> – und </a:t>
            </a:r>
            <a:r>
              <a:rPr sz="1100" dirty="0" err="1"/>
              <a:t>zwar</a:t>
            </a:r>
            <a:r>
              <a:rPr sz="1100" dirty="0"/>
              <a:t> </a:t>
            </a:r>
            <a:r>
              <a:rPr sz="1100" dirty="0" err="1"/>
              <a:t>direkt</a:t>
            </a:r>
            <a:r>
              <a:rPr sz="1100" dirty="0"/>
              <a:t> </a:t>
            </a:r>
            <a:r>
              <a:rPr sz="1100" dirty="0" err="1"/>
              <a:t>im</a:t>
            </a:r>
            <a:r>
              <a:rPr sz="1100" dirty="0"/>
              <a:t> System.</a:t>
            </a:r>
          </a:p>
          <a:p>
            <a:endParaRPr sz="1100" dirty="0"/>
          </a:p>
          <a:p>
            <a:r>
              <a:rPr sz="1100" dirty="0"/>
              <a:t>─────────────────────────────</a:t>
            </a:r>
          </a:p>
          <a:p>
            <a:endParaRPr sz="1100" dirty="0"/>
          </a:p>
          <a:p>
            <a:r>
              <a:rPr sz="1100" dirty="0"/>
              <a:t>5:05 – 8:35  ·  GRENZE 3:30   ·   LIVE-DEMO  ·  Test-Dashboard  ·  Sa, 31.10.2026</a:t>
            </a:r>
          </a:p>
          <a:p>
            <a:r>
              <a:rPr sz="1100" b="1" dirty="0"/>
              <a:t>KERNAUSSAGE: Das System tut vier Dinge: Es </a:t>
            </a:r>
            <a:r>
              <a:rPr sz="1100" b="1" dirty="0" err="1"/>
              <a:t>sagt</a:t>
            </a:r>
            <a:r>
              <a:rPr sz="1100" b="1" dirty="0"/>
              <a:t> </a:t>
            </a:r>
            <a:r>
              <a:rPr sz="1100" b="1" dirty="0" err="1"/>
              <a:t>eine</a:t>
            </a:r>
            <a:r>
              <a:rPr sz="1100" b="1" dirty="0"/>
              <a:t> Menge, es </a:t>
            </a:r>
            <a:r>
              <a:rPr sz="1100" b="1" dirty="0" err="1"/>
              <a:t>begründet</a:t>
            </a:r>
            <a:r>
              <a:rPr sz="1100" b="1" dirty="0"/>
              <a:t> </a:t>
            </a:r>
            <a:r>
              <a:rPr sz="1100" b="1" dirty="0" err="1"/>
              <a:t>sie</a:t>
            </a:r>
            <a:r>
              <a:rPr sz="1100" b="1" dirty="0"/>
              <a:t>, es </a:t>
            </a:r>
            <a:r>
              <a:rPr sz="1100" b="1" dirty="0" err="1"/>
              <a:t>lässt</a:t>
            </a:r>
            <a:r>
              <a:rPr sz="1100" b="1" dirty="0"/>
              <a:t> </a:t>
            </a:r>
            <a:r>
              <a:rPr sz="1100" b="1" dirty="0" err="1"/>
              <a:t>sich</a:t>
            </a:r>
            <a:r>
              <a:rPr sz="1100" b="1" dirty="0"/>
              <a:t> </a:t>
            </a:r>
            <a:r>
              <a:rPr sz="1100" b="1" dirty="0" err="1"/>
              <a:t>korrigieren</a:t>
            </a:r>
            <a:r>
              <a:rPr sz="1100" b="1" dirty="0"/>
              <a:t>, und es </a:t>
            </a:r>
            <a:r>
              <a:rPr sz="1100" b="1" dirty="0" err="1"/>
              <a:t>misst</a:t>
            </a:r>
            <a:r>
              <a:rPr sz="1100" b="1" dirty="0"/>
              <a:t> </a:t>
            </a:r>
            <a:r>
              <a:rPr sz="1100" b="1" dirty="0" err="1"/>
              <a:t>sich</a:t>
            </a:r>
            <a:r>
              <a:rPr sz="1100" b="1" dirty="0"/>
              <a:t> </a:t>
            </a:r>
            <a:r>
              <a:rPr sz="1100" b="1" dirty="0" err="1"/>
              <a:t>selbst</a:t>
            </a:r>
            <a:r>
              <a:rPr sz="1100" b="1" dirty="0"/>
              <a:t> </a:t>
            </a:r>
            <a:r>
              <a:rPr sz="1100" b="1" dirty="0" err="1"/>
              <a:t>nach</a:t>
            </a:r>
            <a:r>
              <a:rPr sz="1100" b="1" dirty="0"/>
              <a:t>.</a:t>
            </a:r>
          </a:p>
          <a:p>
            <a:endParaRPr sz="1100" b="1" dirty="0"/>
          </a:p>
          <a:p>
            <a:r>
              <a:rPr sz="1100" b="1" dirty="0"/>
              <a:t>WARUM DIESER TAG: Samstag 31.10.2026 · </a:t>
            </a:r>
            <a:r>
              <a:rPr sz="1100" b="1" dirty="0" err="1"/>
              <a:t>Anlass</a:t>
            </a:r>
            <a:r>
              <a:rPr sz="1100" b="1" dirty="0"/>
              <a:t> «Fest in </a:t>
            </a:r>
            <a:r>
              <a:rPr sz="1100" b="1" dirty="0" err="1"/>
              <a:t>Lienz</a:t>
            </a:r>
            <a:r>
              <a:rPr sz="1100" b="1" dirty="0"/>
              <a:t>» </a:t>
            </a:r>
            <a:r>
              <a:rPr sz="1100" b="1" dirty="0" err="1"/>
              <a:t>mit</a:t>
            </a:r>
            <a:r>
              <a:rPr sz="1100" b="1" dirty="0"/>
              <a:t> + 62 % </a:t>
            </a:r>
            <a:r>
              <a:rPr sz="1100" b="1" dirty="0" err="1"/>
              <a:t>Nachfrage</a:t>
            </a:r>
            <a:r>
              <a:rPr sz="1100" b="1" dirty="0"/>
              <a:t> · </a:t>
            </a:r>
            <a:r>
              <a:rPr sz="1100" b="1" dirty="0" err="1"/>
              <a:t>Gäste</a:t>
            </a:r>
            <a:r>
              <a:rPr sz="1100" b="1" dirty="0"/>
              <a:t> 392 </a:t>
            </a:r>
            <a:r>
              <a:rPr sz="1100" b="1" dirty="0" err="1"/>
              <a:t>prognostiziert</a:t>
            </a:r>
            <a:r>
              <a:rPr sz="1100" b="1" dirty="0"/>
              <a:t> / 378 </a:t>
            </a:r>
            <a:r>
              <a:rPr sz="1100" b="1" dirty="0" err="1"/>
              <a:t>tatsächlich</a:t>
            </a:r>
            <a:r>
              <a:rPr sz="1100" b="1" dirty="0"/>
              <a:t> (3.7 % </a:t>
            </a:r>
            <a:r>
              <a:rPr sz="1100" b="1" dirty="0" err="1"/>
              <a:t>daneben</a:t>
            </a:r>
            <a:r>
              <a:rPr sz="1100" b="1" dirty="0"/>
              <a:t>) · Schnitzel 97 / 91.</a:t>
            </a:r>
          </a:p>
          <a:p>
            <a:r>
              <a:rPr sz="1100" dirty="0"/>
              <a:t>[VORBEREITUNG </a:t>
            </a:r>
            <a:r>
              <a:rPr sz="1100" dirty="0" err="1"/>
              <a:t>vor</a:t>
            </a:r>
            <a:r>
              <a:rPr sz="1100" dirty="0"/>
              <a:t> dem Raum: </a:t>
            </a:r>
            <a:r>
              <a:rPr sz="1100" dirty="0" err="1"/>
              <a:t>smartgastro-demoforecast.netlify.app</a:t>
            </a:r>
            <a:r>
              <a:rPr sz="1100" dirty="0"/>
              <a:t> </a:t>
            </a:r>
            <a:r>
              <a:rPr sz="1100" dirty="0" err="1"/>
              <a:t>öffnen</a:t>
            </a:r>
            <a:r>
              <a:rPr sz="1100" dirty="0"/>
              <a:t>, </a:t>
            </a:r>
            <a:r>
              <a:rPr sz="1100" dirty="0" err="1"/>
              <a:t>Passwortschutz</a:t>
            </a:r>
            <a:r>
              <a:rPr sz="1100" dirty="0"/>
              <a:t> </a:t>
            </a:r>
            <a:r>
              <a:rPr sz="1100" dirty="0" err="1"/>
              <a:t>durchlaufen</a:t>
            </a:r>
            <a:r>
              <a:rPr sz="1100" dirty="0"/>
              <a:t>, </a:t>
            </a:r>
            <a:r>
              <a:rPr sz="1100" dirty="0" err="1"/>
              <a:t>als</a:t>
            </a:r>
            <a:r>
              <a:rPr sz="1100" dirty="0"/>
              <a:t> </a:t>
            </a:r>
            <a:r>
              <a:rPr sz="1100" dirty="0" err="1"/>
              <a:t>Küche</a:t>
            </a:r>
            <a:r>
              <a:rPr sz="1100" dirty="0"/>
              <a:t> </a:t>
            </a:r>
            <a:r>
              <a:rPr sz="1100" dirty="0" err="1"/>
              <a:t>anmelden</a:t>
            </a:r>
            <a:r>
              <a:rPr sz="1100" dirty="0"/>
              <a:t>, Datum 31.10.2026 </a:t>
            </a:r>
            <a:r>
              <a:rPr sz="1100" dirty="0" err="1"/>
              <a:t>einstellen</a:t>
            </a:r>
            <a:r>
              <a:rPr sz="1100" dirty="0"/>
              <a:t>, </a:t>
            </a:r>
            <a:r>
              <a:rPr sz="1100" dirty="0" err="1"/>
              <a:t>einmal</a:t>
            </a:r>
            <a:r>
              <a:rPr sz="1100" dirty="0"/>
              <a:t> </a:t>
            </a:r>
            <a:r>
              <a:rPr sz="1100" dirty="0" err="1"/>
              <a:t>durchscrollen</a:t>
            </a:r>
            <a:r>
              <a:rPr sz="1100" dirty="0"/>
              <a:t>. </a:t>
            </a:r>
            <a:r>
              <a:rPr sz="1100" dirty="0" err="1"/>
              <a:t>Vollbild</a:t>
            </a:r>
            <a:r>
              <a:rPr sz="1100" dirty="0"/>
              <a:t> (F11): </a:t>
            </a:r>
            <a:r>
              <a:rPr sz="1100" dirty="0" err="1"/>
              <a:t>keine</a:t>
            </a:r>
            <a:r>
              <a:rPr sz="1100" dirty="0"/>
              <a:t> </a:t>
            </a:r>
            <a:r>
              <a:rPr sz="1100" dirty="0" err="1"/>
              <a:t>Adresszeile</a:t>
            </a:r>
            <a:r>
              <a:rPr sz="1100" dirty="0"/>
              <a:t>, </a:t>
            </a:r>
            <a:r>
              <a:rPr sz="1100" dirty="0" err="1"/>
              <a:t>keine</a:t>
            </a:r>
            <a:r>
              <a:rPr sz="1100" dirty="0"/>
              <a:t> </a:t>
            </a:r>
            <a:r>
              <a:rPr sz="1100" dirty="0" err="1"/>
              <a:t>Lesezeichen</a:t>
            </a:r>
            <a:r>
              <a:rPr sz="1100" dirty="0"/>
              <a:t>, </a:t>
            </a:r>
            <a:r>
              <a:rPr sz="1100" dirty="0" err="1"/>
              <a:t>keine</a:t>
            </a:r>
            <a:r>
              <a:rPr sz="1100" dirty="0"/>
              <a:t> </a:t>
            </a:r>
            <a:r>
              <a:rPr sz="1100" dirty="0" err="1"/>
              <a:t>Taskleiste</a:t>
            </a:r>
            <a:r>
              <a:rPr sz="1100" dirty="0"/>
              <a:t>. </a:t>
            </a:r>
            <a:r>
              <a:rPr sz="1100" dirty="0" err="1"/>
              <a:t>Zweites</a:t>
            </a:r>
            <a:r>
              <a:rPr sz="1100" dirty="0"/>
              <a:t> Fenster </a:t>
            </a:r>
            <a:r>
              <a:rPr sz="1100" dirty="0" err="1"/>
              <a:t>mit</a:t>
            </a:r>
            <a:r>
              <a:rPr sz="1100" dirty="0"/>
              <a:t> Folie 12 </a:t>
            </a:r>
            <a:r>
              <a:rPr sz="1100" dirty="0" err="1"/>
              <a:t>bereit</a:t>
            </a:r>
            <a:r>
              <a:rPr sz="1100" dirty="0"/>
              <a:t>. </a:t>
            </a:r>
            <a:r>
              <a:rPr sz="1100" dirty="0" err="1"/>
              <a:t>Stoppuhr</a:t>
            </a:r>
            <a:r>
              <a:rPr sz="1100" dirty="0"/>
              <a:t> </a:t>
            </a:r>
            <a:r>
              <a:rPr sz="1100" dirty="0" err="1"/>
              <a:t>im</a:t>
            </a:r>
            <a:r>
              <a:rPr sz="1100" dirty="0"/>
              <a:t> Blick.]</a:t>
            </a:r>
          </a:p>
          <a:p>
            <a:r>
              <a:rPr sz="1100" dirty="0"/>
              <a:t>[</a:t>
            </a:r>
            <a:r>
              <a:rPr sz="1100" dirty="0" err="1"/>
              <a:t>Umschalten</a:t>
            </a:r>
            <a:r>
              <a:rPr sz="1100" dirty="0"/>
              <a:t>.]</a:t>
            </a:r>
          </a:p>
          <a:p>
            <a:r>
              <a:rPr sz="1100" dirty="0"/>
              <a:t>Ich </a:t>
            </a:r>
            <a:r>
              <a:rPr sz="1100" dirty="0" err="1"/>
              <a:t>zeige</a:t>
            </a:r>
            <a:r>
              <a:rPr sz="1100" dirty="0"/>
              <a:t> Ihnen das System an einem fiktiven Beispieltag. ||  Das </a:t>
            </a:r>
            <a:r>
              <a:rPr sz="1100" dirty="0" err="1"/>
              <a:t>ist</a:t>
            </a:r>
            <a:r>
              <a:rPr sz="1100" dirty="0"/>
              <a:t> das </a:t>
            </a:r>
            <a:r>
              <a:rPr sz="1100" dirty="0" err="1"/>
              <a:t>Testsystem</a:t>
            </a:r>
            <a:r>
              <a:rPr sz="1100" dirty="0"/>
              <a:t> </a:t>
            </a:r>
            <a:r>
              <a:rPr sz="1100" dirty="0" err="1"/>
              <a:t>mit</a:t>
            </a:r>
            <a:r>
              <a:rPr sz="1100" dirty="0"/>
              <a:t> </a:t>
            </a:r>
            <a:r>
              <a:rPr sz="1100" dirty="0" err="1"/>
              <a:t>hinterlegten</a:t>
            </a:r>
            <a:r>
              <a:rPr sz="1100" dirty="0"/>
              <a:t> </a:t>
            </a:r>
            <a:r>
              <a:rPr sz="1100" dirty="0" err="1"/>
              <a:t>Beispieldaten</a:t>
            </a:r>
            <a:r>
              <a:rPr sz="1100" dirty="0"/>
              <a:t> – die auf den echten Verkaufsdaten rückgerechneten Werte kommen </a:t>
            </a:r>
            <a:r>
              <a:rPr sz="1100" dirty="0" err="1"/>
              <a:t>gleich</a:t>
            </a:r>
            <a:r>
              <a:rPr sz="1100" dirty="0"/>
              <a:t> auf der </a:t>
            </a:r>
            <a:r>
              <a:rPr sz="1100" dirty="0" err="1"/>
              <a:t>nächsten</a:t>
            </a:r>
            <a:r>
              <a:rPr sz="1100" dirty="0"/>
              <a:t> Folie. |||</a:t>
            </a:r>
          </a:p>
          <a:p>
            <a:r>
              <a:rPr sz="1100" b="1" dirty="0"/>
              <a:t>1 · AUFBAU UND ROLLEN  —  ca. 50 </a:t>
            </a:r>
            <a:r>
              <a:rPr sz="1100" b="1" dirty="0" err="1"/>
              <a:t>Sekunden</a:t>
            </a:r>
            <a:endParaRPr sz="1100" b="1" dirty="0"/>
          </a:p>
          <a:p>
            <a:r>
              <a:rPr sz="1100" dirty="0" err="1"/>
              <a:t>Angemeldet</a:t>
            </a:r>
            <a:r>
              <a:rPr sz="1100" dirty="0"/>
              <a:t> bin ich </a:t>
            </a:r>
            <a:r>
              <a:rPr sz="1100" dirty="0" err="1"/>
              <a:t>als</a:t>
            </a:r>
            <a:r>
              <a:rPr sz="1100" dirty="0"/>
              <a:t> </a:t>
            </a:r>
            <a:r>
              <a:rPr sz="1100" dirty="0" err="1"/>
              <a:t>Küche</a:t>
            </a:r>
            <a:r>
              <a:rPr sz="1100" dirty="0"/>
              <a:t>. ||  </a:t>
            </a:r>
            <a:r>
              <a:rPr sz="1100" dirty="0" err="1"/>
              <a:t>Diese</a:t>
            </a:r>
            <a:r>
              <a:rPr sz="1100" dirty="0"/>
              <a:t> Rolle </a:t>
            </a:r>
            <a:r>
              <a:rPr sz="1100" dirty="0" err="1"/>
              <a:t>sieht</a:t>
            </a:r>
            <a:r>
              <a:rPr sz="1100" dirty="0"/>
              <a:t> </a:t>
            </a:r>
            <a:r>
              <a:rPr sz="1100" dirty="0" err="1"/>
              <a:t>Speisen</a:t>
            </a:r>
            <a:r>
              <a:rPr sz="1100" dirty="0"/>
              <a:t> und </a:t>
            </a:r>
            <a:r>
              <a:rPr sz="1100" dirty="0" err="1"/>
              <a:t>Salate</a:t>
            </a:r>
            <a:r>
              <a:rPr sz="1100" dirty="0"/>
              <a:t> – </a:t>
            </a:r>
            <a:r>
              <a:rPr sz="1100" dirty="0" err="1"/>
              <a:t>keine</a:t>
            </a:r>
            <a:r>
              <a:rPr sz="1100" dirty="0"/>
              <a:t> </a:t>
            </a:r>
            <a:r>
              <a:rPr sz="1100" dirty="0" err="1"/>
              <a:t>Umsätze</a:t>
            </a:r>
            <a:r>
              <a:rPr sz="1100" dirty="0"/>
              <a:t>. |||</a:t>
            </a:r>
          </a:p>
          <a:p>
            <a:r>
              <a:rPr sz="1100" dirty="0"/>
              <a:t>Das </a:t>
            </a:r>
            <a:r>
              <a:rPr sz="1100" dirty="0" err="1"/>
              <a:t>ist</a:t>
            </a:r>
            <a:r>
              <a:rPr sz="1100" dirty="0"/>
              <a:t> die Mise-</a:t>
            </a:r>
            <a:r>
              <a:rPr sz="1100" dirty="0" err="1"/>
              <a:t>en</a:t>
            </a:r>
            <a:r>
              <a:rPr sz="1100" dirty="0"/>
              <a:t>-Place-</a:t>
            </a:r>
            <a:r>
              <a:rPr sz="1100" dirty="0" err="1"/>
              <a:t>Liste</a:t>
            </a:r>
            <a:r>
              <a:rPr sz="1100" dirty="0"/>
              <a:t>: pro Artikel die Prognose, </a:t>
            </a:r>
            <a:r>
              <a:rPr sz="1100" dirty="0" err="1"/>
              <a:t>daneben</a:t>
            </a:r>
            <a:r>
              <a:rPr sz="1100" dirty="0"/>
              <a:t> das Feld für den </a:t>
            </a:r>
            <a:r>
              <a:rPr sz="1100" dirty="0" err="1"/>
              <a:t>Ist</a:t>
            </a:r>
            <a:r>
              <a:rPr sz="1100" dirty="0"/>
              <a:t>-Wert, das Delta und die </a:t>
            </a:r>
            <a:r>
              <a:rPr sz="1100" dirty="0" err="1"/>
              <a:t>Genauigkeit</a:t>
            </a:r>
            <a:r>
              <a:rPr sz="1100" dirty="0"/>
              <a:t>. ||  </a:t>
            </a:r>
            <a:r>
              <a:rPr sz="1100" dirty="0" err="1"/>
              <a:t>Genau</a:t>
            </a:r>
            <a:r>
              <a:rPr sz="1100" dirty="0"/>
              <a:t> </a:t>
            </a:r>
            <a:r>
              <a:rPr sz="1100" dirty="0" err="1"/>
              <a:t>diese</a:t>
            </a:r>
            <a:r>
              <a:rPr sz="1100" dirty="0"/>
              <a:t> Zeile </a:t>
            </a:r>
            <a:r>
              <a:rPr sz="1100" dirty="0" err="1"/>
              <a:t>ist</a:t>
            </a:r>
            <a:r>
              <a:rPr sz="1100" dirty="0"/>
              <a:t> Fotios’ </a:t>
            </a:r>
            <a:r>
              <a:rPr sz="1100" dirty="0" err="1"/>
              <a:t>Antwort</a:t>
            </a:r>
            <a:r>
              <a:rPr sz="1100" dirty="0"/>
              <a:t> auf seine Frage: Wie </a:t>
            </a:r>
            <a:r>
              <a:rPr sz="1100" dirty="0" err="1"/>
              <a:t>viel</a:t>
            </a:r>
            <a:r>
              <a:rPr sz="1100" dirty="0"/>
              <a:t> muss ich </a:t>
            </a:r>
            <a:r>
              <a:rPr sz="1100" dirty="0" err="1"/>
              <a:t>heute</a:t>
            </a:r>
            <a:r>
              <a:rPr sz="1100" dirty="0"/>
              <a:t> </a:t>
            </a:r>
            <a:r>
              <a:rPr sz="1100" dirty="0" err="1"/>
              <a:t>vorbereiten</a:t>
            </a:r>
            <a:r>
              <a:rPr sz="1100" dirty="0"/>
              <a:t>? |||</a:t>
            </a:r>
          </a:p>
          <a:p>
            <a:r>
              <a:rPr sz="1100" dirty="0"/>
              <a:t>[</a:t>
            </a:r>
            <a:r>
              <a:rPr sz="1100" dirty="0" err="1"/>
              <a:t>Abmelden</a:t>
            </a:r>
            <a:r>
              <a:rPr sz="1100" dirty="0"/>
              <a:t>, </a:t>
            </a:r>
            <a:r>
              <a:rPr sz="1100" dirty="0" err="1"/>
              <a:t>als</a:t>
            </a:r>
            <a:r>
              <a:rPr sz="1100" dirty="0"/>
              <a:t> Service </a:t>
            </a:r>
            <a:r>
              <a:rPr sz="1100" dirty="0" err="1"/>
              <a:t>anmelden</a:t>
            </a:r>
            <a:r>
              <a:rPr sz="1100" dirty="0"/>
              <a:t>.]</a:t>
            </a:r>
          </a:p>
          <a:p>
            <a:r>
              <a:rPr sz="1100" dirty="0"/>
              <a:t>Und das </a:t>
            </a:r>
            <a:r>
              <a:rPr sz="1100" dirty="0" err="1"/>
              <a:t>ist</a:t>
            </a:r>
            <a:r>
              <a:rPr sz="1100" dirty="0"/>
              <a:t> </a:t>
            </a:r>
            <a:r>
              <a:rPr sz="1100" dirty="0" err="1"/>
              <a:t>dieselbe</a:t>
            </a:r>
            <a:r>
              <a:rPr sz="1100" dirty="0"/>
              <a:t> </a:t>
            </a:r>
            <a:r>
              <a:rPr sz="1100" dirty="0" err="1"/>
              <a:t>Ansicht</a:t>
            </a:r>
            <a:r>
              <a:rPr sz="1100" dirty="0"/>
              <a:t> </a:t>
            </a:r>
            <a:r>
              <a:rPr sz="1100" dirty="0" err="1"/>
              <a:t>als</a:t>
            </a:r>
            <a:r>
              <a:rPr sz="1100" dirty="0"/>
              <a:t> Service: </a:t>
            </a:r>
            <a:r>
              <a:rPr sz="1100" dirty="0" err="1"/>
              <a:t>Getränke</a:t>
            </a:r>
            <a:r>
              <a:rPr sz="1100" dirty="0"/>
              <a:t> und Desserts, </a:t>
            </a:r>
            <a:r>
              <a:rPr sz="1100" dirty="0" err="1"/>
              <a:t>keine</a:t>
            </a:r>
            <a:r>
              <a:rPr sz="1100" dirty="0"/>
              <a:t> </a:t>
            </a:r>
            <a:r>
              <a:rPr sz="1100" dirty="0" err="1"/>
              <a:t>Umsätze</a:t>
            </a:r>
            <a:r>
              <a:rPr sz="1100" dirty="0"/>
              <a:t>, </a:t>
            </a:r>
            <a:r>
              <a:rPr sz="1100" dirty="0" err="1"/>
              <a:t>keine</a:t>
            </a:r>
            <a:r>
              <a:rPr sz="1100" dirty="0"/>
              <a:t> </a:t>
            </a:r>
            <a:r>
              <a:rPr sz="1100" dirty="0" err="1"/>
              <a:t>Prognoserechte</a:t>
            </a:r>
            <a:r>
              <a:rPr sz="1100" dirty="0"/>
              <a:t>. ||  Das </a:t>
            </a:r>
            <a:r>
              <a:rPr sz="1100" dirty="0" err="1"/>
              <a:t>ist</a:t>
            </a:r>
            <a:r>
              <a:rPr sz="1100" dirty="0"/>
              <a:t> das </a:t>
            </a:r>
            <a:r>
              <a:rPr sz="1100" dirty="0" err="1"/>
              <a:t>Rollenmodell</a:t>
            </a:r>
            <a:r>
              <a:rPr sz="1100" dirty="0"/>
              <a:t>, nicht </a:t>
            </a:r>
            <a:r>
              <a:rPr sz="1100" dirty="0" err="1"/>
              <a:t>nur</a:t>
            </a:r>
            <a:r>
              <a:rPr sz="1100" dirty="0"/>
              <a:t> </a:t>
            </a:r>
            <a:r>
              <a:rPr sz="1100" dirty="0" err="1"/>
              <a:t>eine</a:t>
            </a:r>
            <a:r>
              <a:rPr sz="1100" dirty="0"/>
              <a:t> </a:t>
            </a:r>
            <a:r>
              <a:rPr sz="1100" dirty="0" err="1"/>
              <a:t>Beschriftung</a:t>
            </a:r>
            <a:r>
              <a:rPr sz="1100" dirty="0"/>
              <a:t>. |||</a:t>
            </a:r>
          </a:p>
          <a:p>
            <a:r>
              <a:rPr sz="1100" dirty="0"/>
              <a:t>[</a:t>
            </a:r>
            <a:r>
              <a:rPr sz="1100" dirty="0" err="1"/>
              <a:t>Zurück</a:t>
            </a:r>
            <a:r>
              <a:rPr sz="1100" dirty="0"/>
              <a:t> auf </a:t>
            </a:r>
            <a:r>
              <a:rPr sz="1100" dirty="0" err="1"/>
              <a:t>Küche</a:t>
            </a:r>
            <a:r>
              <a:rPr sz="1100" dirty="0"/>
              <a:t>. </a:t>
            </a:r>
            <a:r>
              <a:rPr sz="1100" dirty="0" err="1"/>
              <a:t>Über</a:t>
            </a:r>
            <a:r>
              <a:rPr sz="1100" dirty="0"/>
              <a:t> den Kalender auf Samstag, 31. Oktober.]</a:t>
            </a:r>
          </a:p>
          <a:p>
            <a:r>
              <a:rPr sz="1100" b="1" dirty="0"/>
              <a:t>2 · WIRKUNG EINES ANLASSES  —  ca. 60 </a:t>
            </a:r>
            <a:r>
              <a:rPr sz="1100" b="1" dirty="0" err="1"/>
              <a:t>Sekunden</a:t>
            </a:r>
            <a:endParaRPr sz="1100" b="1" dirty="0"/>
          </a:p>
          <a:p>
            <a:r>
              <a:rPr sz="1100" dirty="0"/>
              <a:t>[Nach </a:t>
            </a:r>
            <a:r>
              <a:rPr sz="1100" dirty="0" err="1"/>
              <a:t>unten</a:t>
            </a:r>
            <a:r>
              <a:rPr sz="1100" dirty="0"/>
              <a:t> </a:t>
            </a:r>
            <a:r>
              <a:rPr sz="1100" dirty="0" err="1"/>
              <a:t>scrollen</a:t>
            </a:r>
            <a:r>
              <a:rPr sz="1100" dirty="0"/>
              <a:t> </a:t>
            </a:r>
            <a:r>
              <a:rPr sz="1100" dirty="0" err="1"/>
              <a:t>zu</a:t>
            </a:r>
            <a:r>
              <a:rPr sz="1100" dirty="0"/>
              <a:t> «</a:t>
            </a:r>
            <a:r>
              <a:rPr sz="1100" dirty="0" err="1"/>
              <a:t>Anlässe</a:t>
            </a:r>
            <a:r>
              <a:rPr sz="1100" dirty="0"/>
              <a:t> in der Region».]</a:t>
            </a:r>
          </a:p>
          <a:p>
            <a:r>
              <a:rPr sz="1100" dirty="0"/>
              <a:t>Hier </a:t>
            </a:r>
            <a:r>
              <a:rPr sz="1100" dirty="0" err="1"/>
              <a:t>stehen</a:t>
            </a:r>
            <a:r>
              <a:rPr sz="1100" dirty="0"/>
              <a:t> die </a:t>
            </a:r>
            <a:r>
              <a:rPr sz="1100" dirty="0" err="1"/>
              <a:t>Anlässe</a:t>
            </a:r>
            <a:r>
              <a:rPr sz="1100" dirty="0"/>
              <a:t> in der Region – </a:t>
            </a:r>
            <a:r>
              <a:rPr sz="1100" dirty="0" err="1"/>
              <a:t>gefunden</a:t>
            </a:r>
            <a:r>
              <a:rPr sz="1100" dirty="0"/>
              <a:t> von </a:t>
            </a:r>
            <a:r>
              <a:rPr sz="1100" dirty="0" err="1"/>
              <a:t>einer</a:t>
            </a:r>
            <a:r>
              <a:rPr sz="1100" dirty="0"/>
              <a:t> KI, </a:t>
            </a:r>
            <a:r>
              <a:rPr sz="1100" dirty="0" err="1"/>
              <a:t>im</a:t>
            </a:r>
            <a:r>
              <a:rPr sz="1100" dirty="0"/>
              <a:t> </a:t>
            </a:r>
            <a:r>
              <a:rPr sz="1100" dirty="0" err="1"/>
              <a:t>Umkreis</a:t>
            </a:r>
            <a:r>
              <a:rPr sz="1100" dirty="0"/>
              <a:t> von 30 </a:t>
            </a:r>
            <a:r>
              <a:rPr sz="1100" dirty="0" err="1"/>
              <a:t>Kilometern</a:t>
            </a:r>
            <a:r>
              <a:rPr sz="1100" dirty="0"/>
              <a:t>, und </a:t>
            </a:r>
            <a:r>
              <a:rPr sz="1100" dirty="0" err="1"/>
              <a:t>jeder</a:t>
            </a:r>
            <a:r>
              <a:rPr sz="1100" dirty="0"/>
              <a:t> </a:t>
            </a:r>
            <a:r>
              <a:rPr sz="1100" dirty="0" err="1"/>
              <a:t>einzeln</a:t>
            </a:r>
            <a:r>
              <a:rPr sz="1100" dirty="0"/>
              <a:t> von Hand </a:t>
            </a:r>
            <a:r>
              <a:rPr sz="1100" dirty="0" err="1"/>
              <a:t>freigegeben</a:t>
            </a:r>
            <a:r>
              <a:rPr sz="1100" dirty="0"/>
              <a:t>. ||  Die KI </a:t>
            </a:r>
            <a:r>
              <a:rPr sz="1100" dirty="0" err="1"/>
              <a:t>schlägt</a:t>
            </a:r>
            <a:r>
              <a:rPr sz="1100" dirty="0"/>
              <a:t> </a:t>
            </a:r>
            <a:r>
              <a:rPr sz="1100" dirty="0" err="1"/>
              <a:t>vor</a:t>
            </a:r>
            <a:r>
              <a:rPr sz="1100" dirty="0"/>
              <a:t>, der Mensch </a:t>
            </a:r>
            <a:r>
              <a:rPr sz="1100" dirty="0" err="1"/>
              <a:t>entscheidet</a:t>
            </a:r>
            <a:r>
              <a:rPr sz="1100" dirty="0"/>
              <a:t>. |||</a:t>
            </a:r>
          </a:p>
          <a:p>
            <a:r>
              <a:rPr sz="1100" dirty="0"/>
              <a:t>An </a:t>
            </a:r>
            <a:r>
              <a:rPr sz="1100" dirty="0" err="1"/>
              <a:t>diesem</a:t>
            </a:r>
            <a:r>
              <a:rPr sz="1100" dirty="0"/>
              <a:t> Samstag: das «Fest in </a:t>
            </a:r>
            <a:r>
              <a:rPr sz="1100" dirty="0" err="1"/>
              <a:t>Lienz</a:t>
            </a:r>
            <a:r>
              <a:rPr sz="1100" dirty="0"/>
              <a:t>». ||  Die </a:t>
            </a:r>
            <a:r>
              <a:rPr sz="1100" dirty="0" err="1"/>
              <a:t>Wirkung</a:t>
            </a:r>
            <a:r>
              <a:rPr sz="1100" dirty="0"/>
              <a:t> </a:t>
            </a:r>
            <a:r>
              <a:rPr sz="1100" dirty="0" err="1"/>
              <a:t>steht</a:t>
            </a:r>
            <a:r>
              <a:rPr sz="1100" dirty="0"/>
              <a:t> </a:t>
            </a:r>
            <a:r>
              <a:rPr sz="1100" dirty="0" err="1"/>
              <a:t>daneben</a:t>
            </a:r>
            <a:r>
              <a:rPr sz="1100" dirty="0"/>
              <a:t>: plus 62 </a:t>
            </a:r>
            <a:r>
              <a:rPr sz="1100" dirty="0" err="1"/>
              <a:t>Prozent</a:t>
            </a:r>
            <a:r>
              <a:rPr sz="1100" dirty="0"/>
              <a:t> </a:t>
            </a:r>
            <a:r>
              <a:rPr sz="1100" dirty="0" err="1"/>
              <a:t>Nachfrage</a:t>
            </a:r>
            <a:r>
              <a:rPr sz="1100" dirty="0"/>
              <a:t>. ||  Das </a:t>
            </a:r>
            <a:r>
              <a:rPr sz="1100" dirty="0" err="1"/>
              <a:t>ist</a:t>
            </a:r>
            <a:r>
              <a:rPr sz="1100" dirty="0"/>
              <a:t> </a:t>
            </a:r>
            <a:r>
              <a:rPr sz="1100" dirty="0" err="1"/>
              <a:t>kein</a:t>
            </a:r>
            <a:r>
              <a:rPr sz="1100" dirty="0"/>
              <a:t> Zuschlag von Hand – das </a:t>
            </a:r>
            <a:r>
              <a:rPr sz="1100" dirty="0" err="1"/>
              <a:t>rechnet</a:t>
            </a:r>
            <a:r>
              <a:rPr sz="1100" dirty="0"/>
              <a:t> das Modell in </a:t>
            </a:r>
            <a:r>
              <a:rPr sz="1100" dirty="0" err="1"/>
              <a:t>jede</a:t>
            </a:r>
            <a:r>
              <a:rPr sz="1100" dirty="0"/>
              <a:t> </a:t>
            </a:r>
            <a:r>
              <a:rPr sz="1100" dirty="0" err="1"/>
              <a:t>einzelne</a:t>
            </a:r>
            <a:r>
              <a:rPr sz="1100" dirty="0"/>
              <a:t> Menge </a:t>
            </a:r>
            <a:r>
              <a:rPr sz="1100" dirty="0" err="1"/>
              <a:t>ein</a:t>
            </a:r>
            <a:r>
              <a:rPr sz="1100" dirty="0"/>
              <a:t>. |||</a:t>
            </a:r>
          </a:p>
          <a:p>
            <a:r>
              <a:rPr sz="1100" dirty="0"/>
              <a:t>[Auf «Tag </a:t>
            </a:r>
            <a:r>
              <a:rPr sz="1100" dirty="0" err="1"/>
              <a:t>öffnen</a:t>
            </a:r>
            <a:r>
              <a:rPr sz="1100" dirty="0"/>
              <a:t>» </a:t>
            </a:r>
            <a:r>
              <a:rPr sz="1100" dirty="0" err="1"/>
              <a:t>klicken</a:t>
            </a:r>
            <a:r>
              <a:rPr sz="1100" dirty="0"/>
              <a:t>, </a:t>
            </a:r>
            <a:r>
              <a:rPr sz="1100" dirty="0" err="1"/>
              <a:t>dann</a:t>
            </a:r>
            <a:r>
              <a:rPr sz="1100" dirty="0"/>
              <a:t> </a:t>
            </a:r>
            <a:r>
              <a:rPr sz="1100" dirty="0" err="1"/>
              <a:t>einen</a:t>
            </a:r>
            <a:r>
              <a:rPr sz="1100" dirty="0"/>
              <a:t> Tag </a:t>
            </a:r>
            <a:r>
              <a:rPr sz="1100" dirty="0" err="1"/>
              <a:t>ohne</a:t>
            </a:r>
            <a:r>
              <a:rPr sz="1100" dirty="0"/>
              <a:t> </a:t>
            </a:r>
            <a:r>
              <a:rPr sz="1100" dirty="0" err="1"/>
              <a:t>Anlass</a:t>
            </a:r>
            <a:r>
              <a:rPr sz="1100" dirty="0"/>
              <a:t> </a:t>
            </a:r>
            <a:r>
              <a:rPr sz="1100" dirty="0" err="1"/>
              <a:t>zum</a:t>
            </a:r>
            <a:r>
              <a:rPr sz="1100" dirty="0"/>
              <a:t> </a:t>
            </a:r>
            <a:r>
              <a:rPr sz="1100" dirty="0" err="1"/>
              <a:t>Vergleich</a:t>
            </a:r>
            <a:r>
              <a:rPr sz="1100" dirty="0"/>
              <a:t> </a:t>
            </a:r>
            <a:r>
              <a:rPr sz="1100" dirty="0" err="1"/>
              <a:t>zeigen</a:t>
            </a:r>
            <a:r>
              <a:rPr sz="1100" dirty="0"/>
              <a:t>.]</a:t>
            </a:r>
          </a:p>
          <a:p>
            <a:r>
              <a:rPr sz="1100" dirty="0"/>
              <a:t>Zum </a:t>
            </a:r>
            <a:r>
              <a:rPr sz="1100" dirty="0" err="1"/>
              <a:t>Vergleich</a:t>
            </a:r>
            <a:r>
              <a:rPr sz="1100" dirty="0"/>
              <a:t> </a:t>
            </a:r>
            <a:r>
              <a:rPr sz="1100" dirty="0" err="1"/>
              <a:t>ein</a:t>
            </a:r>
            <a:r>
              <a:rPr sz="1100" dirty="0"/>
              <a:t> Tag </a:t>
            </a:r>
            <a:r>
              <a:rPr sz="1100" dirty="0" err="1"/>
              <a:t>ohne</a:t>
            </a:r>
            <a:r>
              <a:rPr sz="1100" dirty="0"/>
              <a:t> </a:t>
            </a:r>
            <a:r>
              <a:rPr sz="1100" dirty="0" err="1"/>
              <a:t>Anlass</a:t>
            </a:r>
            <a:r>
              <a:rPr sz="1100" dirty="0"/>
              <a:t> – </a:t>
            </a:r>
            <a:r>
              <a:rPr sz="1100" dirty="0" err="1"/>
              <a:t>dieselben</a:t>
            </a:r>
            <a:r>
              <a:rPr sz="1100" dirty="0"/>
              <a:t> Artikel, </a:t>
            </a:r>
            <a:r>
              <a:rPr sz="1100" dirty="0" err="1"/>
              <a:t>deutlich</a:t>
            </a:r>
            <a:r>
              <a:rPr sz="1100" dirty="0"/>
              <a:t> </a:t>
            </a:r>
            <a:r>
              <a:rPr sz="1100" dirty="0" err="1"/>
              <a:t>kleinere</a:t>
            </a:r>
            <a:r>
              <a:rPr sz="1100" dirty="0"/>
              <a:t> Mengen. ||  Das </a:t>
            </a:r>
            <a:r>
              <a:rPr sz="1100" dirty="0" err="1"/>
              <a:t>ist</a:t>
            </a:r>
            <a:r>
              <a:rPr sz="1100" dirty="0"/>
              <a:t> der </a:t>
            </a:r>
            <a:r>
              <a:rPr sz="1100" dirty="0" err="1"/>
              <a:t>Unterschied</a:t>
            </a:r>
            <a:r>
              <a:rPr sz="1100" dirty="0"/>
              <a:t> </a:t>
            </a:r>
            <a:r>
              <a:rPr sz="1100" dirty="0" err="1"/>
              <a:t>zwischen</a:t>
            </a:r>
            <a:r>
              <a:rPr sz="1100" dirty="0"/>
              <a:t> </a:t>
            </a:r>
            <a:r>
              <a:rPr sz="1100" dirty="0" err="1"/>
              <a:t>Bauchgefühl</a:t>
            </a:r>
            <a:r>
              <a:rPr sz="1100" dirty="0"/>
              <a:t> und </a:t>
            </a:r>
            <a:r>
              <a:rPr sz="1100" dirty="0" err="1"/>
              <a:t>Datengrundlage</a:t>
            </a:r>
            <a:r>
              <a:rPr sz="1100" dirty="0"/>
              <a:t>.</a:t>
            </a:r>
          </a:p>
          <a:p>
            <a:r>
              <a:rPr sz="1100" b="1" dirty="0"/>
              <a:t>3 · WARUM DIESE ZAHL  —  ca. 40 </a:t>
            </a:r>
            <a:r>
              <a:rPr sz="1100" b="1" dirty="0" err="1"/>
              <a:t>Sekunden</a:t>
            </a:r>
            <a:endParaRPr sz="1100" b="1" dirty="0"/>
          </a:p>
          <a:p>
            <a:r>
              <a:rPr sz="1100" dirty="0"/>
              <a:t>[Auf das «</a:t>
            </a:r>
            <a:r>
              <a:rPr sz="1100" dirty="0" err="1"/>
              <a:t>i</a:t>
            </a:r>
            <a:r>
              <a:rPr sz="1100" dirty="0"/>
              <a:t>» </a:t>
            </a:r>
            <a:r>
              <a:rPr sz="1100" dirty="0" err="1"/>
              <a:t>bei</a:t>
            </a:r>
            <a:r>
              <a:rPr sz="1100" dirty="0"/>
              <a:t> </a:t>
            </a:r>
            <a:r>
              <a:rPr sz="1100" dirty="0" err="1"/>
              <a:t>einem</a:t>
            </a:r>
            <a:r>
              <a:rPr sz="1100" dirty="0"/>
              <a:t> Artikel </a:t>
            </a:r>
            <a:r>
              <a:rPr sz="1100" dirty="0" err="1"/>
              <a:t>klicken</a:t>
            </a:r>
            <a:r>
              <a:rPr sz="1100" dirty="0"/>
              <a:t>.]</a:t>
            </a:r>
          </a:p>
          <a:p>
            <a:r>
              <a:rPr sz="1100" dirty="0"/>
              <a:t>Und </a:t>
            </a:r>
            <a:r>
              <a:rPr sz="1100" dirty="0" err="1"/>
              <a:t>hier</a:t>
            </a:r>
            <a:r>
              <a:rPr sz="1100" dirty="0"/>
              <a:t> </a:t>
            </a:r>
            <a:r>
              <a:rPr sz="1100" dirty="0" err="1"/>
              <a:t>sehen</a:t>
            </a:r>
            <a:r>
              <a:rPr sz="1100" dirty="0"/>
              <a:t> Sie, </a:t>
            </a:r>
            <a:r>
              <a:rPr sz="1100" dirty="0" err="1"/>
              <a:t>warum</a:t>
            </a:r>
            <a:r>
              <a:rPr sz="1100" dirty="0"/>
              <a:t> die Zahl so </a:t>
            </a:r>
            <a:r>
              <a:rPr sz="1100" dirty="0" err="1"/>
              <a:t>hoch</a:t>
            </a:r>
            <a:r>
              <a:rPr sz="1100" dirty="0"/>
              <a:t> </a:t>
            </a:r>
            <a:r>
              <a:rPr sz="1100" dirty="0" err="1"/>
              <a:t>ist</a:t>
            </a:r>
            <a:r>
              <a:rPr sz="1100" dirty="0"/>
              <a:t>: Wetter, </a:t>
            </a:r>
            <a:r>
              <a:rPr sz="1100" dirty="0" err="1"/>
              <a:t>Wochentag</a:t>
            </a:r>
            <a:r>
              <a:rPr sz="1100" dirty="0"/>
              <a:t> und der </a:t>
            </a:r>
            <a:r>
              <a:rPr sz="1100" dirty="0" err="1"/>
              <a:t>Anlass</a:t>
            </a:r>
            <a:r>
              <a:rPr sz="1100" dirty="0"/>
              <a:t>, </a:t>
            </a:r>
            <a:r>
              <a:rPr sz="1100" dirty="0" err="1"/>
              <a:t>einzeln</a:t>
            </a:r>
            <a:r>
              <a:rPr sz="1100" dirty="0"/>
              <a:t> </a:t>
            </a:r>
            <a:r>
              <a:rPr sz="1100" dirty="0" err="1"/>
              <a:t>ausgewiesen</a:t>
            </a:r>
            <a:r>
              <a:rPr sz="1100" dirty="0"/>
              <a:t>. |||</a:t>
            </a:r>
          </a:p>
          <a:p>
            <a:r>
              <a:rPr sz="1100" dirty="0"/>
              <a:t>Das </a:t>
            </a:r>
            <a:r>
              <a:rPr sz="1100" dirty="0" err="1"/>
              <a:t>ist</a:t>
            </a:r>
            <a:r>
              <a:rPr sz="1100" dirty="0"/>
              <a:t> die Explainability. ||  Eine Zahl </a:t>
            </a:r>
            <a:r>
              <a:rPr sz="1100" dirty="0" err="1"/>
              <a:t>allein</a:t>
            </a:r>
            <a:r>
              <a:rPr sz="1100" dirty="0"/>
              <a:t> </a:t>
            </a:r>
            <a:r>
              <a:rPr sz="1100" dirty="0" err="1"/>
              <a:t>schafft</a:t>
            </a:r>
            <a:r>
              <a:rPr sz="1100" dirty="0"/>
              <a:t> </a:t>
            </a:r>
            <a:r>
              <a:rPr sz="1100" dirty="0" err="1"/>
              <a:t>kein</a:t>
            </a:r>
            <a:r>
              <a:rPr sz="1100" dirty="0"/>
              <a:t> </a:t>
            </a:r>
            <a:r>
              <a:rPr sz="1100" dirty="0" err="1"/>
              <a:t>Vertrauen</a:t>
            </a:r>
            <a:r>
              <a:rPr sz="1100" dirty="0"/>
              <a:t> – </a:t>
            </a:r>
            <a:r>
              <a:rPr sz="1100" dirty="0" err="1"/>
              <a:t>eine</a:t>
            </a:r>
            <a:r>
              <a:rPr sz="1100" dirty="0"/>
              <a:t> </a:t>
            </a:r>
            <a:r>
              <a:rPr sz="1100" dirty="0" err="1"/>
              <a:t>begründete</a:t>
            </a:r>
            <a:r>
              <a:rPr sz="1100" dirty="0"/>
              <a:t> Zahl </a:t>
            </a:r>
            <a:r>
              <a:rPr sz="1100" dirty="0" err="1"/>
              <a:t>schon</a:t>
            </a:r>
            <a:r>
              <a:rPr sz="1100" dirty="0"/>
              <a:t>. ||  Und </a:t>
            </a:r>
            <a:r>
              <a:rPr sz="1100" dirty="0" err="1"/>
              <a:t>daneben</a:t>
            </a:r>
            <a:r>
              <a:rPr sz="1100" dirty="0"/>
              <a:t> </a:t>
            </a:r>
            <a:r>
              <a:rPr sz="1100" dirty="0" err="1"/>
              <a:t>kann</a:t>
            </a:r>
            <a:r>
              <a:rPr sz="1100" dirty="0"/>
              <a:t> Fotios </a:t>
            </a:r>
            <a:r>
              <a:rPr sz="1100" dirty="0" err="1"/>
              <a:t>sie</a:t>
            </a:r>
            <a:r>
              <a:rPr sz="1100" dirty="0"/>
              <a:t> </a:t>
            </a:r>
            <a:r>
              <a:rPr sz="1100" dirty="0" err="1"/>
              <a:t>überschreiben</a:t>
            </a:r>
            <a:r>
              <a:rPr sz="1100" dirty="0"/>
              <a:t>. ||  Copilot, nicht Autopilot.</a:t>
            </a:r>
          </a:p>
          <a:p>
            <a:r>
              <a:rPr sz="1100" b="1" dirty="0"/>
              <a:t>4 · FORECAST GEGEN IST  —  ca. 60 </a:t>
            </a:r>
            <a:r>
              <a:rPr sz="1100" b="1" dirty="0" err="1"/>
              <a:t>Sekunden</a:t>
            </a:r>
            <a:endParaRPr sz="1100" b="1" dirty="0"/>
          </a:p>
          <a:p>
            <a:r>
              <a:rPr sz="1100" dirty="0"/>
              <a:t>[In </a:t>
            </a:r>
            <a:r>
              <a:rPr sz="1100" dirty="0" err="1"/>
              <a:t>ein</a:t>
            </a:r>
            <a:r>
              <a:rPr sz="1100" dirty="0"/>
              <a:t> </a:t>
            </a:r>
            <a:r>
              <a:rPr sz="1100" dirty="0" err="1"/>
              <a:t>Ist</a:t>
            </a:r>
            <a:r>
              <a:rPr sz="1100" dirty="0"/>
              <a:t>-Feld </a:t>
            </a:r>
            <a:r>
              <a:rPr sz="1100" dirty="0" err="1"/>
              <a:t>klicken</a:t>
            </a:r>
            <a:r>
              <a:rPr sz="1100" dirty="0"/>
              <a:t> und </a:t>
            </a:r>
            <a:r>
              <a:rPr sz="1100" dirty="0" err="1"/>
              <a:t>einen</a:t>
            </a:r>
            <a:r>
              <a:rPr sz="1100" dirty="0"/>
              <a:t> Wert </a:t>
            </a:r>
            <a:r>
              <a:rPr sz="1100" dirty="0" err="1"/>
              <a:t>eintippen</a:t>
            </a:r>
            <a:r>
              <a:rPr sz="1100" dirty="0"/>
              <a:t>.]</a:t>
            </a:r>
          </a:p>
          <a:p>
            <a:r>
              <a:rPr sz="1100" dirty="0" err="1"/>
              <a:t>Jetzt</a:t>
            </a:r>
            <a:r>
              <a:rPr sz="1100" dirty="0"/>
              <a:t> </a:t>
            </a:r>
            <a:r>
              <a:rPr sz="1100" dirty="0" err="1"/>
              <a:t>erfasse</a:t>
            </a:r>
            <a:r>
              <a:rPr sz="1100" dirty="0"/>
              <a:t> ich den </a:t>
            </a:r>
            <a:r>
              <a:rPr sz="1100" dirty="0" err="1"/>
              <a:t>Ist</a:t>
            </a:r>
            <a:r>
              <a:rPr sz="1100" dirty="0"/>
              <a:t>-Wert, so </a:t>
            </a:r>
            <a:r>
              <a:rPr sz="1100" dirty="0" err="1"/>
              <a:t>wie</a:t>
            </a:r>
            <a:r>
              <a:rPr sz="1100" dirty="0"/>
              <a:t> es die </a:t>
            </a:r>
            <a:r>
              <a:rPr sz="1100" dirty="0" err="1"/>
              <a:t>Küche</a:t>
            </a:r>
            <a:r>
              <a:rPr sz="1100" dirty="0"/>
              <a:t> am Abend </a:t>
            </a:r>
            <a:r>
              <a:rPr sz="1100" dirty="0" err="1"/>
              <a:t>macht</a:t>
            </a:r>
            <a:r>
              <a:rPr sz="1100" dirty="0"/>
              <a:t>. ||  </a:t>
            </a:r>
            <a:r>
              <a:rPr sz="1100" dirty="0" err="1"/>
              <a:t>Sehen</a:t>
            </a:r>
            <a:r>
              <a:rPr sz="1100" dirty="0"/>
              <a:t> Sie: Delta und </a:t>
            </a:r>
            <a:r>
              <a:rPr sz="1100" dirty="0" err="1"/>
              <a:t>Genauigkeit</a:t>
            </a:r>
            <a:r>
              <a:rPr sz="1100" dirty="0"/>
              <a:t> </a:t>
            </a:r>
            <a:r>
              <a:rPr sz="1100" dirty="0" err="1"/>
              <a:t>rechnen</a:t>
            </a:r>
            <a:r>
              <a:rPr sz="1100" dirty="0"/>
              <a:t> </a:t>
            </a:r>
            <a:r>
              <a:rPr sz="1100" dirty="0" err="1"/>
              <a:t>sofort</a:t>
            </a:r>
            <a:r>
              <a:rPr sz="1100" dirty="0"/>
              <a:t> </a:t>
            </a:r>
            <a:r>
              <a:rPr sz="1100" dirty="0" err="1"/>
              <a:t>nach</a:t>
            </a:r>
            <a:r>
              <a:rPr sz="1100" dirty="0"/>
              <a:t>. |||</a:t>
            </a:r>
          </a:p>
          <a:p>
            <a:r>
              <a:rPr sz="1100" dirty="0" err="1"/>
              <a:t>Gäste</a:t>
            </a:r>
            <a:r>
              <a:rPr sz="1100" dirty="0"/>
              <a:t> an </a:t>
            </a:r>
            <a:r>
              <a:rPr sz="1100" dirty="0" err="1"/>
              <a:t>diesem</a:t>
            </a:r>
            <a:r>
              <a:rPr sz="1100" dirty="0"/>
              <a:t> Tag: 392 </a:t>
            </a:r>
            <a:r>
              <a:rPr sz="1100" dirty="0" err="1"/>
              <a:t>prognostiziert</a:t>
            </a:r>
            <a:r>
              <a:rPr sz="1100" dirty="0"/>
              <a:t>, 378 </a:t>
            </a:r>
            <a:r>
              <a:rPr sz="1100" dirty="0" err="1"/>
              <a:t>tatsächlich</a:t>
            </a:r>
            <a:r>
              <a:rPr sz="1100" dirty="0"/>
              <a:t> – 14 Gäste oder 3.7 </a:t>
            </a:r>
            <a:r>
              <a:rPr sz="1100" dirty="0" err="1"/>
              <a:t>Prozent</a:t>
            </a:r>
            <a:r>
              <a:rPr sz="1100" dirty="0"/>
              <a:t> </a:t>
            </a:r>
            <a:r>
              <a:rPr sz="1100" dirty="0" err="1"/>
              <a:t>daneben</a:t>
            </a:r>
            <a:r>
              <a:rPr sz="1100" dirty="0"/>
              <a:t>. ||  Beim Schnitzel: 97 </a:t>
            </a:r>
            <a:r>
              <a:rPr sz="1100" dirty="0" err="1"/>
              <a:t>prognostiziert</a:t>
            </a:r>
            <a:r>
              <a:rPr sz="1100" dirty="0"/>
              <a:t>, 91 </a:t>
            </a:r>
            <a:r>
              <a:rPr sz="1100" dirty="0" err="1"/>
              <a:t>verkauft</a:t>
            </a:r>
            <a:r>
              <a:rPr sz="1100" dirty="0"/>
              <a:t>, Delta minus </a:t>
            </a:r>
            <a:r>
              <a:rPr sz="1100" dirty="0" err="1"/>
              <a:t>sechs</a:t>
            </a:r>
            <a:r>
              <a:rPr sz="1100" dirty="0"/>
              <a:t>. |||</a:t>
            </a:r>
          </a:p>
          <a:p>
            <a:r>
              <a:rPr sz="1100" dirty="0"/>
              <a:t>[Auf «</a:t>
            </a:r>
            <a:r>
              <a:rPr sz="1100" dirty="0" err="1"/>
              <a:t>Analysen</a:t>
            </a:r>
            <a:r>
              <a:rPr sz="1100" dirty="0"/>
              <a:t>» </a:t>
            </a:r>
            <a:r>
              <a:rPr sz="1100" dirty="0" err="1"/>
              <a:t>wechseln</a:t>
            </a:r>
            <a:r>
              <a:rPr sz="1100" dirty="0"/>
              <a:t>.]</a:t>
            </a:r>
          </a:p>
          <a:p>
            <a:r>
              <a:rPr sz="1100" dirty="0"/>
              <a:t>Und </a:t>
            </a:r>
            <a:r>
              <a:rPr sz="1100" dirty="0" err="1"/>
              <a:t>hier</a:t>
            </a:r>
            <a:r>
              <a:rPr sz="1100" dirty="0"/>
              <a:t> </a:t>
            </a:r>
            <a:r>
              <a:rPr sz="1100" dirty="0" err="1"/>
              <a:t>läuft</a:t>
            </a:r>
            <a:r>
              <a:rPr sz="1100" dirty="0"/>
              <a:t> </a:t>
            </a:r>
            <a:r>
              <a:rPr sz="1100" dirty="0" err="1"/>
              <a:t>alles</a:t>
            </a:r>
            <a:r>
              <a:rPr sz="1100" dirty="0"/>
              <a:t> </a:t>
            </a:r>
            <a:r>
              <a:rPr sz="1100" dirty="0" err="1"/>
              <a:t>zusammen</a:t>
            </a:r>
            <a:r>
              <a:rPr sz="1100" dirty="0"/>
              <a:t>: die Abweichung je </a:t>
            </a:r>
            <a:r>
              <a:rPr sz="1100" dirty="0" err="1"/>
              <a:t>Kalenderwoche</a:t>
            </a:r>
            <a:r>
              <a:rPr sz="1100" dirty="0"/>
              <a:t> und die Artikel </a:t>
            </a:r>
            <a:r>
              <a:rPr sz="1100" dirty="0" err="1"/>
              <a:t>mit</a:t>
            </a:r>
            <a:r>
              <a:rPr sz="1100" dirty="0"/>
              <a:t> der </a:t>
            </a:r>
            <a:r>
              <a:rPr sz="1100" dirty="0" err="1"/>
              <a:t>höchsten</a:t>
            </a:r>
            <a:r>
              <a:rPr sz="1100" dirty="0"/>
              <a:t> </a:t>
            </a:r>
            <a:r>
              <a:rPr sz="1100" dirty="0" err="1"/>
              <a:t>Genauigkeit</a:t>
            </a:r>
            <a:r>
              <a:rPr sz="1100" dirty="0"/>
              <a:t>. |||</a:t>
            </a:r>
          </a:p>
          <a:p>
            <a:r>
              <a:rPr sz="1100" dirty="0" err="1"/>
              <a:t>Diese</a:t>
            </a:r>
            <a:r>
              <a:rPr sz="1100" dirty="0"/>
              <a:t> </a:t>
            </a:r>
            <a:r>
              <a:rPr sz="1100" dirty="0" err="1"/>
              <a:t>Abweichungen</a:t>
            </a:r>
            <a:r>
              <a:rPr sz="1100" dirty="0"/>
              <a:t> </a:t>
            </a:r>
            <a:r>
              <a:rPr sz="1100" dirty="0" err="1"/>
              <a:t>sind</a:t>
            </a:r>
            <a:r>
              <a:rPr sz="1100" dirty="0"/>
              <a:t> </a:t>
            </a:r>
            <a:r>
              <a:rPr sz="1100" dirty="0" err="1"/>
              <a:t>kein</a:t>
            </a:r>
            <a:r>
              <a:rPr sz="1100" dirty="0"/>
              <a:t> </a:t>
            </a:r>
            <a:r>
              <a:rPr sz="1100" dirty="0" err="1"/>
              <a:t>Fehlerprotokoll</a:t>
            </a:r>
            <a:r>
              <a:rPr sz="1100" dirty="0"/>
              <a:t> – </a:t>
            </a:r>
            <a:r>
              <a:rPr sz="1100" dirty="0" err="1"/>
              <a:t>sie</a:t>
            </a:r>
            <a:r>
              <a:rPr sz="1100" dirty="0"/>
              <a:t> </a:t>
            </a:r>
            <a:r>
              <a:rPr sz="1100" dirty="0" err="1"/>
              <a:t>sind</a:t>
            </a:r>
            <a:r>
              <a:rPr sz="1100" dirty="0"/>
              <a:t> das </a:t>
            </a:r>
            <a:r>
              <a:rPr sz="1100" dirty="0" err="1"/>
              <a:t>Lernsignal</a:t>
            </a:r>
            <a:r>
              <a:rPr sz="1100" dirty="0"/>
              <a:t>. ||  Damit </a:t>
            </a:r>
            <a:r>
              <a:rPr sz="1100" dirty="0" err="1"/>
              <a:t>schliesst</a:t>
            </a:r>
            <a:r>
              <a:rPr sz="1100" dirty="0"/>
              <a:t> </a:t>
            </a:r>
            <a:r>
              <a:rPr sz="1100" dirty="0" err="1"/>
              <a:t>sich</a:t>
            </a:r>
            <a:r>
              <a:rPr sz="1100" dirty="0"/>
              <a:t> der Kreis von den </a:t>
            </a:r>
            <a:r>
              <a:rPr sz="1100" dirty="0" err="1"/>
              <a:t>Daten</a:t>
            </a:r>
            <a:r>
              <a:rPr sz="1100" dirty="0"/>
              <a:t> </a:t>
            </a:r>
            <a:r>
              <a:rPr sz="1100" dirty="0" err="1"/>
              <a:t>über</a:t>
            </a:r>
            <a:r>
              <a:rPr sz="1100" dirty="0"/>
              <a:t> die Prognose </a:t>
            </a:r>
            <a:r>
              <a:rPr sz="1100" dirty="0" err="1"/>
              <a:t>zur</a:t>
            </a:r>
            <a:r>
              <a:rPr sz="1100" dirty="0"/>
              <a:t> </a:t>
            </a:r>
            <a:r>
              <a:rPr sz="1100" dirty="0" err="1"/>
              <a:t>Entscheidung</a:t>
            </a:r>
            <a:r>
              <a:rPr sz="1100" dirty="0"/>
              <a:t>.</a:t>
            </a:r>
          </a:p>
          <a:p>
            <a:r>
              <a:rPr sz="1100" b="1" dirty="0"/>
              <a:t>ABBRUCHSATZ </a:t>
            </a:r>
            <a:r>
              <a:rPr sz="1100" b="1" dirty="0" err="1"/>
              <a:t>bei</a:t>
            </a:r>
            <a:r>
              <a:rPr sz="1100" b="1" dirty="0"/>
              <a:t> 8:35, egal wo Sie </a:t>
            </a:r>
            <a:r>
              <a:rPr sz="1100" b="1" dirty="0" err="1"/>
              <a:t>stehen</a:t>
            </a:r>
            <a:r>
              <a:rPr sz="1100" b="1" dirty="0"/>
              <a:t>: «Den Rest </a:t>
            </a:r>
            <a:r>
              <a:rPr sz="1100" b="1" dirty="0" err="1"/>
              <a:t>zeige</a:t>
            </a:r>
            <a:r>
              <a:rPr sz="1100" b="1" dirty="0"/>
              <a:t> ich Ihnen gerne </a:t>
            </a:r>
            <a:r>
              <a:rPr sz="1100" b="1" dirty="0" err="1"/>
              <a:t>im</a:t>
            </a:r>
            <a:r>
              <a:rPr sz="1100" b="1" dirty="0"/>
              <a:t> </a:t>
            </a:r>
            <a:r>
              <a:rPr sz="1100" b="1" dirty="0" err="1"/>
              <a:t>Fachgespräch</a:t>
            </a:r>
            <a:r>
              <a:rPr sz="1100" b="1" dirty="0"/>
              <a:t>.» Keine </a:t>
            </a:r>
            <a:r>
              <a:rPr sz="1100" b="1" dirty="0" err="1"/>
              <a:t>Entschuldigung</a:t>
            </a:r>
            <a:r>
              <a:rPr sz="1100" b="1" dirty="0"/>
              <a:t>, </a:t>
            </a:r>
            <a:r>
              <a:rPr sz="1100" b="1" dirty="0" err="1"/>
              <a:t>kein</a:t>
            </a:r>
            <a:r>
              <a:rPr sz="1100" b="1" dirty="0"/>
              <a:t> </a:t>
            </a:r>
            <a:r>
              <a:rPr sz="1100" b="1" dirty="0" err="1"/>
              <a:t>Kommentar</a:t>
            </a:r>
            <a:r>
              <a:rPr sz="1100" b="1" dirty="0"/>
              <a:t>.</a:t>
            </a:r>
          </a:p>
          <a:p>
            <a:r>
              <a:rPr sz="1100" b="1" dirty="0"/>
              <a:t>RÜCKFALL, falls die Demo nicht </a:t>
            </a:r>
            <a:r>
              <a:rPr sz="1100" b="1" dirty="0" err="1"/>
              <a:t>startet</a:t>
            </a:r>
            <a:r>
              <a:rPr sz="1100" b="1" dirty="0"/>
              <a:t>: Folie 12 (</a:t>
            </a:r>
            <a:r>
              <a:rPr sz="1100" b="1" dirty="0" err="1"/>
              <a:t>Anhang</a:t>
            </a:r>
            <a:r>
              <a:rPr sz="1100" b="1" dirty="0"/>
              <a:t> A) </a:t>
            </a:r>
            <a:r>
              <a:rPr sz="1100" b="1" dirty="0" err="1"/>
              <a:t>auflegen</a:t>
            </a:r>
            <a:r>
              <a:rPr sz="1100" b="1" dirty="0"/>
              <a:t> und </a:t>
            </a:r>
            <a:r>
              <a:rPr sz="1100" b="1" dirty="0" err="1"/>
              <a:t>denselben</a:t>
            </a:r>
            <a:r>
              <a:rPr sz="1100" b="1" dirty="0"/>
              <a:t> Text </a:t>
            </a:r>
            <a:r>
              <a:rPr sz="1100" b="1" dirty="0" err="1"/>
              <a:t>sprechen</a:t>
            </a:r>
            <a:r>
              <a:rPr sz="1100" b="1" dirty="0"/>
              <a:t>. Alle Zahlen </a:t>
            </a:r>
            <a:r>
              <a:rPr sz="1100" b="1" dirty="0" err="1"/>
              <a:t>stehen</a:t>
            </a:r>
            <a:r>
              <a:rPr sz="1100" b="1" dirty="0"/>
              <a:t> </a:t>
            </a:r>
            <a:r>
              <a:rPr sz="1100" b="1" dirty="0" err="1"/>
              <a:t>dort</a:t>
            </a:r>
            <a:r>
              <a:rPr sz="1100" b="1"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8:35 – 9:20   ·   </a:t>
            </a:r>
            <a:r>
              <a:rPr sz="1300" b="1" dirty="0" err="1"/>
              <a:t>Machbarkeit</a:t>
            </a:r>
            <a:r>
              <a:rPr sz="1300" b="1" dirty="0"/>
              <a:t> · C4</a:t>
            </a:r>
          </a:p>
          <a:p>
            <a:r>
              <a:rPr sz="1100" b="1" dirty="0"/>
              <a:t>KERNAUSSAGE: Die </a:t>
            </a:r>
            <a:r>
              <a:rPr sz="1100" b="1" dirty="0" err="1"/>
              <a:t>Machbarkeit</a:t>
            </a:r>
            <a:r>
              <a:rPr sz="1100" b="1" dirty="0"/>
              <a:t> </a:t>
            </a:r>
            <a:r>
              <a:rPr sz="1100" b="1" dirty="0" err="1"/>
              <a:t>ist</a:t>
            </a:r>
            <a:r>
              <a:rPr sz="1100" b="1" dirty="0"/>
              <a:t> </a:t>
            </a:r>
            <a:r>
              <a:rPr sz="1100" b="1" dirty="0" err="1"/>
              <a:t>belegt</a:t>
            </a:r>
            <a:r>
              <a:rPr sz="1100" b="1" dirty="0"/>
              <a:t> – und ich </a:t>
            </a:r>
            <a:r>
              <a:rPr sz="1100" b="1" dirty="0" err="1"/>
              <a:t>benenne</a:t>
            </a:r>
            <a:r>
              <a:rPr sz="1100" b="1" dirty="0"/>
              <a:t> die </a:t>
            </a:r>
            <a:r>
              <a:rPr sz="1100" b="1" dirty="0" err="1"/>
              <a:t>Grenzen</a:t>
            </a:r>
            <a:r>
              <a:rPr sz="1100" b="1" dirty="0"/>
              <a:t> </a:t>
            </a:r>
            <a:r>
              <a:rPr sz="1100" b="1" dirty="0" err="1"/>
              <a:t>selbst</a:t>
            </a:r>
            <a:r>
              <a:rPr sz="1100" b="1" dirty="0"/>
              <a:t>.</a:t>
            </a:r>
          </a:p>
          <a:p>
            <a:endParaRPr sz="1100" b="1" dirty="0"/>
          </a:p>
          <a:p>
            <a:r>
              <a:rPr sz="1100" dirty="0"/>
              <a:t>Damit </a:t>
            </a:r>
            <a:r>
              <a:rPr sz="1100" dirty="0" err="1"/>
              <a:t>zur</a:t>
            </a:r>
            <a:r>
              <a:rPr sz="1100" dirty="0"/>
              <a:t> </a:t>
            </a:r>
            <a:r>
              <a:rPr sz="1100" dirty="0" err="1"/>
              <a:t>Bewertung</a:t>
            </a:r>
            <a:r>
              <a:rPr sz="1100" dirty="0"/>
              <a:t>. |</a:t>
            </a:r>
          </a:p>
          <a:p>
            <a:r>
              <a:rPr sz="1100" dirty="0"/>
              <a:t>Die </a:t>
            </a:r>
            <a:r>
              <a:rPr sz="1100" dirty="0" err="1"/>
              <a:t>Machbarkeit</a:t>
            </a:r>
            <a:r>
              <a:rPr sz="1100" dirty="0"/>
              <a:t> hat </a:t>
            </a:r>
            <a:r>
              <a:rPr sz="1100" dirty="0" err="1"/>
              <a:t>Grenzen</a:t>
            </a:r>
            <a:r>
              <a:rPr sz="1100" dirty="0"/>
              <a:t>. Sechs </a:t>
            </a:r>
            <a:r>
              <a:rPr sz="1100" dirty="0" err="1"/>
              <a:t>Risiken</a:t>
            </a:r>
            <a:r>
              <a:rPr sz="1100" dirty="0"/>
              <a:t> </a:t>
            </a:r>
            <a:r>
              <a:rPr sz="1100" dirty="0" err="1"/>
              <a:t>habe</a:t>
            </a:r>
            <a:r>
              <a:rPr sz="1100" dirty="0"/>
              <a:t> ich </a:t>
            </a:r>
            <a:r>
              <a:rPr sz="1100" dirty="0" err="1"/>
              <a:t>bewertet</a:t>
            </a:r>
            <a:r>
              <a:rPr sz="1100" dirty="0"/>
              <a:t>, die vier </a:t>
            </a:r>
            <a:r>
              <a:rPr sz="1100" dirty="0" err="1"/>
              <a:t>wichtigsten</a:t>
            </a:r>
            <a:r>
              <a:rPr sz="1100" dirty="0"/>
              <a:t> </a:t>
            </a:r>
            <a:r>
              <a:rPr sz="1100" dirty="0" err="1"/>
              <a:t>stehen</a:t>
            </a:r>
            <a:r>
              <a:rPr sz="1100" dirty="0"/>
              <a:t> </a:t>
            </a:r>
            <a:r>
              <a:rPr sz="1100" dirty="0" err="1"/>
              <a:t>hier</a:t>
            </a:r>
            <a:r>
              <a:rPr sz="1100" dirty="0"/>
              <a:t>. |||</a:t>
            </a:r>
          </a:p>
          <a:p>
            <a:r>
              <a:rPr sz="1100" dirty="0"/>
              <a:t>Das </a:t>
            </a:r>
            <a:r>
              <a:rPr sz="1100" dirty="0" err="1"/>
              <a:t>grösste</a:t>
            </a:r>
            <a:r>
              <a:rPr sz="1100" dirty="0"/>
              <a:t>: Die </a:t>
            </a:r>
            <a:r>
              <a:rPr sz="1100" dirty="0" err="1"/>
              <a:t>Tagesmenü-Daten</a:t>
            </a:r>
            <a:r>
              <a:rPr sz="1100" dirty="0"/>
              <a:t> </a:t>
            </a:r>
            <a:r>
              <a:rPr sz="1100" dirty="0" err="1"/>
              <a:t>werden</a:t>
            </a:r>
            <a:r>
              <a:rPr sz="1100" dirty="0"/>
              <a:t> </a:t>
            </a:r>
            <a:r>
              <a:rPr sz="1100" dirty="0" err="1"/>
              <a:t>im</a:t>
            </a:r>
            <a:r>
              <a:rPr sz="1100" dirty="0"/>
              <a:t> POS </a:t>
            </a:r>
            <a:r>
              <a:rPr sz="1100" dirty="0" err="1"/>
              <a:t>überschrieben</a:t>
            </a:r>
            <a:r>
              <a:rPr sz="1100" dirty="0"/>
              <a:t>. ||  Auf </a:t>
            </a:r>
            <a:r>
              <a:rPr sz="1100" dirty="0" err="1"/>
              <a:t>Transaktionsebene</a:t>
            </a:r>
            <a:r>
              <a:rPr sz="1100" dirty="0"/>
              <a:t> </a:t>
            </a:r>
            <a:r>
              <a:rPr sz="1100" dirty="0" err="1"/>
              <a:t>sind</a:t>
            </a:r>
            <a:r>
              <a:rPr sz="1100" dirty="0"/>
              <a:t> die </a:t>
            </a:r>
            <a:r>
              <a:rPr sz="1100" dirty="0" err="1"/>
              <a:t>Daten</a:t>
            </a:r>
            <a:r>
              <a:rPr sz="1100" dirty="0"/>
              <a:t> </a:t>
            </a:r>
            <a:r>
              <a:rPr sz="1100" dirty="0" err="1"/>
              <a:t>vollständig</a:t>
            </a:r>
            <a:r>
              <a:rPr sz="1100" dirty="0"/>
              <a:t> und </a:t>
            </a:r>
            <a:r>
              <a:rPr sz="1100" dirty="0" err="1"/>
              <a:t>konsistent</a:t>
            </a:r>
            <a:r>
              <a:rPr sz="1100" dirty="0"/>
              <a:t> – die </a:t>
            </a:r>
            <a:r>
              <a:rPr sz="1100" dirty="0" err="1"/>
              <a:t>Lücke</a:t>
            </a:r>
            <a:r>
              <a:rPr sz="1100" dirty="0"/>
              <a:t> </a:t>
            </a:r>
            <a:r>
              <a:rPr sz="1100" dirty="0" err="1"/>
              <a:t>liegt</a:t>
            </a:r>
            <a:r>
              <a:rPr sz="1100" dirty="0"/>
              <a:t> auf </a:t>
            </a:r>
            <a:r>
              <a:rPr sz="1100" dirty="0" err="1"/>
              <a:t>Tagesmenü</a:t>
            </a:r>
            <a:r>
              <a:rPr sz="1100" dirty="0"/>
              <a:t>-Ebene. ||  Seit September </a:t>
            </a:r>
            <a:r>
              <a:rPr sz="1100" dirty="0" err="1"/>
              <a:t>wird</a:t>
            </a:r>
            <a:r>
              <a:rPr sz="1100" dirty="0"/>
              <a:t> das </a:t>
            </a:r>
            <a:r>
              <a:rPr sz="1100" dirty="0" err="1"/>
              <a:t>Tagesmenü</a:t>
            </a:r>
            <a:r>
              <a:rPr sz="1100" dirty="0"/>
              <a:t> </a:t>
            </a:r>
            <a:r>
              <a:rPr sz="1100" dirty="0" err="1"/>
              <a:t>täglich</a:t>
            </a:r>
            <a:r>
              <a:rPr sz="1100" dirty="0"/>
              <a:t> </a:t>
            </a:r>
            <a:r>
              <a:rPr sz="1100" dirty="0" err="1"/>
              <a:t>importiert</a:t>
            </a:r>
            <a:r>
              <a:rPr sz="1100" dirty="0"/>
              <a:t>. |||</a:t>
            </a:r>
          </a:p>
          <a:p>
            <a:r>
              <a:rPr sz="1100" dirty="0"/>
              <a:t>Die </a:t>
            </a:r>
            <a:r>
              <a:rPr sz="1100" dirty="0" err="1"/>
              <a:t>Anlässe</a:t>
            </a:r>
            <a:r>
              <a:rPr sz="1100" dirty="0"/>
              <a:t> in der Region </a:t>
            </a:r>
            <a:r>
              <a:rPr sz="1100" dirty="0" err="1"/>
              <a:t>sind</a:t>
            </a:r>
            <a:r>
              <a:rPr sz="1100" dirty="0"/>
              <a:t> </a:t>
            </a:r>
            <a:r>
              <a:rPr sz="1100" dirty="0" err="1"/>
              <a:t>vollständig</a:t>
            </a:r>
            <a:r>
              <a:rPr sz="1100" dirty="0"/>
              <a:t> </a:t>
            </a:r>
            <a:r>
              <a:rPr sz="1100" dirty="0" err="1"/>
              <a:t>erfasst</a:t>
            </a:r>
            <a:r>
              <a:rPr sz="1100" dirty="0"/>
              <a:t> – </a:t>
            </a:r>
            <a:r>
              <a:rPr sz="1100" dirty="0" err="1"/>
              <a:t>eine</a:t>
            </a:r>
            <a:r>
              <a:rPr sz="1100" dirty="0"/>
              <a:t> KI </a:t>
            </a:r>
            <a:r>
              <a:rPr sz="1100" dirty="0" err="1"/>
              <a:t>sucht</a:t>
            </a:r>
            <a:r>
              <a:rPr sz="1100" dirty="0"/>
              <a:t> </a:t>
            </a:r>
            <a:r>
              <a:rPr sz="1100" dirty="0" err="1"/>
              <a:t>sie</a:t>
            </a:r>
            <a:r>
              <a:rPr sz="1100" dirty="0"/>
              <a:t> </a:t>
            </a:r>
            <a:r>
              <a:rPr sz="1100" dirty="0" err="1"/>
              <a:t>täglich</a:t>
            </a:r>
            <a:r>
              <a:rPr sz="1100" dirty="0"/>
              <a:t>, </a:t>
            </a:r>
            <a:r>
              <a:rPr sz="1100" dirty="0" err="1"/>
              <a:t>jeder</a:t>
            </a:r>
            <a:r>
              <a:rPr sz="1100" dirty="0"/>
              <a:t> </a:t>
            </a:r>
            <a:r>
              <a:rPr sz="1100" dirty="0" err="1"/>
              <a:t>Vorschlag</a:t>
            </a:r>
            <a:r>
              <a:rPr sz="1100" dirty="0"/>
              <a:t> </a:t>
            </a:r>
            <a:r>
              <a:rPr sz="1100" dirty="0" err="1"/>
              <a:t>wird</a:t>
            </a:r>
            <a:r>
              <a:rPr sz="1100" dirty="0"/>
              <a:t> von Hand </a:t>
            </a:r>
            <a:r>
              <a:rPr sz="1100" dirty="0" err="1"/>
              <a:t>freigegeben</a:t>
            </a:r>
            <a:r>
              <a:rPr sz="1100" dirty="0"/>
              <a:t>. |||</a:t>
            </a:r>
          </a:p>
          <a:p>
            <a:r>
              <a:rPr sz="1100" dirty="0"/>
              <a:t>Und </a:t>
            </a:r>
            <a:r>
              <a:rPr sz="1100" dirty="0" err="1"/>
              <a:t>eines</a:t>
            </a:r>
            <a:r>
              <a:rPr sz="1100" dirty="0"/>
              <a:t> der </a:t>
            </a:r>
            <a:r>
              <a:rPr sz="1100" dirty="0" err="1"/>
              <a:t>sechs</a:t>
            </a:r>
            <a:r>
              <a:rPr sz="1100" dirty="0"/>
              <a:t> </a:t>
            </a:r>
            <a:r>
              <a:rPr sz="1100" dirty="0" err="1"/>
              <a:t>Risiken</a:t>
            </a:r>
            <a:r>
              <a:rPr sz="1100" dirty="0"/>
              <a:t> </a:t>
            </a:r>
            <a:r>
              <a:rPr sz="1100" dirty="0" err="1"/>
              <a:t>ist</a:t>
            </a:r>
            <a:r>
              <a:rPr sz="1100" dirty="0"/>
              <a:t> </a:t>
            </a:r>
            <a:r>
              <a:rPr sz="1100" dirty="0" err="1"/>
              <a:t>tatsächlich</a:t>
            </a:r>
            <a:r>
              <a:rPr sz="1100" dirty="0"/>
              <a:t> </a:t>
            </a:r>
            <a:r>
              <a:rPr sz="1100" dirty="0" err="1"/>
              <a:t>eingetreten</a:t>
            </a:r>
            <a:r>
              <a:rPr sz="1100" dirty="0"/>
              <a:t>: die </a:t>
            </a:r>
            <a:r>
              <a:rPr sz="1100" dirty="0" err="1"/>
              <a:t>Beschaffung</a:t>
            </a:r>
            <a:r>
              <a:rPr sz="1100" dirty="0"/>
              <a:t> </a:t>
            </a:r>
            <a:r>
              <a:rPr sz="1100" dirty="0" err="1"/>
              <a:t>eigener</a:t>
            </a:r>
            <a:r>
              <a:rPr sz="1100" dirty="0"/>
              <a:t> Hardware. |||</a:t>
            </a:r>
          </a:p>
          <a:p>
            <a:r>
              <a:rPr sz="1100" dirty="0" err="1"/>
              <a:t>Rechts</a:t>
            </a:r>
            <a:r>
              <a:rPr sz="1100" dirty="0"/>
              <a:t> der </a:t>
            </a:r>
            <a:r>
              <a:rPr sz="1100" dirty="0" err="1"/>
              <a:t>Beleg</a:t>
            </a:r>
            <a:r>
              <a:rPr sz="1100" dirty="0"/>
              <a:t> für die </a:t>
            </a:r>
            <a:r>
              <a:rPr sz="1100" dirty="0" err="1"/>
              <a:t>Machbarkeit</a:t>
            </a:r>
            <a:r>
              <a:rPr sz="1100" dirty="0"/>
              <a:t>: </a:t>
            </a:r>
            <a:r>
              <a:rPr sz="1100" dirty="0" err="1"/>
              <a:t>Im</a:t>
            </a:r>
            <a:r>
              <a:rPr sz="1100" dirty="0"/>
              <a:t> Walk-Forward-Backtest </a:t>
            </a:r>
            <a:r>
              <a:rPr sz="1100" dirty="0" err="1"/>
              <a:t>über</a:t>
            </a:r>
            <a:r>
              <a:rPr sz="1100" dirty="0"/>
              <a:t> 17 </a:t>
            </a:r>
            <a:r>
              <a:rPr sz="1100" dirty="0" err="1"/>
              <a:t>Betriebstage</a:t>
            </a:r>
            <a:r>
              <a:rPr sz="1100" dirty="0"/>
              <a:t> </a:t>
            </a:r>
            <a:r>
              <a:rPr sz="1100" dirty="0" err="1"/>
              <a:t>im</a:t>
            </a:r>
            <a:r>
              <a:rPr sz="1100" dirty="0"/>
              <a:t> August 43.2 </a:t>
            </a:r>
            <a:r>
              <a:rPr sz="1100" dirty="0" err="1"/>
              <a:t>Prozent</a:t>
            </a:r>
            <a:r>
              <a:rPr sz="1100" dirty="0"/>
              <a:t> MAPE – </a:t>
            </a:r>
            <a:r>
              <a:rPr sz="1100" dirty="0" err="1"/>
              <a:t>gegen</a:t>
            </a:r>
            <a:r>
              <a:rPr sz="1100" dirty="0"/>
              <a:t> 81.4 </a:t>
            </a:r>
            <a:r>
              <a:rPr sz="1100" dirty="0" err="1"/>
              <a:t>Prozent</a:t>
            </a:r>
            <a:r>
              <a:rPr sz="1100" dirty="0"/>
              <a:t> </a:t>
            </a:r>
            <a:r>
              <a:rPr sz="1100" dirty="0" err="1"/>
              <a:t>bei</a:t>
            </a:r>
            <a:r>
              <a:rPr sz="1100" dirty="0"/>
              <a:t> der </a:t>
            </a:r>
            <a:r>
              <a:rPr sz="1100" dirty="0" err="1"/>
              <a:t>naiven</a:t>
            </a:r>
            <a:r>
              <a:rPr sz="1100" dirty="0"/>
              <a:t> Baseline, dem </a:t>
            </a:r>
            <a:r>
              <a:rPr sz="1100" dirty="0" err="1"/>
              <a:t>gleichen</a:t>
            </a:r>
            <a:r>
              <a:rPr sz="1100" dirty="0"/>
              <a:t> </a:t>
            </a:r>
            <a:r>
              <a:rPr sz="1100" dirty="0" err="1"/>
              <a:t>Wochentag</a:t>
            </a:r>
            <a:r>
              <a:rPr sz="1100" dirty="0"/>
              <a:t> der </a:t>
            </a:r>
            <a:r>
              <a:rPr sz="1100" dirty="0" err="1"/>
              <a:t>Vorwoche</a:t>
            </a:r>
            <a:r>
              <a:rPr sz="1100" dirty="0"/>
              <a:t>. ||  </a:t>
            </a:r>
            <a:r>
              <a:rPr sz="1100" dirty="0" err="1"/>
              <a:t>Halber</a:t>
            </a:r>
            <a:r>
              <a:rPr sz="1100" dirty="0"/>
              <a:t> Fehler. |||</a:t>
            </a:r>
          </a:p>
          <a:p>
            <a:r>
              <a:rPr sz="1100" dirty="0"/>
              <a:t>Die 15 Prozent sind ein Roadmap-Ziel für die zehn wichtigsten Gerichte nach zwei vollen Saisonzyklen, nicht der heutige Stand.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9:20 – 10:35   ·   Business Case · C5</a:t>
            </a:r>
          </a:p>
          <a:p>
            <a:r>
              <a:rPr sz="1100" b="1" dirty="0"/>
              <a:t>KERNAUSSAGE: Die </a:t>
            </a:r>
            <a:r>
              <a:rPr sz="1100" b="1" dirty="0" err="1"/>
              <a:t>Rechnung</a:t>
            </a:r>
            <a:r>
              <a:rPr sz="1100" b="1" dirty="0"/>
              <a:t> </a:t>
            </a:r>
            <a:r>
              <a:rPr sz="1100" b="1" dirty="0" err="1"/>
              <a:t>trägt</a:t>
            </a:r>
            <a:r>
              <a:rPr sz="1100" b="1" dirty="0"/>
              <a:t> – und </a:t>
            </a:r>
            <a:r>
              <a:rPr sz="1100" b="1" dirty="0" err="1"/>
              <a:t>sie</a:t>
            </a:r>
            <a:r>
              <a:rPr sz="1100" b="1" dirty="0"/>
              <a:t> </a:t>
            </a:r>
            <a:r>
              <a:rPr sz="1100" b="1" dirty="0" err="1"/>
              <a:t>bleibt</a:t>
            </a:r>
            <a:r>
              <a:rPr sz="1100" b="1" dirty="0"/>
              <a:t> </a:t>
            </a:r>
            <a:r>
              <a:rPr sz="1100" b="1" dirty="0" err="1"/>
              <a:t>auch</a:t>
            </a:r>
            <a:r>
              <a:rPr sz="1100" b="1" dirty="0"/>
              <a:t> </a:t>
            </a:r>
            <a:r>
              <a:rPr sz="1100" b="1" dirty="0" err="1"/>
              <a:t>bei</a:t>
            </a:r>
            <a:r>
              <a:rPr sz="1100" b="1" dirty="0"/>
              <a:t> 30 </a:t>
            </a:r>
            <a:r>
              <a:rPr sz="1100" b="1" dirty="0" err="1"/>
              <a:t>Prozent</a:t>
            </a:r>
            <a:r>
              <a:rPr sz="1100" b="1" dirty="0"/>
              <a:t> Abweichung </a:t>
            </a:r>
            <a:r>
              <a:rPr sz="1100" b="1" dirty="0" err="1"/>
              <a:t>positiv</a:t>
            </a:r>
            <a:r>
              <a:rPr sz="1100" b="1" dirty="0"/>
              <a:t>.</a:t>
            </a:r>
          </a:p>
          <a:p>
            <a:endParaRPr sz="1100" b="1" dirty="0"/>
          </a:p>
          <a:p>
            <a:r>
              <a:rPr sz="1100" dirty="0" err="1"/>
              <a:t>Technische</a:t>
            </a:r>
            <a:r>
              <a:rPr sz="1100" dirty="0"/>
              <a:t> </a:t>
            </a:r>
            <a:r>
              <a:rPr sz="1100" dirty="0" err="1"/>
              <a:t>Machbarkeit</a:t>
            </a:r>
            <a:r>
              <a:rPr sz="1100" dirty="0"/>
              <a:t> </a:t>
            </a:r>
            <a:r>
              <a:rPr sz="1100" dirty="0" err="1"/>
              <a:t>reicht</a:t>
            </a:r>
            <a:r>
              <a:rPr sz="1100" dirty="0"/>
              <a:t> nicht. Fotios muss </a:t>
            </a:r>
            <a:r>
              <a:rPr sz="1100" dirty="0" err="1"/>
              <a:t>wissen</a:t>
            </a:r>
            <a:r>
              <a:rPr sz="1100" dirty="0"/>
              <a:t>: </a:t>
            </a:r>
            <a:r>
              <a:rPr sz="1100" dirty="0" err="1"/>
              <a:t>Rechnet</a:t>
            </a:r>
            <a:r>
              <a:rPr sz="1100" dirty="0"/>
              <a:t> </a:t>
            </a:r>
            <a:r>
              <a:rPr sz="1100" dirty="0" err="1"/>
              <a:t>sich</a:t>
            </a:r>
            <a:r>
              <a:rPr sz="1100" dirty="0"/>
              <a:t> das? |||</a:t>
            </a:r>
          </a:p>
          <a:p>
            <a:r>
              <a:rPr sz="1100" dirty="0"/>
              <a:t>Der Jahresnutzen liegt bei CHF 18’750: Food Waste halbiert 9’000, Menü-Optimierung 3’750, Zeitersparnis 2’875, Überstunden- und Stressreduktion 3’125. ||  Dem stehen im ersten Jahr CHF 12’300 gegenüber. ||  Und dazu eine Offenlegung: Einrichtung und Datenbereinigung, Lizenz und Onboarding sind Kosten für den Betrieb und gleichzeitig mein eigener Umsatz. ||  Ich sage das, damit Sie es nicht suchen müssen. Der Entscheid liegt bei Fotios, nicht bei mir. |||</a:t>
            </a:r>
            <a:br>
              <a:rPr lang="de-DE" sz="1100" dirty="0"/>
            </a:br>
            <a:endParaRPr lang="de-DE" sz="1100" dirty="0"/>
          </a:p>
          <a:p>
            <a:r>
              <a:rPr sz="1100" dirty="0"/>
              <a:t>Netto </a:t>
            </a:r>
            <a:r>
              <a:rPr sz="1100" dirty="0" err="1"/>
              <a:t>bleiben</a:t>
            </a:r>
            <a:r>
              <a:rPr sz="1100" dirty="0"/>
              <a:t> CHF 6’450 – </a:t>
            </a:r>
            <a:r>
              <a:rPr sz="1100" dirty="0" err="1"/>
              <a:t>ein</a:t>
            </a:r>
            <a:r>
              <a:rPr sz="1100" dirty="0"/>
              <a:t> Netto-ROI von 52 </a:t>
            </a:r>
            <a:r>
              <a:rPr sz="1100" dirty="0" err="1"/>
              <a:t>Prozent</a:t>
            </a:r>
            <a:r>
              <a:rPr sz="1100" dirty="0"/>
              <a:t>, Break-even </a:t>
            </a:r>
            <a:r>
              <a:rPr sz="1100" dirty="0" err="1"/>
              <a:t>nach</a:t>
            </a:r>
            <a:r>
              <a:rPr sz="1100" dirty="0"/>
              <a:t> 6.5 </a:t>
            </a:r>
            <a:r>
              <a:rPr sz="1100" dirty="0" err="1"/>
              <a:t>Monaten</a:t>
            </a:r>
            <a:r>
              <a:rPr sz="1100" dirty="0"/>
              <a:t>, </a:t>
            </a:r>
            <a:r>
              <a:rPr sz="1100" dirty="0" err="1"/>
              <a:t>über</a:t>
            </a:r>
            <a:r>
              <a:rPr sz="1100" dirty="0"/>
              <a:t> </a:t>
            </a:r>
            <a:r>
              <a:rPr sz="1100" dirty="0" err="1"/>
              <a:t>drei</a:t>
            </a:r>
            <a:r>
              <a:rPr sz="1100" dirty="0"/>
              <a:t> Jahre 146 </a:t>
            </a:r>
            <a:r>
              <a:rPr sz="1100" dirty="0" err="1"/>
              <a:t>Prozent</a:t>
            </a:r>
            <a:r>
              <a:rPr sz="1100" dirty="0"/>
              <a:t>. |||</a:t>
            </a:r>
          </a:p>
          <a:p>
            <a:r>
              <a:rPr sz="1100" dirty="0"/>
              <a:t>Und das </a:t>
            </a:r>
            <a:r>
              <a:rPr sz="1100" dirty="0" err="1"/>
              <a:t>ist</a:t>
            </a:r>
            <a:r>
              <a:rPr sz="1100" dirty="0"/>
              <a:t> mir das </a:t>
            </a:r>
            <a:r>
              <a:rPr sz="1100" dirty="0" err="1"/>
              <a:t>Wichtigste</a:t>
            </a:r>
            <a:r>
              <a:rPr sz="1100" dirty="0"/>
              <a:t>: Auch </a:t>
            </a:r>
            <a:r>
              <a:rPr sz="1100" dirty="0" err="1"/>
              <a:t>wenn</a:t>
            </a:r>
            <a:r>
              <a:rPr sz="1100" dirty="0"/>
              <a:t> der </a:t>
            </a:r>
            <a:r>
              <a:rPr sz="1100" dirty="0" err="1"/>
              <a:t>Nutzen</a:t>
            </a:r>
            <a:r>
              <a:rPr sz="1100" dirty="0"/>
              <a:t> um 30 </a:t>
            </a:r>
            <a:r>
              <a:rPr sz="1100" dirty="0" err="1"/>
              <a:t>Prozent</a:t>
            </a:r>
            <a:r>
              <a:rPr sz="1100" dirty="0"/>
              <a:t> </a:t>
            </a:r>
            <a:r>
              <a:rPr sz="1100" dirty="0" err="1"/>
              <a:t>tiefer</a:t>
            </a:r>
            <a:r>
              <a:rPr sz="1100" dirty="0"/>
              <a:t> </a:t>
            </a:r>
            <a:r>
              <a:rPr sz="1100" dirty="0" err="1"/>
              <a:t>ausfällt</a:t>
            </a:r>
            <a:r>
              <a:rPr sz="1100" dirty="0"/>
              <a:t>, </a:t>
            </a:r>
            <a:r>
              <a:rPr sz="1100" dirty="0" err="1"/>
              <a:t>bleibt</a:t>
            </a:r>
            <a:r>
              <a:rPr sz="1100" dirty="0"/>
              <a:t> die </a:t>
            </a:r>
            <a:r>
              <a:rPr sz="1100" dirty="0" err="1"/>
              <a:t>Rechnung</a:t>
            </a:r>
            <a:r>
              <a:rPr sz="1100" dirty="0"/>
              <a:t> </a:t>
            </a:r>
            <a:r>
              <a:rPr sz="1100" dirty="0" err="1"/>
              <a:t>positiv</a:t>
            </a:r>
            <a:r>
              <a:rPr sz="1100" dirty="0"/>
              <a:t>. ||  Die Basis von CHF 1’000 bis 2’000 Food Waste pro Monat </a:t>
            </a:r>
            <a:r>
              <a:rPr sz="1100" dirty="0" err="1"/>
              <a:t>ist</a:t>
            </a:r>
            <a:r>
              <a:rPr sz="1100" dirty="0"/>
              <a:t> </a:t>
            </a:r>
            <a:r>
              <a:rPr sz="1100" dirty="0" err="1"/>
              <a:t>konservativ</a:t>
            </a:r>
            <a:r>
              <a:rPr sz="1100" dirty="0"/>
              <a:t> </a:t>
            </a:r>
            <a:r>
              <a:rPr sz="1100" dirty="0" err="1"/>
              <a:t>gerechnet</a:t>
            </a:r>
            <a:r>
              <a:rPr sz="1100"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10:35 – 11:25   ·   Managemententscheid · C5</a:t>
            </a:r>
          </a:p>
          <a:p>
            <a:r>
              <a:rPr sz="1100" b="1"/>
              <a:t>KERNAUSSAGE: Eine Entscheidung, heute: Budgetfreigabe Jahr 1 – mit Gegenleistung und Ausstieg.</a:t>
            </a:r>
          </a:p>
          <a:p>
            <a:endParaRPr sz="1100" b="1"/>
          </a:p>
          <a:p>
            <a:r>
              <a:rPr sz="1100"/>
              <a:t>[Ruhig werden. Das ist der Punkt, auf den alles zuläuft. Blick zum Auftraggeber.]</a:t>
            </a:r>
          </a:p>
          <a:p>
            <a:r>
              <a:rPr sz="1100"/>
              <a:t>Damit zur Empfehlung. |  Und zu dem, was ich heute von Ihnen brauche. |||</a:t>
            </a:r>
          </a:p>
          <a:p>
            <a:r>
              <a:rPr sz="1100"/>
              <a:t>Es ist eine einzige Entscheidung: ||  Geben Sie CHF 12’300 für Jahr 1 frei? |||</a:t>
            </a:r>
          </a:p>
          <a:p>
            <a:r>
              <a:rPr sz="1100"/>
              <a:t>Dafür bekommen Sie die Überführung des Pilotbetriebs in den Regelbetrieb: die Bereinigung der 339 doppelt gezählten Kassentage, die Lizenz und das Onboarding für ein volles Jahr. |||</a:t>
            </a:r>
          </a:p>
          <a:p>
            <a:r>
              <a:rPr sz="1100"/>
              <a:t>Dafür brauche ich Sie: Fotios als Tester – und die tägliche Real-Erfassung durch die Küche. ||  Ohne sie lernt das System nicht. |||</a:t>
            </a:r>
          </a:p>
          <a:p>
            <a:r>
              <a:rPr sz="1100"/>
              <a:t>Und nach zwölf Wochen entscheiden Sie neu, mit gemessenen Zahlen: weiter, anpassen oder stoppen. |||</a:t>
            </a:r>
          </a:p>
          <a:p>
            <a:r>
              <a:rPr sz="1100"/>
              <a:t>Und bevor Sie fragen, warum das Geld erst jetzt kommt, obwohl der Pilotbetrieb seit Mai läuft: ||  Die bisherige Entwicklung war nicht verrechnete Eigenleistung. ||  Jahr 1 ist der erste Zeitraum, den ich in Rechnung stelle. ||  Die CHF 6’000 bezahlen nicht die Entwicklung, sondern die Einrichtung und die Datenbereinigung. |||</a:t>
            </a:r>
          </a:p>
          <a:p>
            <a:r>
              <a:rPr sz="1100"/>
              <a:t>Kein Blankoscheck. ||  Steigen Sie nach dem Quartalsreview aus, kostet Sie das CHF 8’700: Einrichtung, Onboarding und drei Monate Lizenz. ||  Danach ist die Lizenz monatlich kündbar.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dirty="0"/>
              <a:t>11:25 – 12:25   ·   </a:t>
            </a:r>
            <a:r>
              <a:rPr sz="1300" b="1" dirty="0" err="1"/>
              <a:t>Reflexion</a:t>
            </a:r>
            <a:endParaRPr sz="1300" b="1" dirty="0"/>
          </a:p>
          <a:p>
            <a:r>
              <a:rPr sz="1100" b="1" dirty="0"/>
              <a:t>KERNAUSSAGE: </a:t>
            </a:r>
            <a:r>
              <a:rPr sz="1100" b="1" dirty="0" err="1"/>
              <a:t>Belegt</a:t>
            </a:r>
            <a:r>
              <a:rPr sz="1100" b="1" dirty="0"/>
              <a:t> </a:t>
            </a:r>
            <a:r>
              <a:rPr sz="1100" b="1" dirty="0" err="1"/>
              <a:t>ist</a:t>
            </a:r>
            <a:r>
              <a:rPr sz="1100" b="1" dirty="0"/>
              <a:t> die </a:t>
            </a:r>
            <a:r>
              <a:rPr sz="1100" b="1" dirty="0" err="1"/>
              <a:t>technische</a:t>
            </a:r>
            <a:r>
              <a:rPr sz="1100" b="1" dirty="0"/>
              <a:t> </a:t>
            </a:r>
            <a:r>
              <a:rPr sz="1100" b="1" dirty="0" err="1"/>
              <a:t>Realisierbarkeit</a:t>
            </a:r>
            <a:r>
              <a:rPr sz="1100" b="1" dirty="0"/>
              <a:t>. Der </a:t>
            </a:r>
            <a:r>
              <a:rPr sz="1100" b="1" dirty="0" err="1"/>
              <a:t>wirtschaftliche</a:t>
            </a:r>
            <a:r>
              <a:rPr sz="1100" b="1" dirty="0"/>
              <a:t> </a:t>
            </a:r>
            <a:r>
              <a:rPr sz="1100" b="1" dirty="0" err="1"/>
              <a:t>Nutzen</a:t>
            </a:r>
            <a:r>
              <a:rPr sz="1100" b="1" dirty="0"/>
              <a:t> </a:t>
            </a:r>
            <a:r>
              <a:rPr sz="1100" b="1" dirty="0" err="1"/>
              <a:t>wird</a:t>
            </a:r>
            <a:r>
              <a:rPr sz="1100" b="1" dirty="0"/>
              <a:t> </a:t>
            </a:r>
            <a:r>
              <a:rPr sz="1100" b="1" dirty="0" err="1"/>
              <a:t>jetzt</a:t>
            </a:r>
            <a:r>
              <a:rPr sz="1100" b="1" dirty="0"/>
              <a:t> </a:t>
            </a:r>
            <a:r>
              <a:rPr sz="1100" b="1" dirty="0" err="1"/>
              <a:t>validiert</a:t>
            </a:r>
            <a:r>
              <a:rPr sz="1100" b="1" dirty="0"/>
              <a:t>, nicht </a:t>
            </a:r>
            <a:r>
              <a:rPr sz="1100" b="1" dirty="0" err="1"/>
              <a:t>skaliert</a:t>
            </a:r>
            <a:r>
              <a:rPr sz="1100" b="1" dirty="0"/>
              <a:t>.</a:t>
            </a:r>
          </a:p>
          <a:p>
            <a:endParaRPr sz="1100" b="1" dirty="0"/>
          </a:p>
          <a:p>
            <a:r>
              <a:rPr sz="1100" dirty="0"/>
              <a:t>[Dieser Block </a:t>
            </a:r>
            <a:r>
              <a:rPr sz="1100" dirty="0" err="1"/>
              <a:t>bedient</a:t>
            </a:r>
            <a:r>
              <a:rPr sz="1100" dirty="0"/>
              <a:t> das </a:t>
            </a:r>
            <a:r>
              <a:rPr sz="1100" dirty="0" err="1"/>
              <a:t>Bewertungskriterium</a:t>
            </a:r>
            <a:r>
              <a:rPr sz="1100" dirty="0"/>
              <a:t> </a:t>
            </a:r>
            <a:r>
              <a:rPr sz="1100" dirty="0" err="1"/>
              <a:t>Reflexionsfähigkeit</a:t>
            </a:r>
            <a:r>
              <a:rPr sz="1100" dirty="0"/>
              <a:t>. Ruhig </a:t>
            </a:r>
            <a:r>
              <a:rPr sz="1100" dirty="0" err="1"/>
              <a:t>sprechen</a:t>
            </a:r>
            <a:r>
              <a:rPr sz="1100" dirty="0"/>
              <a:t>, nicht </a:t>
            </a:r>
            <a:r>
              <a:rPr sz="1100" dirty="0" err="1"/>
              <a:t>abkürzen</a:t>
            </a:r>
            <a:r>
              <a:rPr sz="1100" dirty="0"/>
              <a:t>.]</a:t>
            </a:r>
          </a:p>
          <a:p>
            <a:r>
              <a:rPr sz="1100" dirty="0"/>
              <a:t>Drei Dinge </a:t>
            </a:r>
            <a:r>
              <a:rPr sz="1100" dirty="0" err="1"/>
              <a:t>würde</a:t>
            </a:r>
            <a:r>
              <a:rPr sz="1100" dirty="0"/>
              <a:t> ich </a:t>
            </a:r>
            <a:r>
              <a:rPr sz="1100" dirty="0" err="1"/>
              <a:t>heute</a:t>
            </a:r>
            <a:r>
              <a:rPr sz="1100" dirty="0"/>
              <a:t> </a:t>
            </a:r>
            <a:r>
              <a:rPr sz="1100" dirty="0" err="1"/>
              <a:t>anders</a:t>
            </a:r>
            <a:r>
              <a:rPr sz="1100" dirty="0"/>
              <a:t> </a:t>
            </a:r>
            <a:r>
              <a:rPr sz="1100" dirty="0" err="1"/>
              <a:t>machen</a:t>
            </a:r>
            <a:r>
              <a:rPr sz="1100" dirty="0"/>
              <a:t>. |||</a:t>
            </a:r>
          </a:p>
          <a:p>
            <a:r>
              <a:rPr sz="1100" dirty="0" err="1"/>
              <a:t>Erstens die Tagesmenü-Datenlücke früher schliessen. |||</a:t>
            </a:r>
          </a:p>
          <a:p>
            <a:r>
              <a:rPr sz="1100" dirty="0" err="1"/>
              <a:t>Zweitens die weichen Positionen – Überstunden- und Stressreduktion sowie Menü-Optimierung – von Beginn an separat ausweisen, weil sie sich am wenigsten hart belegen lassen. |||</a:t>
            </a:r>
          </a:p>
          <a:p>
            <a:r>
              <a:rPr sz="1100" dirty="0" err="1"/>
              <a:t>Drittens</a:t>
            </a:r>
            <a:r>
              <a:rPr sz="1100" dirty="0"/>
              <a:t> die On-Premise-Hardware </a:t>
            </a:r>
            <a:r>
              <a:rPr sz="1100" dirty="0" err="1"/>
              <a:t>über</a:t>
            </a:r>
            <a:r>
              <a:rPr sz="1100" dirty="0"/>
              <a:t> </a:t>
            </a:r>
            <a:r>
              <a:rPr sz="1100" dirty="0" err="1"/>
              <a:t>einen</a:t>
            </a:r>
            <a:r>
              <a:rPr sz="1100" dirty="0"/>
              <a:t> </a:t>
            </a:r>
            <a:r>
              <a:rPr sz="1100" dirty="0" err="1"/>
              <a:t>geprüften</a:t>
            </a:r>
            <a:r>
              <a:rPr sz="1100" dirty="0"/>
              <a:t> </a:t>
            </a:r>
            <a:r>
              <a:rPr sz="1100" dirty="0" err="1"/>
              <a:t>Lieferanten</a:t>
            </a:r>
            <a:r>
              <a:rPr sz="1100" dirty="0"/>
              <a:t> </a:t>
            </a:r>
            <a:r>
              <a:rPr sz="1100" dirty="0" err="1"/>
              <a:t>beschaffen</a:t>
            </a:r>
            <a:r>
              <a:rPr sz="1100" dirty="0"/>
              <a:t> </a:t>
            </a:r>
            <a:r>
              <a:rPr sz="1100" dirty="0" err="1"/>
              <a:t>statt</a:t>
            </a:r>
            <a:r>
              <a:rPr sz="1100" dirty="0"/>
              <a:t> </a:t>
            </a:r>
            <a:r>
              <a:rPr sz="1100" dirty="0" err="1"/>
              <a:t>über</a:t>
            </a:r>
            <a:r>
              <a:rPr sz="1100" dirty="0"/>
              <a:t> </a:t>
            </a:r>
            <a:r>
              <a:rPr sz="1100" dirty="0" err="1"/>
              <a:t>einen</a:t>
            </a:r>
            <a:r>
              <a:rPr sz="1100" dirty="0"/>
              <a:t> Marktplatz – </a:t>
            </a:r>
            <a:r>
              <a:rPr sz="1100" dirty="0" err="1"/>
              <a:t>dieser</a:t>
            </a:r>
            <a:r>
              <a:rPr sz="1100" dirty="0"/>
              <a:t> </a:t>
            </a:r>
            <a:r>
              <a:rPr sz="1100" dirty="0" err="1"/>
              <a:t>Vorfall</a:t>
            </a:r>
            <a:r>
              <a:rPr sz="1100" dirty="0"/>
              <a:t> war </a:t>
            </a:r>
            <a:r>
              <a:rPr sz="1100" dirty="0" err="1"/>
              <a:t>vermeidbar</a:t>
            </a:r>
            <a:r>
              <a:rPr sz="1100" dirty="0"/>
              <a:t>. |||</a:t>
            </a:r>
          </a:p>
          <a:p>
            <a:r>
              <a:rPr sz="1100" dirty="0"/>
              <a:t>Und die Grenzen: Der Business Case enthält Annahmen, die Datenbasis hat Lücken, und ein einzelner Betrieb beweist keine Skalierbarkeit. ||  Eine technische Grenze habe ich selbst gefunden: Die Lernschicht gleicht eine gleichbleibende Abweichung nur zur Hälfte aus. Die Korrektur folgt nach der Prüfung – Anhang E. |||</a:t>
            </a:r>
          </a:p>
          <a:p>
            <a:r>
              <a:rPr sz="1100" dirty="0" err="1"/>
              <a:t>Deshalb</a:t>
            </a:r>
            <a:r>
              <a:rPr sz="1100" dirty="0"/>
              <a:t>: Die </a:t>
            </a:r>
            <a:r>
              <a:rPr sz="1100" dirty="0" err="1"/>
              <a:t>Machbarkeit</a:t>
            </a:r>
            <a:r>
              <a:rPr sz="1100" dirty="0"/>
              <a:t> </a:t>
            </a:r>
            <a:r>
              <a:rPr sz="1100" dirty="0" err="1"/>
              <a:t>ist</a:t>
            </a:r>
            <a:r>
              <a:rPr sz="1100" dirty="0"/>
              <a:t> </a:t>
            </a:r>
            <a:r>
              <a:rPr sz="1100" dirty="0" err="1"/>
              <a:t>belegt</a:t>
            </a:r>
            <a:r>
              <a:rPr sz="1100" dirty="0"/>
              <a:t>. Der </a:t>
            </a:r>
            <a:r>
              <a:rPr sz="1100" dirty="0" err="1"/>
              <a:t>wirtschaftliche</a:t>
            </a:r>
            <a:r>
              <a:rPr sz="1100" dirty="0"/>
              <a:t> </a:t>
            </a:r>
            <a:r>
              <a:rPr sz="1100" dirty="0" err="1"/>
              <a:t>Nutzen</a:t>
            </a:r>
            <a:r>
              <a:rPr sz="1100" dirty="0"/>
              <a:t> </a:t>
            </a:r>
            <a:r>
              <a:rPr sz="1100" dirty="0" err="1"/>
              <a:t>wird</a:t>
            </a:r>
            <a:r>
              <a:rPr sz="1100" dirty="0"/>
              <a:t> </a:t>
            </a:r>
            <a:r>
              <a:rPr sz="1100" dirty="0" err="1"/>
              <a:t>jetzt</a:t>
            </a:r>
            <a:r>
              <a:rPr sz="1100" dirty="0"/>
              <a:t> </a:t>
            </a:r>
            <a:r>
              <a:rPr sz="1100" dirty="0" err="1"/>
              <a:t>validiert</a:t>
            </a:r>
            <a:r>
              <a:rPr sz="1100" dirty="0"/>
              <a:t>, nicht </a:t>
            </a:r>
            <a:r>
              <a:rPr sz="1100" dirty="0" err="1"/>
              <a:t>skaliert</a:t>
            </a:r>
            <a:r>
              <a:rPr sz="1100"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12:25 – 13:05   ·   Schluss</a:t>
            </a:r>
          </a:p>
          <a:p>
            <a:r>
              <a:rPr sz="1100" b="1"/>
              <a:t>KERNAUSSAGE: Der Bogen schliesst sich: derselbe Tag, drei Mal gechillt.</a:t>
            </a:r>
          </a:p>
          <a:p>
            <a:endParaRPr sz="1100" b="1"/>
          </a:p>
          <a:p>
            <a:r>
              <a:rPr sz="1100"/>
              <a:t>[Wörtlich auswendig, wie der Einstieg. Langsamer werden. Danach nichts mehr sagen.]</a:t>
            </a:r>
          </a:p>
          <a:p>
            <a:r>
              <a:rPr sz="1100"/>
              <a:t>Am Anfang standen drei Uhrzeiten: ||  gechillt um zehn, |  rot um halb eins, |  tot um drei. |||</a:t>
            </a:r>
          </a:p>
          <a:p>
            <a:r>
              <a:rPr sz="1100"/>
              <a:t>SmartGastro.ai sagt Fotios nicht, wie er sein Restaurant führen muss. ||  Es gibt ihm am Morgen die Information, mit der er seine Entscheidungen trifft. |||</a:t>
            </a:r>
          </a:p>
          <a:p>
            <a:r>
              <a:rPr sz="1100"/>
              <a:t>Damit er und sein Team von zehn Uhr bis zum Schluss gechillt arbeiten. |||</a:t>
            </a:r>
          </a:p>
          <a:p>
            <a:r>
              <a:rPr sz="1100"/>
              <a:t>Vom Bauchgefühl über die Erfahrung zu den Daten. |||</a:t>
            </a:r>
          </a:p>
          <a:p>
            <a:r>
              <a:rPr sz="1100"/>
              <a:t>Vielen Dank.</a:t>
            </a:r>
          </a:p>
          <a:p>
            <a:r>
              <a:rPr sz="1100"/>
              <a:t>[Nichts mehr sagen. Blick zu den Expertinnen und Experten. Fachgespräch.]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A · Live-Demo (Rückfall)</a:t>
            </a:r>
          </a:p>
          <a:p>
            <a:endParaRPr sz="1300" b="1"/>
          </a:p>
          <a:p>
            <a:r>
              <a:rPr sz="1100"/>
              <a:t>Nur auflegen, wenn die Demo nicht läuft. Dann denselben Text sprechen – alle Zahlen stehen auf der Folie.</a:t>
            </a:r>
          </a:p>
          <a:p>
            <a:r>
              <a:rPr sz="1100"/>
              <a:t>Pflichtsatz: «Das ist das Testsystem mit hinterlegten Beispieldaten – die gemessenen Werte stehen auf Folie 7.»</a:t>
            </a:r>
          </a:p>
          <a:p>
            <a:r>
              <a:rPr sz="1100"/>
              <a:t>Falls nach dem Hosting gefragt wird: «Das Testsystem enthält nur Beispieldaten, deshalb läuft es auf Netlify. Echte Daten liegen ausschliesslich in Zürich (Supabase auf AWS).»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B · Die fünf Use Cases</a:t>
            </a:r>
          </a:p>
          <a:p>
            <a:endParaRPr sz="1300" b="1"/>
          </a:p>
          <a:p>
            <a:r>
              <a:rPr sz="1100"/>
              <a:t>Auflegen, wenn nach den Use Cases oder der Priorisierung gefragt wird und das Poster nicht reicht.</a:t>
            </a:r>
          </a:p>
          <a:p>
            <a:r>
              <a:rPr sz="1100"/>
              <a:t>Kernsatz: «UC01 liegt in keinem einzigen Kriterium hinter einem anderen Use Case – Platz 1 hält auch bei anderer Gewichtung.»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C · Backtest-Methodik</a:t>
            </a:r>
          </a:p>
          <a:p>
            <a:endParaRPr sz="1300" b="1"/>
          </a:p>
          <a:p>
            <a:r>
              <a:rPr sz="1100"/>
              <a:t>Auflegen bei jeder Frage zu NFR02, MAPE oder der Messmethode.</a:t>
            </a:r>
          </a:p>
          <a:p>
            <a:r>
              <a:rPr sz="1100"/>
              <a:t>Kernsatz: «Das Ziel unter 15 % gilt für die Top-10-Gerichte, gemessen habe ich über alle 106 Speisenartikel – unterschiedliche Grundgesamtheiten.» Falls nach Mai bis Juli gefragt wird: «Diese Monate weise ich nicht aus, weil die Kassenzeilen vom 6. April 2025 bis 2. August 2026 an 339 Tagen doppelt gezählt sind, darunter fast der ganze Juni und Juli. Der Umsatz ist davon nicht betroffen, der August praktisch nicht: Von den 17 Testtagen ist nur der 2. August doppelt gezählt.»</a:t>
            </a:r>
          </a:p>
          <a:p>
            <a:r>
              <a:rPr sz="1100"/>
              <a:t>Dazu: Pilotbetrieb, KI-Delta im Aufbau, Zielwert nach zwei vollen Saisonzyklen. Die 17 Tage sind alle Betriebstage Mittwoch bis Sonntag vom 1. bis 23. August, der Backtest lief am 25./26. August. Datenbasis (Stand 23.09.2026): 801 Verkaufstage seit 23.02.2023 als Tagesmengen; davon 698 Tage mit Kassenzeilen seit 02.01.2024, nämlich 53 sauber, 339 doppelt gezählt und 306 nur mit Tagesmengen ohne Uhrzeit. Dieselben Zahlen stehen in Anhang F. Falls gefragt, worauf der Walk-Forward gelernt hat: «Ab dem 1. Juni chronologisch auf den Kassenzeilen. Juni und Juli liegen im doppelt gezählten Zeitraum, 44 Tage; dort war das Ist zu hoch, das drückt die gelernten Korrekturen eher nach oben. Gemessen wird trotzdem eine Unterprognose von −18.5 %. Getestet wird im August, der bis auf den 2. August sauber ist. Nach der Bereinigung rechne ich den Backtest neu.» Walk-Forward-Backtest, kein Live-MAPE. Falls nach dem Wetter gefragt wird: «Der Backtest nimmt das gespeicherte Tageswetter, für vergangene Tage also das eingetretene Wetter und nicht die Vorhersage vom Vorabend. Beim Wetter ist er deshalb etwas zu optimistisch. Ab jetzt speichert das System jede Morgenprognose mit der damaligen Wettervorhersage; dann habe ich einen echten Live-Fehler.»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D · Beispielcode</a:t>
            </a:r>
          </a:p>
          <a:p>
            <a:endParaRPr sz="1300" b="1"/>
          </a:p>
          <a:p>
            <a:r>
              <a:rPr sz="1100"/>
              <a:t>Auflegen, wenn nach Code, Implementierung oder der Messmethode im Dashboard gefragt wird.</a:t>
            </a:r>
          </a:p>
          <a:p>
            <a:r>
              <a:rPr sz="1100"/>
              <a:t>Kernsatz: «Das ist die Funktion wmape() aus dem Dashboard – sie rechnet die Genauigkeit, die Sie in der Demo oben rechts sehen.»</a:t>
            </a:r>
          </a:p>
          <a:p>
            <a:r>
              <a:rPr sz="1100"/>
              <a:t>Erklären: Zähler ist die Summe der absoluten Abweichungen, Nenner die verkaufte Menge. Gewichtung über die Ist-Menge, damit seltene Artikel das Bild nicht verzerren.</a:t>
            </a:r>
          </a:p>
          <a:p>
            <a:r>
              <a:rPr sz="1100"/>
              <a:t>Zweite Funktion: dieselbe Schleife mit dem Erfahrungswert der Küche statt der Prognose – so entsteht die Vergleichsbasis. Die Differenz ist ein Genauigkeitsgewinn, kein gemessener Nutzen in Franken (Anhang G). Achtung, zwei Vergleichswerte: im Dashboard der Erfahrungswert der Küche, im Backtest (Folie 7, Anhang C) der gleiche Wochentag der Vorwoche.</a:t>
            </a:r>
          </a:p>
          <a:p>
            <a:r>
              <a:rPr sz="1100"/>
              <a:t>Abgrenzung: Der Auszug stammt aus dem Demo-Dashboard mit Beispieldaten. Im Pilotsystem rechnet dieselbe Formel im Backend auf den echten Verkaufsdaten; daher stammen die 63.0 %. Die Prognoselogik selbst läuft ebenfalls im Backend, hier zeige ich nur die Messung. Nicht verwechseln mit Folie 7: Die 43.2 % sind ein MAPE über die Tagessumme der Speisen. Diese Funktion rechnet je Artikel gewichtet – dafür steht in Anhang C 63.0 %.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E · KI-Delta</a:t>
            </a:r>
          </a:p>
          <a:p>
            <a:r>
              <a:rPr sz="1100"/>
              <a:t>Auflegen bei «Wo steckt die KI?», «Was lernt das System?» oder «Ist das überhaupt KI?».</a:t>
            </a:r>
          </a:p>
          <a:p>
            <a:endParaRPr lang="de-CH" dirty="0"/>
          </a:p>
          <a:p>
            <a:r>
              <a:rPr sz="1100"/>
              <a:t>Kernsatz: «Die Regelbasis rechnet die Grundmenge. Die KI ist die Korrekturschicht darüber: Sie lernt aus jedem Tag, um wie viele Portionen die Prognose bei einem Gericht, an einem Wochentag und bei einer Wetterlage danach noch danebenliegt. Weil sie aus diesem Restfehler lernt, gleicht sie eine gleichbleibende Abweichung nur zur Hälfte aus. Das habe ich selbst gefunden; die Korrektur ist eine Zeile und folgt nach der Prüfung, zusammen mit einem neuen Backtest.»</a:t>
            </a:r>
          </a:p>
          <a:p>
            <a:endParaRPr lang="de-CH" dirty="0"/>
          </a:p>
          <a:p>
            <a:r>
              <a:rPr sz="1100"/>
              <a:t>In vier Schritten erklären:</a:t>
            </a:r>
          </a:p>
          <a:p>
            <a:r>
              <a:rPr sz="1100"/>
              <a:t>1. Fehler messen: Nach jedem Kassenimport rechnet das System je Gericht Ist minus gespeicherte Prognose, also Regelmenge plus bisherige Korrektur. Ist kommt aus der Kasse und lässt sich von Hand korrigieren.</a:t>
            </a:r>
          </a:p>
          <a:p>
            <a:r>
              <a:rPr sz="1100"/>
              <a:t>2. Glätten: Neuer Korrekturwert = 35 % heutiger Fehler plus 65 % bisheriger Wert, ein exponentieller gleitender Mittelwert. Ein Ausreisser verschiebt wenig, eine wiederholte Abweichung setzt sich durch. Einzelne Fehler werden vorher auf ±40 begrenzt.</a:t>
            </a:r>
          </a:p>
          <a:p>
            <a:r>
              <a:rPr sz="1100"/>
              <a:t>3. Einordnen: Gelernt wird je Gericht × Wochentag × Wetterlage (kalt unter 20 °C, mild 20 bis 25 °C, warm über 25 °C) und zusätzlich je Wochentag über alle Wetterlagen. Den zweiten Wert nimmt das System, solange für die Wetterlage noch nichts gelernt ist.</a:t>
            </a:r>
          </a:p>
          <a:p>
            <a:r>
              <a:rPr sz="1100"/>
              <a:t>4. Anwenden: Nächste Prognose = Regelmenge plus Korrektur, begrenzt auf ±20 Portionen, nie unter null.</a:t>
            </a:r>
          </a:p>
          <a:p>
            <a:endParaRPr lang="de-CH" dirty="0"/>
          </a:p>
          <a:p>
            <a:r>
              <a:rPr sz="1100"/>
              <a:t>Echter Wert aus der Datenbank, Stand 24.09.2026: Schweinsschnitzel paniert, Samstag, mild: +7.1, gelernt aus 6 Samstagen.</a:t>
            </a:r>
          </a:p>
          <a:p>
            <a:r>
              <a:rPr sz="1100"/>
              <a:t>Rechenbeispiel für einen Lernschritt: Regelmenge angenommen 60, also Prognose 67. Verkauft werden 75, Fehler +8. Neuer Wert: 0.35 × 8 + 0.65 × 7.1 = 7.4. Würde die Abweichung der Regeln gelernt (75 − 60 = 15), wären es 0.35 × 15 + 0.65 × 7.1 = 9.9.</a:t>
            </a:r>
          </a:p>
          <a:p>
            <a:endParaRPr lang="de-CH" dirty="0"/>
          </a:p>
          <a:p>
            <a:r>
              <a:rPr sz="1100"/>
              <a:t>Ausverkauft: War ein Gericht ausverkauft und die Prognose zu hoch, lernt das System null statt einer Abwärtskorrektur. Die Kasse zeigt dann nur, was da war, nicht was nachgefragt wurde. Fachbegriff: zensierte Nachfrage.</a:t>
            </a:r>
          </a:p>
          <a:p>
            <a:endParaRPr lang="de-CH" dirty="0"/>
          </a:p>
          <a:p>
            <a:r>
              <a:rPr sz="1100"/>
              <a:t>«Ist das überhaupt KI?» – «Das System lernt aus Daten und passt sein Verhalten an, bewusst einfach und erklärbar, weil die Datenlage für mehr nicht reicht (Anhang F). Dazu kommen zwei KI-Funktionen mit menschlicher Freigabe: die Anlass-Suche und die Artikelzuordnung.» Kein neuronales Netz, kein Sprachmodell in der Prognose. Jeder Tag wird chronologisch und genau einmal gelernt, protokolliert in forecast_delta_learned. Kommen Daten nach, wird der alte Beitrag exakt ersetzt. XGBoost bleibt die Zielarchitektur nach zwei Saisonzyklen.</a:t>
            </a:r>
          </a:p>
          <a:p>
            <a:endParaRPr lang="de-CH" dirty="0"/>
          </a:p>
          <a:p>
            <a:r>
              <a:rPr sz="1100"/>
              <a:t>Selbst ansprechen, bevor jemand fragt: Gelernt wird aus dem Restfehler der bereits korrigierten Prognose. Bei gleichbleibender Abweichung B gilt Delta neu = 0.35 × (B − Delta) + 0.65 × Delta; das pendelt sich bei B/2 ein. Die Korrektur gleicht also nur die Hälfte aus, dazu kommen die Begrenzungen. Das trägt vermutlich zur Unterprognose von −18.5 % im Backtest bei. Die Korrektur ist eine Zeile (Ist minus Regelmenge); danach ändern sich alle Backtest-Werte, deshalb erst nach der Prüfung.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F · Weg zu Gradient Boosting</a:t>
            </a:r>
          </a:p>
          <a:p>
            <a:r>
              <a:rPr sz="1100"/>
              <a:t>Auflegen bei «Warum kein XGBoost?», «Warum zwei Saisonzyklen?» oder «Wie wechseln Sie?».</a:t>
            </a:r>
          </a:p>
          <a:p>
            <a:endParaRPr lang="de-CH" dirty="0"/>
          </a:p>
          <a:p>
            <a:r>
              <a:rPr sz="1100"/>
              <a:t>Kernsatz: «XGBoost ist meine Zielarchitektur. Ich wechsle aber nicht nach Kalender, sondern nach Beleg: frühestens nach zwei vollen Saisonzyklen und nur, wenn das Modell im Schattenbetrieb über eine ganze Saison besser ist, ohne die Erklärbarkeit zu verlieren.»</a:t>
            </a:r>
          </a:p>
          <a:p>
            <a:endParaRPr lang="de-CH" dirty="0"/>
          </a:p>
          <a:p>
            <a:r>
              <a:rPr sz="1100"/>
              <a:t>Warum nicht heute: Gradient Boosting lernt Zusammenhänge aus Beispielen, und die fehlen noch. Erst 53 von 698 Kassentagen sind sauber, 339 sind doppelt gezählt, 306 haben nur Tagesmengen ohne Uhrzeit (Stand 23.09.2026, dieselben Zahlen wie Anhang C). Anlässe gibt es erst seit dem 25.08.2026, das Tagesmenü als eigenen Datensatz seit dem 11.09.2026. Aus einem Merkmal ohne Vergangenheit lernt kein Verfahren etwas. Im Mittel liegen 3 Beobachtungen je Gericht, Wochentag und Wetter vor; darauf lernt ein Boosting-Modell Rauschen.</a:t>
            </a:r>
          </a:p>
          <a:p>
            <a:endParaRPr lang="de-CH" dirty="0"/>
          </a:p>
          <a:p>
            <a:r>
              <a:rPr sz="1100"/>
              <a:t>Warum zwei Zyklen: Der Betrieb hat zwei Welten, Sommer mit Lindengarten und Winter nur innen. Im ersten Zyklus lernt das Modell beide Welten, im zweiten wird geprüft, ob es auf einer Saison hält, die es nie gesehen hat. Mit nur einem Zyklus könnte ich nur innerhalb derselben Saison testen.</a:t>
            </a:r>
          </a:p>
          <a:p>
            <a:endParaRPr lang="de-CH" dirty="0"/>
          </a:p>
          <a:p>
            <a:r>
              <a:rPr sz="1100"/>
              <a:t>Wie: 0. Daten bereinigen, danach rund 390 saubere Tage. 1. Historie sammeln. 2. Offline trainieren: zeitlicher Split statt Zufall, Poisson-Ziel, weil Portionen Zähldaten sind, kleine Bäume, und jedes Merkmal muss am Vorabend bekannt sein. 3. Schattenbetrieb: xgb_v1 schreibt parallel in dieselben Tabellen, die Modellversion ist Teil des Schlüssels; die Küche sieht weiter rule_v3. Kein Risiko für die Küche. 4. Entscheid nach vier Kriterien.</a:t>
            </a:r>
          </a:p>
          <a:p>
            <a:endParaRPr lang="de-CH" dirty="0"/>
          </a:p>
          <a:p>
            <a:r>
              <a:rPr sz="1100"/>
              <a:t>Umschalten: Das aktive Modell steht an einer Stelle im Code (CURRENT_MODEL = "rule_v3"). Umschalten und Zurückschalten ist je eine Zeile.</a:t>
            </a:r>
          </a:p>
          <a:p>
            <a:endParaRPr lang="de-CH" dirty="0"/>
          </a:p>
          <a:p>
            <a:r>
              <a:rPr sz="1100"/>
              <a:t>Was es bringen soll: Anlass, Wetter und Wochentag zusammen lernen statt als einzelne Zuschläge, zuerst für die Gästezahl. Die Aufteilung auf die Gerichte bleibt bei der Regelbasis mit Deltas und damit erklärbar. Die Beilagen koppelt die Regelbasis heute schon mit einem festen Verhältnis an die Hauptgänge, trotzdem lagen sie bei Ist 790 gegen Prognose 441. Ein Lernverfahren könnte dieses Verhältnis aus den Daten lernen statt es fest vorzugeben. Kriterium «10 % tiefer» heisst relativ, zum Beispiel bei 63.0 % höchstens 56.7 %. Falls gefragt, warum das Delta auf so wenigen Beobachtungen lernen darf, XGBoost aber nicht: Das Delta ist durch Glättung, die Grenze von ±20 Portionen und den Rückfall auf den Wochentagswert stark gebremst. Ein Boosting-Modell mit vielen Merkmalen passt sich frei an und lernt auf dieser Basis Rauschen.</a:t>
            </a:r>
          </a:p>
          <a:p>
            <a:endParaRPr lang="de-CH" dirty="0"/>
          </a:p>
          <a:p>
            <a:r>
              <a:rPr sz="1100"/>
              <a:t>Falls gefragt: Die Termine sind Vorschlag und Planung, kein Beschluss. Zyklus 1 zählt ab dem Pilotstart im Mai 2026; das KI-Delta lernt ab dem 1. Juni 2026 chronologisch mit. Den Entscheid trifft Fotios im Quartalsreview.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G · Nutzenherleitung</a:t>
            </a:r>
          </a:p>
          <a:p>
            <a:r>
              <a:rPr sz="1100"/>
              <a:t>Auflegen bei «Woher kommen die CHF 18'750?» oder bei Nachfragen zu einer einzelnen Nutzenposition.</a:t>
            </a:r>
          </a:p>
          <a:p>
            <a:endParaRPr lang="de-CH" dirty="0"/>
          </a:p>
          <a:p>
            <a:r>
              <a:rPr sz="1100"/>
              <a:t>Kernsatz: «Keiner der vier Beträge ist schon als Einsparung gemessen. Jeder hat aber einen nachrechenbaren Rechenweg und einen externen Vergleichswert, und alle liegen am vorsichtigen Ende.»</a:t>
            </a:r>
          </a:p>
          <a:p>
            <a:endParaRPr lang="de-CH" dirty="0"/>
          </a:p>
          <a:p>
            <a:r>
              <a:rPr sz="1100"/>
              <a:t>Food Waste CHF 9'000: Ausgangswert ist die Mitte der im Betrieb genannten Bandbreite: 1'500 Franken pro Monat × 12 = 18'000 Franken pro Jahr. Ziel Halbierung: 9'000. (In der Praxisarbeit steht 18'200 = 6.9 % des Wareneinsatzes; am Ergebnis ändert das nichts.) GastroSuisse beziffert 1 kg Food Waste mit durchschnittlich CHF 24 und schreibt, dass sich rund die Hälfte einsparen lässt, was 2 bis 6 Prozent der Warenkosten entspricht. Bei 264'000 Franken Wareneinsatz sind das 5'280 bis 15'840 Franken. Meine 9'000 sind 3.4 Prozent, also mitten im Band. In Kilo: 9'000 / 24 = 375 kg pro Jahr, rund 7.5 kg pro Woche. Gemessen wird nach dem BAFU-Leitfaden Gastronomie: mindestens vier Wochen wiegen, getrennt nach Küche/Lager, Gast und Rüstabfall, Kennzahl Gramm je Hauptmahlzeit; gute Praxis in der Individualgastronomie liegt unter 45 g.</a:t>
            </a:r>
          </a:p>
          <a:p>
            <a:endParaRPr lang="de-CH" dirty="0"/>
          </a:p>
          <a:p>
            <a:r>
              <a:rPr sz="1100"/>
              <a:t>Menü-Optimierung CHF 3'750: rund 60 Tagesmenüs pro Betriebstag × 230 Tage = 13'800 Menüs. 3'750 entsprechen 27 Rappen mehr Deckungsbeitrag je Menü, also 0.5 Prozent des Umsatzes. Methode ist das Menu Engineering nach Kasavana und Smith: Gerichte nach Beliebtheit und Deckungsbeitrag einordnen, die mit hohem DB fördern, Ladenhüter streichen. Ehrlich: Das ist eine Annahme. Die oft genannten «10 bis 15 Prozent mehr Gewinn» durch Menu Engineering sind eine Praktikeraussage ohne Studie, deshalb nenne ich sie nicht als Beleg. Messbar wird die Position erst, seit das Tagesmenü ab dem 11.09.2026 täglich eingelesen wird. Warum das an UC01 hängt: Erst die Prognose liefert den Absatz je Gericht und Tag verlässlich, und das ist die Grundlage jeder Menüanalyse.</a:t>
            </a:r>
          </a:p>
          <a:p>
            <a:endParaRPr lang="de-CH" dirty="0"/>
          </a:p>
          <a:p>
            <a:r>
              <a:rPr sz="1100"/>
              <a:t>Zeitersparnis CHF 2'875: Planung von 45 auf 15 Minuten pro Tag, 30 Minuten × 230 Betriebstage = 115 Stunden × CHF 25. Zum Vergleich der L-GAV-Mindestlohn 2026 für einen Koch mit EFZ (Stufe IIIa): CHF 4'528 × 13 ÷ (42 h × 52 Wochen) = CHF 26.95 pro Stunde, ohne Sozialkosten. CHF 25 ist also vorsichtig. Einschränkung: Es ist die Zeit des Pächters, ein Opportunitätsnutzen und keine Auszahlung.</a:t>
            </a:r>
          </a:p>
          <a:p>
            <a:endParaRPr lang="de-CH" dirty="0"/>
          </a:p>
          <a:p>
            <a:r>
              <a:rPr sz="1100"/>
              <a:t>Überstunden-/Stressreduktion CHF 3'125: 2.5 Stunden Überstunden pro Person und Woche, angerechnet bewusst nur für eine Person: × 50 Wochen = 125 Stunden × CHF 25. L-GAV Art. 15: Überstunden werden durch Freizeit gleicher Dauer kompensiert oder zu 100 Prozent des Bruttolohns ausbezahlt, zu 125 Prozent, wenn Erfassung, Monatssaldo oder Auszahlung nicht korrekt sind. Im Löwenburg wird normalerweise mit Freizeit kompensiert und auf Wunsch der Mitarbeitenden ausbezahlt. Der Nutzen ist deshalb vor allem Kapazität: Jede vermiedene Überstunde ist eine bezahlte Freistunde weniger. Liquidität entsteht nur bei Auszahlung. Gegenprobe über Krankheitstage: 3'125 Franken entsprechen bei 8.4 Stunden und CHF 26.95 rund 14 Absenztagen. Über das Team von 8 Personen verteilt sind das 1.7 Tage je Kopf oder 20 Prozent der durchschnittlich 8.5 Krankheitstage je Vollzeitstelle (BFS, Arbeitsvolumenstatistik 2024). Nur Gegenprobe, nicht zusätzlich angerechnet.</a:t>
            </a:r>
          </a:p>
          <a:p>
            <a:endParaRPr lang="de-CH" dirty="0"/>
          </a:p>
          <a:p>
            <a:r>
              <a:rPr sz="1100"/>
              <a:t>Stress selbst hat keinen eigenen Frankenbetrag: Stress, Überstunden und Planungszeit haben dieselbe Ursache, die Nachproduktion in der Stosszeit. Der Stressindex (7 → 4.9) ist der Frühindikator, die Überstunden sind die Kasse. Einordnung Schweiz: Job-Stress-Index 2022 von Gesundheitsförderung Schweiz, 28.2 Prozent der Erwerbstätigen im kritischen Bereich, CHF 6.5 Mrd Produktivitätsverlust pro Jahr aus Absenzen und Präsentismus.</a:t>
            </a:r>
          </a:p>
          <a:p>
            <a:endParaRPr lang="de-CH" dirty="0"/>
          </a:p>
          <a:p>
            <a:r>
              <a:rPr sz="1100"/>
              <a:t>Untergrenze, falls gefragt: Ohne Menü- und Stressposition bleiben CHF 11'875. Jahr 1 liegt damit knapp unter den Kosten, über drei Jahre bleibt ein Plus von rund 12'700 Franken.</a:t>
            </a:r>
          </a:p>
          <a:p>
            <a:endParaRPr lang="de-CH" dirty="0"/>
          </a:p>
          <a:p>
            <a:r>
              <a:rPr sz="1100"/>
              <a:t>Quellen: gastrosuisse.ch Branchenwissen Food Waste · BAFU, Leitfaden Gastronomie zur Reduktion von Lebensmittelverlusten, Stand 03.2024 · GastroSuisse, Merkblatt Mindestlöhne L-GAV 2026 · l-gav.ch Art. 15 · BFS Arbeitsvolumenstatistik 2024 · Gesundheitsförderung Schweiz, Job-Stress-Index 2022 · Kasavana &amp; Smith (1982), Menu Engineering.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300" b="1"/>
              <a:t>ANHANG H · Benchmark</a:t>
            </a:r>
          </a:p>
          <a:p>
            <a:r>
              <a:rPr sz="1100"/>
              <a:t>Auflegen bei «Was ist daran neu?», «Gibt es das nicht schon?» oder «Warum nicht einfach kaufen?».</a:t>
            </a:r>
          </a:p>
          <a:p>
            <a:endParaRPr lang="de-CH" dirty="0"/>
          </a:p>
          <a:p>
            <a:r>
              <a:rPr sz="1100"/>
              <a:t>Kernsatz: «Prognose-Software gibt es. Die Anbieter versprechen schnellen Nutzen, meist für Ketten, Kantinen oder Bäckereien. Ich habe mich für den umgekehrten Weg entschieden: zuerst Daten sammeln und die Lernschleife laufen lassen, dann den Nutzen messen, und erst dann das grössere Modell.»</a:t>
            </a:r>
          </a:p>
          <a:p>
            <a:endParaRPr lang="de-CH" dirty="0"/>
          </a:p>
          <a:p>
            <a:r>
              <a:rPr sz="1100"/>
              <a:t>Zum Benchmark, alles Angaben der Anbieter selbst:</a:t>
            </a:r>
          </a:p>
          <a:p>
            <a:r>
              <a:rPr sz="1100"/>
              <a:t>Delicious Data (DE): Prognose aus Kasse, Wetter und Ferien, vor allem für Bäckereien und Betriebsgastronomie, «Einrichtung in wenigen Tagen», Kundenergebnis 22 Prozent weniger Retouren.</a:t>
            </a:r>
          </a:p>
          <a:p>
            <a:r>
              <a:rPr sz="1100"/>
              <a:t>Perspective Food (Baar, CH): Prognose aus Verkaufsdaten, Wetter und Saison. Laut Salz &amp; Pfeffer für kleinere Restaurants «oft noch nicht geeignet», weil gute Kassendaten nötig sind. Beispiel Clienia Schlössli: 18 Prozent weniger Food Waste im ersten Jahr, weitere 10 Prozent im zweiten. Kosten CHF 2'500 Onboarding und rund CHF 500 pro Monat für das Basisabonnement (Salz &amp; Pfeffer 2/25, 04.06.2025; heutiger Preis kann höher sein).</a:t>
            </a:r>
          </a:p>
          <a:p>
            <a:r>
              <a:rPr sz="1100"/>
              <a:t>PreciTaste (US): Prognose inklusive Anlässen und Reservationen, vor allem für Systemgastronomie; wirbt mit «85–90 % forecast accuracy», ohne die Messmethode offenzulegen.</a:t>
            </a:r>
          </a:p>
          <a:p>
            <a:r>
              <a:rPr sz="1100"/>
              <a:t>Tenzo (UK): Prognose bis drei Wochen im Voraus, nennt öffentlich keine Genauigkeit.</a:t>
            </a:r>
          </a:p>
          <a:p>
            <a:r>
              <a:rPr sz="1100"/>
              <a:t>KITRO (Zürich) und Winnow (UK): Sie prognostizieren nicht, sie messen den Abfall im Kübel, also nachdem er entstanden ist. Versprechen bis 60 bzw. 50 Prozent weniger Food Waste, vor allem für Hotels, Kantinen und Spitäler.</a:t>
            </a:r>
          </a:p>
          <a:p>
            <a:endParaRPr lang="de-CH" dirty="0"/>
          </a:p>
          <a:p>
            <a:r>
              <a:rPr sz="1100"/>
              <a:t>Wichtig, falls jemand die Zahlen vergleicht: Die 85–90 Prozent von PreciTaste und meine 43.2 Prozent MAPE sind nicht vergleichbar. Deren Methode ist nicht offengelegt; meine Zahl ist ein Walk-Forward-Backtest gegen eine naive Baseline, und die Baseline liegt bei 81.4 Prozent. Ich sage lieber eine ehrliche Zahl mit Messmethode als eine schöne ohne.</a:t>
            </a:r>
          </a:p>
          <a:p>
            <a:endParaRPr lang="de-CH" dirty="0"/>
          </a:p>
          <a:p>
            <a:r>
              <a:rPr sz="1100"/>
              <a:t>Zur Einordnung: Das KI-Delta lernt seit dem 1. Juni 2026 jeden Tag chronologisch mit, heute 3'242 Korrekturwerte. Ausverkaufte Artikel lernen nur nach oben. XGBoost kommt erst, wenn es im Schattenbetrieb über eine Saison besser ist. Dazu die Zielgruppe: ein À-la-carte-Einzelbetrieb mit wetterabhängigem Garten, für den es im Benchmark kein passendes Angebot gibt. Und der Preis: CHF 7'500 einmalig (Einrichtung/Datenbereinigung und Onboarding) plus CHF 400 pro Monat.</a:t>
            </a:r>
          </a:p>
          <a:p>
            <a:endParaRPr lang="de-CH" dirty="0"/>
          </a:p>
          <a:p>
            <a:r>
              <a:rPr sz="1100"/>
              <a:t>Gastia 2026 (22. bis 24. März, Olma Messen St. Gallen, rund 160 Ausstellende): Die Sonderschau «Fokus KI» zeigte digitale Assistenten, KI-Dienstplanung, Bewertungsmanagement und Robotik an der Rezeption. Meine Beobachtung dort und an anderen Messen: viele schnelle Lösungen, aber keine, die mir eine belegte Mengenprognose für die Küche zeigen konnte.</a:t>
            </a:r>
          </a:p>
          <a:p>
            <a:endParaRPr lang="de-CH" dirty="0"/>
          </a:p>
          <a:p>
            <a:r>
              <a:rPr sz="1100"/>
              <a:t>Formulierung vorsichtig halten: «im Benchmark kein passendes Angebot gefunden», nicht «es gibt nichts».</a:t>
            </a:r>
          </a:p>
          <a:p>
            <a:r>
              <a:rPr sz="1100"/>
              <a:t>Falls gefragt «Warum nicht das günstigere Schweizer Produkt?»: Ehrlich zugeben, dass Perspective Food günstiger ist und ein Kundenergebnis hat: Jahr 1 CHF 2'500 + 12 × 500 = 8'500 statt 12'300, über drei Jahre 20'500 statt 22'900. Der Unterschied über drei Jahre sind 2'400 Franken. Dafür: À-la-carte-Einzelbetrieb mit Garten, laut Salz &amp; Pfeffer für kleine Betriebe «oft noch nicht geeignet»; Anlässe und Tagesmenü sind eingebunden. Und der stärkste Punkt: Perspective Food braucht laut Salz &amp; Pfeffer saubere Artikelbezeichnungen aus der Kasse. Im Löwenburg wurde das Tagesmenü im POS überschrieben – meine zentrale Datenlücke aus B2. Ohne den Tagesmenü-Import hätte auch ein gekauftes Produkt diese Daten nicht gehabt. Meine Doppelrolle habe ich offengelegt, den Entscheid trifft Fotios, und nach dem Quartalsreview kann er wechseln.</a:t>
            </a:r>
          </a:p>
          <a:p>
            <a:endParaRPr lang="de-CH" dirty="0"/>
          </a:p>
          <a:p>
            <a:r>
              <a:rPr sz="1100"/>
              <a:t>Quellen: delicious-data.com · salz-pfeffer.ch «Mit Daten gegen Lebensmittelverschwendung» · precitaste.com/demand-forecasting · gotenzo.com/product-predict · kitro.ch · winnowsolutions.com · htr.ch «Fachmesse Gastia diskutiert KI konkret» · hogapage.de «Gastia 2026 rückt KI in den Fokus».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UC01 Nachfrageprognose – 4.55 / 5, Platz 1 (B3, Nutzwertanalyse).</a:t>
            </a:r>
          </a:p>
          <a:p>
            <a:endParaRPr/>
          </a:p>
          <a:p>
            <a:r>
              <a:t>So sagen: «Die Note ist vergleichend gemeint: 5 heisst bester der fünf in diesem Kriterium, nicht perfekt. Ursprünglich hatte UC01 bei Datenverfügbarkeit und Machbarkeit eine 5; absolut gelesen ist das nicht haltbar, deshalb stehen dort jetzt 4. Der Gesamtwert sinkt von 5.00 auf 4.55, die Rangfolge bleibt.»</a:t>
            </a:r>
          </a:p>
          <a:p>
            <a:endParaRPr/>
          </a:p>
          <a:p>
            <a:r>
              <a:t>Grenze: Nur CHF 11’875 des Nutzens sind hochgerechnet (Food Waste, Planungszeit); CHF 6’875 sind Annahmen (Menü, Überstunden/Stress). In Franken ist noch nichts als Einsparung gemessen.</a:t>
            </a:r>
          </a:p>
          <a:p>
            <a:endParaRPr/>
          </a:p>
          <a:p>
            <a:r>
              <a:t>Art: Beleg = steht in Dokument/Messung/Interview; Einschätzung = meine Bewertung ohne eigenen Beleg; Offen = Datenlage nicht geklärt.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UC02 Bestelloptimierung – 4.15 / 5, Platz 2 (B3, Nutzwertanalyse).</a:t>
            </a:r>
          </a:p>
          <a:p>
            <a:endParaRPr/>
          </a:p>
          <a:p>
            <a:r>
              <a:t>So sagen: «Bestelloptimierung ist keine Alternative, sondern der nächste Schritt. Ich warte bewusst: Meine Prognose liegt heute noch systematisch zu tief. Wer darauf Bestellungen automatisiert, bestellt zu wenig und erzeugt genau die Out-of-Stock-Fälle, die wir senken wollen.»</a:t>
            </a:r>
          </a:p>
          <a:p>
            <a:endParaRPr/>
          </a:p>
          <a:p>
            <a:r>
              <a:t>Grenze: Bestandsdaten klären. Die 5 bei Akzeptanz ist meine Einschätzung – beim nächsten Mal würden Fotios und Alexandra getrennt bewerten.</a:t>
            </a:r>
          </a:p>
          <a:p>
            <a:endParaRPr/>
          </a:p>
          <a:p>
            <a:r>
              <a:t>Art: Beleg = steht in Dokument/Messung/Interview; Einschätzung = meine Bewertung ohne eigenen Beleg; Offen = Datenlage nicht geklärt.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UC03 Personaleinsatzplanung – 3.85 / 5, Platz 3 (B3, Nutzwertanalyse).</a:t>
            </a:r>
          </a:p>
          <a:p>
            <a:endParaRPr/>
          </a:p>
          <a:p>
            <a:r>
              <a:t>So sagen: «UC03 baut auf derselben Gästeprognose auf. Ich habe ihn zurückgestellt, weil die Prognose zuerst tragen muss und die Personaldaten nicht im POS liegen. Er ist ein Kandidat für den Ausbau, nicht für den Start.»</a:t>
            </a:r>
          </a:p>
          <a:p>
            <a:endParaRPr/>
          </a:p>
          <a:p>
            <a:r>
              <a:t>Grenze: Drei der fünf Noten sind Einschätzungen ohne eigenen Beleg; die 3 bei Machbarkeit ist bewusst vorsichtig.</a:t>
            </a:r>
          </a:p>
          <a:p>
            <a:endParaRPr/>
          </a:p>
          <a:p>
            <a:r>
              <a:t>Art: Beleg = steht in Dokument/Messung/Interview; Einschätzung = meine Bewertung ohne eigenen Beleg; Offen = Datenlage nicht geklärt.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UC04 Anomalie-Erkennung – 3.20 / 5, Platz 4 (B3, Nutzwertanalyse).</a:t>
            </a:r>
          </a:p>
          <a:p>
            <a:endParaRPr/>
          </a:p>
          <a:p>
            <a:r>
              <a:t>So sagen: «UC04 ist nicht unwichtig, aber als Baustein sinnvoller denn als eigener Use Case: Eine einfache Ausreisserprüfung beim Import hätte die Doppelzählung von 339 Tagen gefunden. Das gehört in die Datenbereinigung von UC01.»</a:t>
            </a:r>
          </a:p>
          <a:p>
            <a:endParaRPr/>
          </a:p>
          <a:p>
            <a:r>
              <a:t>Grenze: Der Rückblick auf die 339 Tage ist meine Einschätzung im Nachhinein, keine Messung.</a:t>
            </a:r>
          </a:p>
          <a:p>
            <a:endParaRPr/>
          </a:p>
          <a:p>
            <a:r>
              <a:t>Art: Beleg = steht in Dokument/Messung/Interview; Einschätzung = meine Bewertung ohne eigenen Beleg; Offen = Datenlage nicht geklärt.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UC05 Tagesmenü-Optimierung – 2.90 / 5, Platz 5 (B3, Nutzwertanalyse).</a:t>
            </a:r>
          </a:p>
          <a:p>
            <a:endParaRPr/>
          </a:p>
          <a:p>
            <a:r>
              <a:t>So sagen: «Die 2 bei den Daten ist kein Zufall, sondern mein wichtigstes Risiko: Seit September importiere ich das Tagesmenü täglich, aber die Historie fehlt, weil der Import nicht rückwirkend ist. Selbst mit einer 3 käme UC05 nur auf 3.20 – gleichauf mit UC04, klar hinter UC03.»</a:t>
            </a:r>
          </a:p>
          <a:p>
            <a:endParaRPr/>
          </a:p>
          <a:p>
            <a:r>
              <a:t>Grenze: Die 3’750 nicht als UC05-Nutzen verkaufen: keine UC01-Funktion, nur eine Nutzenannahme der Menüdokumentation.</a:t>
            </a:r>
          </a:p>
          <a:p>
            <a:endParaRPr/>
          </a:p>
          <a:p>
            <a:r>
              <a:t>Art: Beleg = steht in Dokument/Messung/Interview; Einschätzung = meine Bewertung ohne eigenen Beleg; Offen = Datenlage nicht geklärt.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wrap="square"/>
          <a:lstStyle/>
          <a:p>
            <a:r>
              <a:rPr sz="1300" b="1"/>
              <a:t>ANHANG N · BPMN-Prozess</a:t>
            </a:r>
          </a:p>
          <a:p>
            <a:endParaRPr sz="1300" b="1"/>
          </a:p>
          <a:p>
            <a:r>
              <a:rPr sz="1100" b="1"/>
              <a:t>Auflegen bei Fragen zum Prozess, zu den Zuständigkeiten oder zum Self-Learning-Loop.</a:t>
            </a:r>
          </a:p>
          <a:p>
            <a:r>
              <a:rPr sz="1100" b="1"/>
              <a:t>Kernsatz: «Drei Bahnen beantworten die Frage, wer was tut — und der grüne Pfeil zurück nach oben ist der Lernmechanismus.»</a:t>
            </a:r>
          </a:p>
          <a:p>
            <a:endParaRPr sz="1100" b="1"/>
          </a:p>
          <a:p>
            <a:r>
              <a:rPr sz="1100" b="1"/>
              <a:t>Bahn 1 System: Timer-Startereignis 05:00, danach vier Service-Tasks. Der Ticketabruf beider Kassen läuft über das Back-Office, weil WaiterOne keinen API-Schlüssel erteilt hat.</a:t>
            </a:r>
          </a:p>
          <a:p>
            <a:r>
              <a:rPr sz="1100" b="1"/>
              <a:t>Bahn 2 Küche: Benutzer-Tasks. Das exklusive Gateway «Plausibel?» ist der Kern — entweder Mise en Place nach Prognose oder Override mit Begründung. Copilot, nicht Autopilot.</a:t>
            </a:r>
          </a:p>
          <a:p>
            <a:r>
              <a:rPr sz="1100" b="1"/>
              <a:t>Bahn 3 Externe Systeme: liefern nur auf Anfrage, deshalb gestrichelte Nachrichtenflüsse.</a:t>
            </a:r>
          </a:p>
          <a:p>
            <a:endParaRPr sz="1100" b="1"/>
          </a:p>
          <a:p>
            <a:r>
              <a:rPr sz="1100" b="1"/>
              <a:t>Falls gefragt wird, warum Bahn 3 keine echte Bahn ist: Richtig — fachlich korrekt wäre ein zweiter Pool, weil eine Bahn eine Rolle innerhalb einer Organisation ist. Ich habe sie als Bahn gezeichnet, damit das Bild auf eine Folie passt; die Trennung der Verantwortung bleibt dieselbe.</a:t>
            </a:r>
          </a:p>
          <a:p>
            <a:r>
              <a:rPr sz="1100" b="1"/>
              <a:t>Falls nach dem parallelen Gateway gefragt wird: Die vier Datenabrufe laufen technisch parallel, das wäre ein AND-Gateway mit vier Zweigen. Für die Folie zu einem Task zusammengefasst; ich sage es von mir aus dazu.</a:t>
            </a:r>
          </a:p>
          <a:p>
            <a:r>
              <a:rPr sz="1100" b="1"/>
              <a:t>Abgrenzung zu Kapitel 8.2: Dort steht die Zielarchitektur mit WaiterOne-API, Eventbrite und XGBoost. Diese Folie zeigt den Stand von heute.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smartgastro-demoforecast.netlify.ap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80808"/>
          </a:solidFill>
          <a:ln w="12700">
            <a:solidFill>
              <a:srgbClr val="080808"/>
            </a:solidFill>
            <a:prstDash val="solid"/>
          </a:ln>
        </p:spPr>
        <p:txBody>
          <a:bodyPr/>
          <a:lstStyle/>
          <a:p>
            <a:endParaRPr lang="de-CH"/>
          </a:p>
        </p:txBody>
      </p:sp>
      <p:sp>
        <p:nvSpPr>
          <p:cNvPr id="3" name="Text 1"/>
          <p:cNvSpPr/>
          <p:nvPr/>
        </p:nvSpPr>
        <p:spPr>
          <a:xfrm>
            <a:off x="274320" y="0"/>
            <a:ext cx="8595360" cy="548640"/>
          </a:xfrm>
          <a:prstGeom prst="rect">
            <a:avLst/>
          </a:prstGeom>
          <a:noFill/>
          <a:ln/>
        </p:spPr>
        <p:txBody>
          <a:bodyPr wrap="square" rtlCol="0" anchor="ctr"/>
          <a:lstStyle/>
          <a:p>
            <a:pPr marL="0" indent="0" algn="ctr">
              <a:buNone/>
            </a:pPr>
            <a:r>
              <a:rPr lang="en-US" sz="1300" b="1" i="1" dirty="0">
                <a:solidFill>
                  <a:srgbClr val="F5C518"/>
                </a:solidFill>
                <a:latin typeface="Calibri" pitchFamily="34" charset="0"/>
                <a:ea typeface="Calibri" pitchFamily="34" charset="-122"/>
                <a:cs typeface="Calibri" pitchFamily="34" charset="-120"/>
              </a:rPr>
              <a:t>«Nachproduziert in der Stosszeit und trotzdem Food Waste. DAS NERVT!»</a:t>
            </a:r>
            <a:br>
              <a:rPr lang="en-US" sz="1300" b="1" i="1" dirty="0">
                <a:solidFill>
                  <a:srgbClr val="F5C518"/>
                </a:solidFill>
                <a:latin typeface="Calibri" pitchFamily="34" charset="0"/>
                <a:ea typeface="Calibri" pitchFamily="34" charset="-122"/>
                <a:cs typeface="Calibri" pitchFamily="34" charset="-120"/>
              </a:rPr>
            </a:br>
            <a:r>
              <a:rPr lang="en-US" sz="1050" b="1" i="1" dirty="0">
                <a:solidFill>
                  <a:srgbClr val="F5C518"/>
                </a:solidFill>
                <a:latin typeface="Calibri" pitchFamily="34" charset="0"/>
                <a:ea typeface="Calibri" pitchFamily="34" charset="-122"/>
                <a:cs typeface="Calibri" pitchFamily="34" charset="-120"/>
              </a:rPr>
              <a:t>Interview Fotios </a:t>
            </a:r>
            <a:r>
              <a:rPr lang="en-US" sz="1050" b="1" i="1" dirty="0" err="1">
                <a:solidFill>
                  <a:srgbClr val="F5C518"/>
                </a:solidFill>
                <a:latin typeface="Calibri" pitchFamily="34" charset="0"/>
                <a:ea typeface="Calibri" pitchFamily="34" charset="-122"/>
                <a:cs typeface="Calibri" pitchFamily="34" charset="-120"/>
              </a:rPr>
              <a:t>Küchenchef</a:t>
            </a:r>
            <a:r>
              <a:rPr lang="en-US" sz="1050" b="1" i="1" dirty="0">
                <a:solidFill>
                  <a:srgbClr val="F5C518"/>
                </a:solidFill>
                <a:latin typeface="Calibri" pitchFamily="34" charset="0"/>
                <a:ea typeface="Calibri" pitchFamily="34" charset="-122"/>
                <a:cs typeface="Calibri" pitchFamily="34" charset="-120"/>
              </a:rPr>
              <a:t> Restaurant </a:t>
            </a:r>
            <a:r>
              <a:rPr lang="en-US" sz="1050" b="1" i="1" dirty="0" err="1">
                <a:solidFill>
                  <a:srgbClr val="F5C518"/>
                </a:solidFill>
                <a:latin typeface="Calibri" pitchFamily="34" charset="0"/>
                <a:ea typeface="Calibri" pitchFamily="34" charset="-122"/>
                <a:cs typeface="Calibri" pitchFamily="34" charset="-120"/>
              </a:rPr>
              <a:t>Löwenburg</a:t>
            </a:r>
            <a:endParaRPr lang="en-US" sz="1050" dirty="0"/>
          </a:p>
        </p:txBody>
      </p:sp>
      <p:sp>
        <p:nvSpPr>
          <p:cNvPr id="4" name="Shape 2"/>
          <p:cNvSpPr/>
          <p:nvPr/>
        </p:nvSpPr>
        <p:spPr>
          <a:xfrm>
            <a:off x="0" y="548640"/>
            <a:ext cx="9144000" cy="530352"/>
          </a:xfrm>
          <a:prstGeom prst="rect">
            <a:avLst/>
          </a:prstGeom>
          <a:solidFill>
            <a:srgbClr val="1A1A1A"/>
          </a:solidFill>
          <a:ln w="12700">
            <a:solidFill>
              <a:srgbClr val="1A1A1A"/>
            </a:solidFill>
            <a:prstDash val="solid"/>
          </a:ln>
        </p:spPr>
        <p:txBody>
          <a:bodyPr/>
          <a:lstStyle/>
          <a:p>
            <a:endParaRPr lang="de-CH"/>
          </a:p>
        </p:txBody>
      </p:sp>
      <p:sp>
        <p:nvSpPr>
          <p:cNvPr id="5" name="Text 3"/>
          <p:cNvSpPr/>
          <p:nvPr/>
        </p:nvSpPr>
        <p:spPr>
          <a:xfrm>
            <a:off x="137160" y="548640"/>
            <a:ext cx="8869680" cy="530352"/>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Das tägliche Drama: Zu wenig produziert = Stress in der Stosszeit</a:t>
            </a:r>
            <a:endParaRPr lang="en-US" sz="1900" dirty="0"/>
          </a:p>
        </p:txBody>
      </p:sp>
      <p:pic>
        <p:nvPicPr>
          <p:cNvPr id="6" name="Image 0" descr="preencoded.png"/>
          <p:cNvPicPr>
            <a:picLocks noChangeAspect="1"/>
          </p:cNvPicPr>
          <p:nvPr/>
        </p:nvPicPr>
        <p:blipFill>
          <a:blip r:embed="rId3"/>
          <a:srcRect/>
          <a:stretch/>
        </p:blipFill>
        <p:spPr>
          <a:xfrm>
            <a:off x="137160" y="1115568"/>
            <a:ext cx="2985516" cy="3090672"/>
          </a:xfrm>
          <a:prstGeom prst="rect">
            <a:avLst/>
          </a:prstGeom>
        </p:spPr>
      </p:pic>
      <p:sp>
        <p:nvSpPr>
          <p:cNvPr id="7" name="Shape 4"/>
          <p:cNvSpPr/>
          <p:nvPr/>
        </p:nvSpPr>
        <p:spPr>
          <a:xfrm>
            <a:off x="137160" y="3291840"/>
            <a:ext cx="2926080" cy="914400"/>
          </a:xfrm>
          <a:prstGeom prst="rect">
            <a:avLst/>
          </a:prstGeom>
          <a:solidFill>
            <a:srgbClr val="000000">
              <a:alpha val="70000"/>
            </a:srgbClr>
          </a:solidFill>
          <a:ln w="12700">
            <a:solidFill>
              <a:srgbClr val="000000"/>
            </a:solidFill>
            <a:prstDash val="solid"/>
          </a:ln>
        </p:spPr>
        <p:txBody>
          <a:bodyPr/>
          <a:lstStyle/>
          <a:p>
            <a:endParaRPr lang="de-CH"/>
          </a:p>
        </p:txBody>
      </p:sp>
      <p:sp>
        <p:nvSpPr>
          <p:cNvPr id="8" name="Shape 5"/>
          <p:cNvSpPr/>
          <p:nvPr/>
        </p:nvSpPr>
        <p:spPr>
          <a:xfrm>
            <a:off x="228600" y="1225296"/>
            <a:ext cx="1188720" cy="274320"/>
          </a:xfrm>
          <a:prstGeom prst="roundRect">
            <a:avLst>
              <a:gd name="adj" fmla="val 16667"/>
            </a:avLst>
          </a:prstGeom>
          <a:solidFill>
            <a:srgbClr val="000000">
              <a:alpha val="80000"/>
            </a:srgbClr>
          </a:solidFill>
          <a:ln w="12700">
            <a:solidFill>
              <a:srgbClr val="FFFFFF"/>
            </a:solidFill>
            <a:prstDash val="solid"/>
          </a:ln>
        </p:spPr>
        <p:txBody>
          <a:bodyPr/>
          <a:lstStyle/>
          <a:p>
            <a:endParaRPr lang="de-CH"/>
          </a:p>
        </p:txBody>
      </p:sp>
      <p:sp>
        <p:nvSpPr>
          <p:cNvPr id="9" name="Text 6"/>
          <p:cNvSpPr/>
          <p:nvPr/>
        </p:nvSpPr>
        <p:spPr>
          <a:xfrm>
            <a:off x="228600" y="1225296"/>
            <a:ext cx="118872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10:00 Uhr</a:t>
            </a:r>
            <a:endParaRPr lang="en-US" sz="900" dirty="0"/>
          </a:p>
        </p:txBody>
      </p:sp>
      <p:sp>
        <p:nvSpPr>
          <p:cNvPr id="10" name="Shape 7"/>
          <p:cNvSpPr/>
          <p:nvPr/>
        </p:nvSpPr>
        <p:spPr>
          <a:xfrm>
            <a:off x="137160" y="3401568"/>
            <a:ext cx="2926080" cy="493776"/>
          </a:xfrm>
          <a:prstGeom prst="rect">
            <a:avLst/>
          </a:prstGeom>
          <a:solidFill>
            <a:srgbClr val="1A7040">
              <a:alpha val="85000"/>
            </a:srgbClr>
          </a:solidFill>
          <a:ln w="12700">
            <a:solidFill>
              <a:srgbClr val="1A7040"/>
            </a:solidFill>
            <a:prstDash val="solid"/>
          </a:ln>
        </p:spPr>
        <p:txBody>
          <a:bodyPr/>
          <a:lstStyle/>
          <a:p>
            <a:endParaRPr lang="de-CH"/>
          </a:p>
        </p:txBody>
      </p:sp>
      <p:sp>
        <p:nvSpPr>
          <p:cNvPr id="11" name="Text 8"/>
          <p:cNvSpPr/>
          <p:nvPr/>
        </p:nvSpPr>
        <p:spPr>
          <a:xfrm>
            <a:off x="137160" y="3401568"/>
            <a:ext cx="2926080" cy="493776"/>
          </a:xfrm>
          <a:prstGeom prst="rect">
            <a:avLst/>
          </a:prstGeom>
          <a:noFill/>
          <a:ln/>
        </p:spPr>
        <p:txBody>
          <a:bodyPr wrap="square" rtlCol="0" anchor="ctr"/>
          <a:lstStyle/>
          <a:p>
            <a:pPr marL="0" indent="0" algn="ctr">
              <a:buNone/>
            </a:pPr>
            <a:r>
              <a:rPr lang="en-US" sz="2800" b="1" dirty="0">
                <a:solidFill>
                  <a:srgbClr val="7FFFD4"/>
                </a:solidFill>
                <a:latin typeface="Impact" pitchFamily="34" charset="0"/>
                <a:ea typeface="Impact" pitchFamily="34" charset="-122"/>
                <a:cs typeface="Impact" pitchFamily="34" charset="-120"/>
              </a:rPr>
              <a:t>GECHILLT</a:t>
            </a:r>
            <a:endParaRPr lang="en-US" sz="2800" dirty="0"/>
          </a:p>
        </p:txBody>
      </p:sp>
      <p:sp>
        <p:nvSpPr>
          <p:cNvPr id="12" name="Text 9"/>
          <p:cNvSpPr/>
          <p:nvPr/>
        </p:nvSpPr>
        <p:spPr>
          <a:xfrm>
            <a:off x="210312" y="3895344"/>
            <a:ext cx="2779776"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Mise-en-Place-Vorbereitung: Ruhe &amp; Organisation</a:t>
            </a:r>
            <a:endParaRPr lang="en-US" sz="900" dirty="0"/>
          </a:p>
        </p:txBody>
      </p:sp>
      <p:pic>
        <p:nvPicPr>
          <p:cNvPr id="13" name="Image 1" descr="preencoded.png"/>
          <p:cNvPicPr>
            <a:picLocks noChangeAspect="1"/>
          </p:cNvPicPr>
          <p:nvPr/>
        </p:nvPicPr>
        <p:blipFill>
          <a:blip r:embed="rId4"/>
          <a:srcRect/>
          <a:stretch/>
        </p:blipFill>
        <p:spPr>
          <a:xfrm>
            <a:off x="3054097" y="1124712"/>
            <a:ext cx="3063239" cy="3090672"/>
          </a:xfrm>
          <a:prstGeom prst="rect">
            <a:avLst/>
          </a:prstGeom>
        </p:spPr>
      </p:pic>
      <p:sp>
        <p:nvSpPr>
          <p:cNvPr id="14" name="Shape 10"/>
          <p:cNvSpPr/>
          <p:nvPr/>
        </p:nvSpPr>
        <p:spPr>
          <a:xfrm>
            <a:off x="3122676" y="3291840"/>
            <a:ext cx="2939796" cy="914400"/>
          </a:xfrm>
          <a:prstGeom prst="rect">
            <a:avLst/>
          </a:prstGeom>
          <a:solidFill>
            <a:srgbClr val="000000">
              <a:alpha val="80000"/>
            </a:srgbClr>
          </a:solidFill>
          <a:ln w="12700">
            <a:solidFill>
              <a:srgbClr val="000000"/>
            </a:solidFill>
            <a:prstDash val="solid"/>
          </a:ln>
        </p:spPr>
        <p:txBody>
          <a:bodyPr/>
          <a:lstStyle/>
          <a:p>
            <a:endParaRPr lang="de-CH"/>
          </a:p>
        </p:txBody>
      </p:sp>
      <p:sp>
        <p:nvSpPr>
          <p:cNvPr id="15" name="Shape 11"/>
          <p:cNvSpPr/>
          <p:nvPr/>
        </p:nvSpPr>
        <p:spPr>
          <a:xfrm>
            <a:off x="3931920" y="1196281"/>
            <a:ext cx="1371600" cy="274320"/>
          </a:xfrm>
          <a:prstGeom prst="roundRect">
            <a:avLst>
              <a:gd name="adj" fmla="val 16667"/>
            </a:avLst>
          </a:prstGeom>
          <a:solidFill>
            <a:srgbClr val="000000">
              <a:alpha val="80000"/>
            </a:srgbClr>
          </a:solidFill>
          <a:ln w="12700">
            <a:solidFill>
              <a:srgbClr val="FF2222"/>
            </a:solidFill>
            <a:prstDash val="solid"/>
          </a:ln>
        </p:spPr>
        <p:txBody>
          <a:bodyPr/>
          <a:lstStyle/>
          <a:p>
            <a:endParaRPr lang="de-CH"/>
          </a:p>
        </p:txBody>
      </p:sp>
      <p:sp>
        <p:nvSpPr>
          <p:cNvPr id="16" name="Text 12"/>
          <p:cNvSpPr/>
          <p:nvPr/>
        </p:nvSpPr>
        <p:spPr>
          <a:xfrm>
            <a:off x="3840480" y="1207359"/>
            <a:ext cx="1371600" cy="274320"/>
          </a:xfrm>
          <a:prstGeom prst="rect">
            <a:avLst/>
          </a:prstGeom>
          <a:noFill/>
          <a:ln/>
        </p:spPr>
        <p:txBody>
          <a:bodyPr wrap="square" rtlCol="0" anchor="ctr"/>
          <a:lstStyle/>
          <a:p>
            <a:pPr marL="0" indent="0" algn="ctr">
              <a:buNone/>
            </a:pPr>
            <a:r>
              <a:rPr lang="en-US" sz="900" b="1" dirty="0">
                <a:solidFill>
                  <a:srgbClr val="FF4444"/>
                </a:solidFill>
                <a:latin typeface="Calibri" pitchFamily="34" charset="0"/>
                <a:ea typeface="Calibri" pitchFamily="34" charset="-122"/>
                <a:cs typeface="Calibri" pitchFamily="34" charset="-120"/>
              </a:rPr>
              <a:t>🔥  12:30 Uhr</a:t>
            </a:r>
            <a:endParaRPr lang="en-US" sz="900" dirty="0"/>
          </a:p>
        </p:txBody>
      </p:sp>
      <p:sp>
        <p:nvSpPr>
          <p:cNvPr id="17" name="Shape 13"/>
          <p:cNvSpPr/>
          <p:nvPr/>
        </p:nvSpPr>
        <p:spPr>
          <a:xfrm>
            <a:off x="3122676" y="3409305"/>
            <a:ext cx="2926080" cy="493776"/>
          </a:xfrm>
          <a:prstGeom prst="rect">
            <a:avLst/>
          </a:prstGeom>
          <a:solidFill>
            <a:srgbClr val="880000">
              <a:alpha val="90000"/>
            </a:srgbClr>
          </a:solidFill>
          <a:ln w="12700">
            <a:solidFill>
              <a:srgbClr val="880000"/>
            </a:solidFill>
            <a:prstDash val="solid"/>
          </a:ln>
        </p:spPr>
        <p:txBody>
          <a:bodyPr/>
          <a:lstStyle/>
          <a:p>
            <a:endParaRPr lang="de-CH"/>
          </a:p>
        </p:txBody>
      </p:sp>
      <p:sp>
        <p:nvSpPr>
          <p:cNvPr id="18" name="Text 14"/>
          <p:cNvSpPr/>
          <p:nvPr/>
        </p:nvSpPr>
        <p:spPr>
          <a:xfrm>
            <a:off x="3154680" y="3401568"/>
            <a:ext cx="2880360" cy="493776"/>
          </a:xfrm>
          <a:prstGeom prst="rect">
            <a:avLst/>
          </a:prstGeom>
          <a:noFill/>
          <a:ln/>
        </p:spPr>
        <p:txBody>
          <a:bodyPr wrap="square" rtlCol="0" anchor="ctr"/>
          <a:lstStyle/>
          <a:p>
            <a:pPr marL="0" indent="0" algn="ctr">
              <a:buNone/>
            </a:pPr>
            <a:r>
              <a:rPr lang="en-US" sz="3600" b="1" dirty="0">
                <a:solidFill>
                  <a:srgbClr val="FF2222"/>
                </a:solidFill>
                <a:latin typeface="Impact" pitchFamily="34" charset="0"/>
                <a:ea typeface="Impact" pitchFamily="34" charset="-122"/>
                <a:cs typeface="Impact" pitchFamily="34" charset="-120"/>
              </a:rPr>
              <a:t>ROT</a:t>
            </a:r>
            <a:endParaRPr lang="en-US" sz="3600" dirty="0"/>
          </a:p>
        </p:txBody>
      </p:sp>
      <p:sp>
        <p:nvSpPr>
          <p:cNvPr id="19" name="Text 15"/>
          <p:cNvSpPr/>
          <p:nvPr/>
        </p:nvSpPr>
        <p:spPr>
          <a:xfrm>
            <a:off x="3227832" y="3895344"/>
            <a:ext cx="2779776"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HEKTIK &amp; STRESS: Absolute Überlastung</a:t>
            </a:r>
            <a:endParaRPr lang="en-US" sz="900" dirty="0"/>
          </a:p>
        </p:txBody>
      </p:sp>
      <p:pic>
        <p:nvPicPr>
          <p:cNvPr id="20" name="Image 2" descr="preencoded.png"/>
          <p:cNvPicPr>
            <a:picLocks noChangeAspect="1"/>
          </p:cNvPicPr>
          <p:nvPr/>
        </p:nvPicPr>
        <p:blipFill>
          <a:blip r:embed="rId5"/>
          <a:srcRect/>
          <a:stretch/>
        </p:blipFill>
        <p:spPr>
          <a:xfrm>
            <a:off x="6135624" y="1148100"/>
            <a:ext cx="2907792" cy="3090672"/>
          </a:xfrm>
          <a:prstGeom prst="rect">
            <a:avLst/>
          </a:prstGeom>
        </p:spPr>
      </p:pic>
      <p:sp>
        <p:nvSpPr>
          <p:cNvPr id="21" name="Shape 16"/>
          <p:cNvSpPr/>
          <p:nvPr/>
        </p:nvSpPr>
        <p:spPr>
          <a:xfrm>
            <a:off x="6135624" y="3291840"/>
            <a:ext cx="2962656" cy="914400"/>
          </a:xfrm>
          <a:prstGeom prst="rect">
            <a:avLst/>
          </a:prstGeom>
          <a:solidFill>
            <a:srgbClr val="000000">
              <a:alpha val="80000"/>
            </a:srgbClr>
          </a:solidFill>
          <a:ln w="12700">
            <a:solidFill>
              <a:srgbClr val="000000"/>
            </a:solidFill>
            <a:prstDash val="solid"/>
          </a:ln>
        </p:spPr>
        <p:txBody>
          <a:bodyPr/>
          <a:lstStyle/>
          <a:p>
            <a:endParaRPr lang="de-CH"/>
          </a:p>
        </p:txBody>
      </p:sp>
      <p:sp>
        <p:nvSpPr>
          <p:cNvPr id="22" name="Shape 17"/>
          <p:cNvSpPr/>
          <p:nvPr/>
        </p:nvSpPr>
        <p:spPr>
          <a:xfrm>
            <a:off x="6986016" y="1203842"/>
            <a:ext cx="1188720" cy="274320"/>
          </a:xfrm>
          <a:prstGeom prst="roundRect">
            <a:avLst>
              <a:gd name="adj" fmla="val 16667"/>
            </a:avLst>
          </a:prstGeom>
          <a:solidFill>
            <a:srgbClr val="000000">
              <a:alpha val="80000"/>
            </a:srgbClr>
          </a:solidFill>
          <a:ln w="12700">
            <a:solidFill>
              <a:srgbClr val="888888"/>
            </a:solidFill>
            <a:prstDash val="solid"/>
          </a:ln>
        </p:spPr>
        <p:txBody>
          <a:bodyPr/>
          <a:lstStyle/>
          <a:p>
            <a:endParaRPr lang="de-CH"/>
          </a:p>
        </p:txBody>
      </p:sp>
      <p:sp>
        <p:nvSpPr>
          <p:cNvPr id="23" name="Text 18"/>
          <p:cNvSpPr/>
          <p:nvPr/>
        </p:nvSpPr>
        <p:spPr>
          <a:xfrm>
            <a:off x="6926580" y="1196281"/>
            <a:ext cx="1188720" cy="274320"/>
          </a:xfrm>
          <a:prstGeom prst="rect">
            <a:avLst/>
          </a:prstGeom>
          <a:noFill/>
          <a:ln/>
        </p:spPr>
        <p:txBody>
          <a:bodyPr wrap="square" rtlCol="0" anchor="ctr"/>
          <a:lstStyle/>
          <a:p>
            <a:pPr marL="0" indent="0" algn="ctr">
              <a:buNone/>
            </a:pPr>
            <a:r>
              <a:rPr lang="en-US" sz="900" b="1" dirty="0">
                <a:solidFill>
                  <a:srgbClr val="B8C0CC"/>
                </a:solidFill>
                <a:latin typeface="Calibri" pitchFamily="34" charset="0"/>
                <a:ea typeface="Calibri" pitchFamily="34" charset="-122"/>
                <a:cs typeface="Calibri" pitchFamily="34" charset="-120"/>
              </a:rPr>
              <a:t>⏰  15:00 Uhr</a:t>
            </a:r>
            <a:endParaRPr lang="en-US" sz="900" dirty="0"/>
          </a:p>
        </p:txBody>
      </p:sp>
      <p:sp>
        <p:nvSpPr>
          <p:cNvPr id="24" name="Shape 19"/>
          <p:cNvSpPr/>
          <p:nvPr/>
        </p:nvSpPr>
        <p:spPr>
          <a:xfrm>
            <a:off x="6135624" y="3401568"/>
            <a:ext cx="2916936" cy="493776"/>
          </a:xfrm>
          <a:prstGeom prst="rect">
            <a:avLst/>
          </a:prstGeom>
          <a:solidFill>
            <a:srgbClr val="222222">
              <a:alpha val="90000"/>
            </a:srgbClr>
          </a:solidFill>
          <a:ln w="12700">
            <a:solidFill>
              <a:srgbClr val="333333"/>
            </a:solidFill>
            <a:prstDash val="solid"/>
          </a:ln>
        </p:spPr>
        <p:txBody>
          <a:bodyPr/>
          <a:lstStyle/>
          <a:p>
            <a:endParaRPr lang="de-CH"/>
          </a:p>
        </p:txBody>
      </p:sp>
      <p:sp>
        <p:nvSpPr>
          <p:cNvPr id="25" name="Text 20"/>
          <p:cNvSpPr/>
          <p:nvPr/>
        </p:nvSpPr>
        <p:spPr>
          <a:xfrm>
            <a:off x="6172200" y="3401568"/>
            <a:ext cx="2926080" cy="493776"/>
          </a:xfrm>
          <a:prstGeom prst="rect">
            <a:avLst/>
          </a:prstGeom>
          <a:noFill/>
          <a:ln/>
        </p:spPr>
        <p:txBody>
          <a:bodyPr wrap="square" rtlCol="0" anchor="ctr"/>
          <a:lstStyle/>
          <a:p>
            <a:pPr marL="0" indent="0" algn="ctr">
              <a:buNone/>
            </a:pPr>
            <a:r>
              <a:rPr lang="en-US" sz="3600" b="1" dirty="0">
                <a:solidFill>
                  <a:srgbClr val="888888"/>
                </a:solidFill>
                <a:latin typeface="Impact" pitchFamily="34" charset="0"/>
                <a:ea typeface="Impact" pitchFamily="34" charset="-122"/>
                <a:cs typeface="Impact" pitchFamily="34" charset="-120"/>
              </a:rPr>
              <a:t>TOT</a:t>
            </a:r>
            <a:endParaRPr lang="en-US" sz="3600" dirty="0"/>
          </a:p>
        </p:txBody>
      </p:sp>
      <p:sp>
        <p:nvSpPr>
          <p:cNvPr id="26" name="Text 21"/>
          <p:cNvSpPr/>
          <p:nvPr/>
        </p:nvSpPr>
        <p:spPr>
          <a:xfrm>
            <a:off x="6245352" y="3895344"/>
            <a:ext cx="2779776" cy="274320"/>
          </a:xfrm>
          <a:prstGeom prst="rect">
            <a:avLst/>
          </a:prstGeom>
          <a:noFill/>
          <a:ln/>
        </p:spPr>
        <p:txBody>
          <a:bodyPr wrap="square" rtlCol="0" anchor="ctr"/>
          <a:lstStyle/>
          <a:p>
            <a:pPr marL="0" indent="0" algn="ctr">
              <a:buNone/>
            </a:pPr>
            <a:r>
              <a:rPr lang="en-US" sz="900" b="1" dirty="0">
                <a:solidFill>
                  <a:srgbClr val="B8C0CC"/>
                </a:solidFill>
                <a:latin typeface="Calibri" pitchFamily="34" charset="0"/>
                <a:ea typeface="Calibri" pitchFamily="34" charset="-122"/>
                <a:cs typeface="Calibri" pitchFamily="34" charset="-120"/>
              </a:rPr>
              <a:t>Erschöpfung &amp; Food Waste</a:t>
            </a:r>
            <a:endParaRPr lang="en-US" sz="900" dirty="0"/>
          </a:p>
        </p:txBody>
      </p:sp>
      <p:sp>
        <p:nvSpPr>
          <p:cNvPr id="27" name="Shape 22"/>
          <p:cNvSpPr/>
          <p:nvPr/>
        </p:nvSpPr>
        <p:spPr>
          <a:xfrm>
            <a:off x="0" y="4245279"/>
            <a:ext cx="9144000" cy="914400"/>
          </a:xfrm>
          <a:prstGeom prst="rect">
            <a:avLst/>
          </a:prstGeom>
          <a:solidFill>
            <a:srgbClr val="080808"/>
          </a:solidFill>
          <a:ln w="12700">
            <a:solidFill>
              <a:srgbClr val="080808"/>
            </a:solidFill>
            <a:prstDash val="solid"/>
          </a:ln>
        </p:spPr>
        <p:txBody>
          <a:bodyPr/>
          <a:lstStyle/>
          <a:p>
            <a:endParaRPr lang="de-CH"/>
          </a:p>
        </p:txBody>
      </p:sp>
      <p:sp>
        <p:nvSpPr>
          <p:cNvPr id="28" name="Shape 23"/>
          <p:cNvSpPr/>
          <p:nvPr/>
        </p:nvSpPr>
        <p:spPr>
          <a:xfrm>
            <a:off x="0" y="4224528"/>
            <a:ext cx="3044952" cy="45720"/>
          </a:xfrm>
          <a:prstGeom prst="rect">
            <a:avLst/>
          </a:prstGeom>
          <a:solidFill>
            <a:srgbClr val="1A7040"/>
          </a:solidFill>
          <a:ln w="12700">
            <a:solidFill>
              <a:srgbClr val="1A7040"/>
            </a:solidFill>
            <a:prstDash val="solid"/>
          </a:ln>
        </p:spPr>
        <p:txBody>
          <a:bodyPr/>
          <a:lstStyle/>
          <a:p>
            <a:endParaRPr lang="de-CH"/>
          </a:p>
        </p:txBody>
      </p:sp>
      <p:sp>
        <p:nvSpPr>
          <p:cNvPr id="29" name="Shape 24"/>
          <p:cNvSpPr/>
          <p:nvPr/>
        </p:nvSpPr>
        <p:spPr>
          <a:xfrm>
            <a:off x="3063240" y="4218021"/>
            <a:ext cx="3054096" cy="45720"/>
          </a:xfrm>
          <a:prstGeom prst="rect">
            <a:avLst/>
          </a:prstGeom>
          <a:solidFill>
            <a:srgbClr val="C0392B"/>
          </a:solidFill>
          <a:ln w="12700">
            <a:solidFill>
              <a:srgbClr val="C0392B"/>
            </a:solidFill>
            <a:prstDash val="solid"/>
          </a:ln>
        </p:spPr>
        <p:txBody>
          <a:bodyPr/>
          <a:lstStyle/>
          <a:p>
            <a:endParaRPr lang="de-CH"/>
          </a:p>
        </p:txBody>
      </p:sp>
      <p:sp>
        <p:nvSpPr>
          <p:cNvPr id="30" name="Shape 25"/>
          <p:cNvSpPr/>
          <p:nvPr/>
        </p:nvSpPr>
        <p:spPr>
          <a:xfrm>
            <a:off x="6099048" y="4224528"/>
            <a:ext cx="3044952" cy="45720"/>
          </a:xfrm>
          <a:prstGeom prst="rect">
            <a:avLst/>
          </a:prstGeom>
          <a:solidFill>
            <a:srgbClr val="444444"/>
          </a:solidFill>
          <a:ln w="12700">
            <a:solidFill>
              <a:srgbClr val="444444"/>
            </a:solidFill>
            <a:prstDash val="solid"/>
          </a:ln>
        </p:spPr>
        <p:txBody>
          <a:bodyPr/>
          <a:lstStyle/>
          <a:p>
            <a:endParaRPr lang="de-CH"/>
          </a:p>
        </p:txBody>
      </p:sp>
      <p:sp>
        <p:nvSpPr>
          <p:cNvPr id="31" name="Text 26"/>
          <p:cNvSpPr/>
          <p:nvPr/>
        </p:nvSpPr>
        <p:spPr>
          <a:xfrm>
            <a:off x="182880" y="4270248"/>
            <a:ext cx="8778240" cy="804672"/>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Praxisprojekt eidg. AI Business Specialist von Thomas Ballinari 2026-00941</a:t>
            </a:r>
            <a:endParaRPr lang="en-US" sz="1400" dirty="0"/>
          </a:p>
        </p:txBody>
      </p:sp>
      <p:sp>
        <p:nvSpPr>
          <p:cNvPr id="32" name="Text 27"/>
          <p:cNvSpPr/>
          <p:nvPr/>
        </p:nvSpPr>
        <p:spPr>
          <a:xfrm>
            <a:off x="8151101" y="4833257"/>
            <a:ext cx="901459" cy="259951"/>
          </a:xfrm>
          <a:prstGeom prst="rect">
            <a:avLst/>
          </a:prstGeom>
          <a:noFill/>
          <a:ln/>
        </p:spPr>
        <p:txBody>
          <a:bodyPr wrap="square" rtlCol="0" anchor="ctr"/>
          <a:lstStyle/>
          <a:p>
            <a:pPr marL="0" indent="0" algn="ctr">
              <a:buNone/>
            </a:pPr>
            <a:r>
              <a:rPr lang="en-US" sz="1600" b="1" dirty="0">
                <a:solidFill>
                  <a:srgbClr val="7A8494"/>
                </a:solidFill>
              </a:rPr>
              <a:t>01 / 11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1  Ausgangslage</a:t>
            </a:r>
          </a:p>
        </p:txBody>
      </p:sp>
      <p:sp>
        <p:nvSpPr>
          <p:cNvPr id="3" name="Rounded Rectangle 2"/>
          <p:cNvSpPr/>
          <p:nvPr/>
        </p:nvSpPr>
        <p:spPr>
          <a:xfrm>
            <a:off x="540000"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Ein Betrieb, der aus Erfahrung plant</a:t>
            </a:r>
          </a:p>
        </p:txBody>
      </p:sp>
      <p:sp>
        <p:nvSpPr>
          <p:cNvPr id="13" name="Rounded Rectangle 12"/>
          <p:cNvSpPr/>
          <p:nvPr/>
        </p:nvSpPr>
        <p:spPr>
          <a:xfrm>
            <a:off x="540000" y="1332000"/>
            <a:ext cx="2570400" cy="194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40000" y="1332000"/>
            <a:ext cx="2570400" cy="576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56000" y="1638000"/>
            <a:ext cx="2138400" cy="324000"/>
          </a:xfrm>
          <a:prstGeom prst="rect">
            <a:avLst/>
          </a:prstGeom>
          <a:noFill/>
        </p:spPr>
        <p:txBody>
          <a:bodyPr wrap="square" lIns="0" tIns="0" rIns="0" bIns="0" anchor="t">
            <a:spAutoFit/>
          </a:bodyPr>
          <a:lstStyle/>
          <a:p>
            <a:pPr algn="l"/>
            <a:r>
              <a:rPr sz="1700" b="1" i="0">
                <a:solidFill>
                  <a:srgbClr val="FFFFFF"/>
                </a:solidFill>
                <a:latin typeface="Calibri"/>
              </a:rPr>
              <a:t>Auftraggeber</a:t>
            </a:r>
          </a:p>
        </p:txBody>
      </p:sp>
      <p:sp>
        <p:nvSpPr>
          <p:cNvPr id="16" name="TextBox 15"/>
          <p:cNvSpPr txBox="1"/>
          <p:nvPr/>
        </p:nvSpPr>
        <p:spPr>
          <a:xfrm>
            <a:off x="756000" y="2088000"/>
            <a:ext cx="2138400" cy="864000"/>
          </a:xfrm>
          <a:prstGeom prst="rect">
            <a:avLst/>
          </a:prstGeom>
          <a:noFill/>
        </p:spPr>
        <p:txBody>
          <a:bodyPr wrap="square" lIns="0" tIns="0" rIns="0" bIns="0" anchor="t">
            <a:spAutoFit/>
          </a:bodyPr>
          <a:lstStyle/>
          <a:p>
            <a:pPr algn="l">
              <a:lnSpc>
                <a:spcPct val="130000"/>
              </a:lnSpc>
            </a:pPr>
            <a:r>
              <a:rPr sz="1600" b="0" i="0">
                <a:solidFill>
                  <a:srgbClr val="B9BEC8"/>
                </a:solidFill>
                <a:latin typeface="Calibri"/>
              </a:rPr>
              <a:t>Fotios Kleidaras</a:t>
            </a:r>
          </a:p>
          <a:p>
            <a:pPr algn="l">
              <a:lnSpc>
                <a:spcPct val="130000"/>
              </a:lnSpc>
              <a:spcBef>
                <a:spcPts val="400"/>
              </a:spcBef>
            </a:pPr>
            <a:r>
              <a:rPr sz="1600" b="0" i="0">
                <a:solidFill>
                  <a:srgbClr val="B9BEC8"/>
                </a:solidFill>
                <a:latin typeface="Calibri"/>
              </a:rPr>
              <a:t>Pächter und Küchenchef</a:t>
            </a:r>
          </a:p>
        </p:txBody>
      </p:sp>
      <p:sp>
        <p:nvSpPr>
          <p:cNvPr id="17" name="Rounded Rectangle 16"/>
          <p:cNvSpPr/>
          <p:nvPr/>
        </p:nvSpPr>
        <p:spPr>
          <a:xfrm>
            <a:off x="3286799" y="1332000"/>
            <a:ext cx="2570400" cy="194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3286799" y="1332000"/>
            <a:ext cx="2570400" cy="576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502799" y="1638000"/>
            <a:ext cx="2138400" cy="324000"/>
          </a:xfrm>
          <a:prstGeom prst="rect">
            <a:avLst/>
          </a:prstGeom>
          <a:noFill/>
        </p:spPr>
        <p:txBody>
          <a:bodyPr wrap="square" lIns="0" tIns="0" rIns="0" bIns="0" anchor="t">
            <a:spAutoFit/>
          </a:bodyPr>
          <a:lstStyle/>
          <a:p>
            <a:pPr algn="l"/>
            <a:r>
              <a:rPr sz="1700" b="1" i="0">
                <a:solidFill>
                  <a:srgbClr val="FFFFFF"/>
                </a:solidFill>
                <a:latin typeface="Calibri"/>
              </a:rPr>
              <a:t>Ziel</a:t>
            </a:r>
          </a:p>
        </p:txBody>
      </p:sp>
      <p:sp>
        <p:nvSpPr>
          <p:cNvPr id="20" name="TextBox 19"/>
          <p:cNvSpPr txBox="1"/>
          <p:nvPr/>
        </p:nvSpPr>
        <p:spPr>
          <a:xfrm>
            <a:off x="3502799" y="2088000"/>
            <a:ext cx="2138400" cy="864000"/>
          </a:xfrm>
          <a:prstGeom prst="rect">
            <a:avLst/>
          </a:prstGeom>
          <a:noFill/>
        </p:spPr>
        <p:txBody>
          <a:bodyPr wrap="square" lIns="0" tIns="0" rIns="0" bIns="0" anchor="t">
            <a:spAutoFit/>
          </a:bodyPr>
          <a:lstStyle/>
          <a:p>
            <a:pPr algn="l">
              <a:lnSpc>
                <a:spcPct val="130000"/>
              </a:lnSpc>
            </a:pPr>
            <a:r>
              <a:rPr sz="1600" b="0" i="0">
                <a:solidFill>
                  <a:srgbClr val="B9BEC8"/>
                </a:solidFill>
                <a:latin typeface="Calibri"/>
              </a:rPr>
              <a:t>Fünf Use Cases bewerten,</a:t>
            </a:r>
          </a:p>
          <a:p>
            <a:pPr algn="l">
              <a:lnSpc>
                <a:spcPct val="130000"/>
              </a:lnSpc>
              <a:spcBef>
                <a:spcPts val="400"/>
              </a:spcBef>
            </a:pPr>
            <a:r>
              <a:rPr sz="1600" b="0" i="0">
                <a:solidFill>
                  <a:srgbClr val="B9BEC8"/>
                </a:solidFill>
                <a:latin typeface="Calibri"/>
              </a:rPr>
              <a:t>den besten bis zum Prototyp</a:t>
            </a:r>
          </a:p>
        </p:txBody>
      </p:sp>
      <p:sp>
        <p:nvSpPr>
          <p:cNvPr id="21" name="Rounded Rectangle 20"/>
          <p:cNvSpPr/>
          <p:nvPr/>
        </p:nvSpPr>
        <p:spPr>
          <a:xfrm>
            <a:off x="6033599" y="1332000"/>
            <a:ext cx="2570400" cy="194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6033599" y="1332000"/>
            <a:ext cx="2570400" cy="576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49600" y="1638000"/>
            <a:ext cx="2138400" cy="324000"/>
          </a:xfrm>
          <a:prstGeom prst="rect">
            <a:avLst/>
          </a:prstGeom>
          <a:noFill/>
        </p:spPr>
        <p:txBody>
          <a:bodyPr wrap="square" lIns="0" tIns="0" rIns="0" bIns="0" anchor="t">
            <a:spAutoFit/>
          </a:bodyPr>
          <a:lstStyle/>
          <a:p>
            <a:pPr algn="l"/>
            <a:r>
              <a:rPr sz="1700" b="1" i="0">
                <a:solidFill>
                  <a:srgbClr val="FFFFFF"/>
                </a:solidFill>
                <a:latin typeface="Calibri"/>
              </a:rPr>
              <a:t>Abgrenzung</a:t>
            </a:r>
          </a:p>
        </p:txBody>
      </p:sp>
      <p:sp>
        <p:nvSpPr>
          <p:cNvPr id="24" name="TextBox 23"/>
          <p:cNvSpPr txBox="1"/>
          <p:nvPr/>
        </p:nvSpPr>
        <p:spPr>
          <a:xfrm>
            <a:off x="6249600" y="2088000"/>
            <a:ext cx="2138400" cy="864000"/>
          </a:xfrm>
          <a:prstGeom prst="rect">
            <a:avLst/>
          </a:prstGeom>
          <a:noFill/>
        </p:spPr>
        <p:txBody>
          <a:bodyPr wrap="square" lIns="0" tIns="0" rIns="0" bIns="0" anchor="t">
            <a:spAutoFit/>
          </a:bodyPr>
          <a:lstStyle/>
          <a:p>
            <a:pPr algn="l">
              <a:lnSpc>
                <a:spcPct val="130000"/>
              </a:lnSpc>
            </a:pPr>
            <a:r>
              <a:rPr sz="1600" b="0" i="0">
                <a:solidFill>
                  <a:srgbClr val="B9BEC8"/>
                </a:solidFill>
                <a:latin typeface="Calibri"/>
              </a:rPr>
              <a:t>Kein Rollout auf</a:t>
            </a:r>
          </a:p>
          <a:p>
            <a:pPr algn="l">
              <a:lnSpc>
                <a:spcPct val="130000"/>
              </a:lnSpc>
              <a:spcBef>
                <a:spcPts val="400"/>
              </a:spcBef>
            </a:pPr>
            <a:r>
              <a:rPr sz="1600" b="0" i="0">
                <a:solidFill>
                  <a:srgbClr val="B9BEC8"/>
                </a:solidFill>
                <a:latin typeface="Calibri"/>
              </a:rPr>
              <a:t>weitere Betriebe</a:t>
            </a:r>
          </a:p>
        </p:txBody>
      </p:sp>
      <p:sp>
        <p:nvSpPr>
          <p:cNvPr id="25" name="Rounded Rectangle 24"/>
          <p:cNvSpPr/>
          <p:nvPr/>
        </p:nvSpPr>
        <p:spPr>
          <a:xfrm>
            <a:off x="540000" y="3600000"/>
            <a:ext cx="8063999" cy="936000"/>
          </a:xfrm>
          <a:prstGeom prst="roundRect">
            <a:avLst>
              <a:gd name="adj" fmla="val 6000"/>
            </a:avLst>
          </a:prstGeom>
          <a:solidFill>
            <a:srgbClr val="2B18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27999" y="3744000"/>
            <a:ext cx="7487999" cy="251999"/>
          </a:xfrm>
          <a:prstGeom prst="rect">
            <a:avLst/>
          </a:prstGeom>
          <a:noFill/>
        </p:spPr>
        <p:txBody>
          <a:bodyPr wrap="square" lIns="0" tIns="0" rIns="0" bIns="0" anchor="t">
            <a:spAutoFit/>
          </a:bodyPr>
          <a:lstStyle/>
          <a:p>
            <a:pPr algn="l"/>
            <a:r>
              <a:rPr sz="1400" b="1" i="0">
                <a:solidFill>
                  <a:srgbClr val="FF6B35"/>
                </a:solidFill>
                <a:latin typeface="Calibri"/>
              </a:rPr>
              <a:t>Restaurant Löwenburg, CH-9464 Lienz</a:t>
            </a:r>
          </a:p>
        </p:txBody>
      </p:sp>
      <p:sp>
        <p:nvSpPr>
          <p:cNvPr id="27" name="TextBox 26"/>
          <p:cNvSpPr txBox="1"/>
          <p:nvPr/>
        </p:nvSpPr>
        <p:spPr>
          <a:xfrm>
            <a:off x="827999" y="4031999"/>
            <a:ext cx="7487999" cy="360000"/>
          </a:xfrm>
          <a:prstGeom prst="rect">
            <a:avLst/>
          </a:prstGeom>
          <a:noFill/>
        </p:spPr>
        <p:txBody>
          <a:bodyPr wrap="square" lIns="0" tIns="0" rIns="0" bIns="0" anchor="t">
            <a:spAutoFit/>
          </a:bodyPr>
          <a:lstStyle/>
          <a:p>
            <a:pPr algn="l"/>
            <a:r>
              <a:rPr sz="1900" b="1" i="0">
                <a:solidFill>
                  <a:srgbClr val="FFFFFF"/>
                </a:solidFill>
                <a:latin typeface="Calibri"/>
              </a:rPr>
              <a:t>120 Sitzplätze innen · 185 aussen · an Spitzentagen 400 bis 500 Gäste</a:t>
            </a:r>
          </a:p>
        </p:txBody>
      </p:sp>
      <p:sp>
        <p:nvSpPr>
          <p:cNvPr id="28" name="TextBox 27"/>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9" name="TextBox 28"/>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02 / 11</a:t>
            </a:r>
          </a:p>
        </p:txBody>
      </p:sp>
      <p:sp>
        <p:nvSpPr>
          <p:cNvPr id="30"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31"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1  Ausgangslage</a:t>
            </a:r>
          </a:p>
        </p:txBody>
      </p:sp>
      <p:sp>
        <p:nvSpPr>
          <p:cNvPr id="3" name="Rounded Rectangle 2"/>
          <p:cNvSpPr/>
          <p:nvPr/>
        </p:nvSpPr>
        <p:spPr>
          <a:xfrm>
            <a:off x="540000"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Was die Fehlplanung kostet</a:t>
            </a:r>
          </a:p>
        </p:txBody>
      </p:sp>
      <p:sp>
        <p:nvSpPr>
          <p:cNvPr id="13" name="Rounded Rectangle 12"/>
          <p:cNvSpPr/>
          <p:nvPr/>
        </p:nvSpPr>
        <p:spPr>
          <a:xfrm>
            <a:off x="540000" y="1332000"/>
            <a:ext cx="1894499" cy="158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5999" y="1382624"/>
            <a:ext cx="1642499" cy="684000"/>
          </a:xfrm>
          <a:prstGeom prst="rect">
            <a:avLst/>
          </a:prstGeom>
          <a:noFill/>
        </p:spPr>
        <p:txBody>
          <a:bodyPr wrap="square" lIns="0" tIns="0" rIns="0" bIns="0" anchor="ctr">
            <a:spAutoFit/>
          </a:bodyPr>
          <a:lstStyle/>
          <a:p>
            <a:pPr algn="ctr"/>
            <a:r>
              <a:rPr sz="1700" b="1" i="0" dirty="0">
                <a:solidFill>
                  <a:srgbClr val="FF6B35"/>
                </a:solidFill>
                <a:latin typeface="Calibri"/>
              </a:rPr>
              <a:t>CHF 1’000–2’000</a:t>
            </a:r>
          </a:p>
        </p:txBody>
      </p:sp>
      <p:sp>
        <p:nvSpPr>
          <p:cNvPr id="15" name="TextBox 14"/>
          <p:cNvSpPr txBox="1"/>
          <p:nvPr/>
        </p:nvSpPr>
        <p:spPr>
          <a:xfrm>
            <a:off x="655759" y="2003058"/>
            <a:ext cx="1642499" cy="396000"/>
          </a:xfrm>
          <a:prstGeom prst="rect">
            <a:avLst/>
          </a:prstGeom>
          <a:noFill/>
        </p:spPr>
        <p:txBody>
          <a:bodyPr wrap="square" lIns="0" tIns="0" rIns="0" bIns="0" anchor="t">
            <a:spAutoFit/>
          </a:bodyPr>
          <a:lstStyle/>
          <a:p>
            <a:pPr algn="ctr"/>
            <a:r>
              <a:rPr sz="1300" b="0" i="0" dirty="0">
                <a:solidFill>
                  <a:srgbClr val="B9BEC8"/>
                </a:solidFill>
                <a:latin typeface="Calibri"/>
              </a:rPr>
              <a:t>Food Waste pro Monat</a:t>
            </a:r>
          </a:p>
        </p:txBody>
      </p:sp>
      <p:sp>
        <p:nvSpPr>
          <p:cNvPr id="16" name="Rounded Rectangle 15"/>
          <p:cNvSpPr/>
          <p:nvPr/>
        </p:nvSpPr>
        <p:spPr>
          <a:xfrm>
            <a:off x="2560498" y="1332000"/>
            <a:ext cx="1894499" cy="158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700000" y="1368000"/>
            <a:ext cx="1642499" cy="684000"/>
          </a:xfrm>
          <a:prstGeom prst="rect">
            <a:avLst/>
          </a:prstGeom>
          <a:noFill/>
        </p:spPr>
        <p:txBody>
          <a:bodyPr wrap="square" lIns="0" tIns="0" rIns="0" bIns="0" anchor="ctr">
            <a:spAutoFit/>
          </a:bodyPr>
          <a:lstStyle/>
          <a:p>
            <a:pPr algn="ctr"/>
            <a:r>
              <a:rPr sz="3000" b="1" i="0" dirty="0">
                <a:solidFill>
                  <a:srgbClr val="FF6B35"/>
                </a:solidFill>
                <a:latin typeface="Calibri"/>
              </a:rPr>
              <a:t>45 Min.</a:t>
            </a:r>
          </a:p>
        </p:txBody>
      </p:sp>
      <p:sp>
        <p:nvSpPr>
          <p:cNvPr id="18" name="TextBox 17"/>
          <p:cNvSpPr txBox="1"/>
          <p:nvPr/>
        </p:nvSpPr>
        <p:spPr>
          <a:xfrm>
            <a:off x="2648665" y="2003058"/>
            <a:ext cx="1642499" cy="396000"/>
          </a:xfrm>
          <a:prstGeom prst="rect">
            <a:avLst/>
          </a:prstGeom>
          <a:noFill/>
        </p:spPr>
        <p:txBody>
          <a:bodyPr wrap="square" lIns="0" tIns="0" rIns="0" bIns="0" anchor="t">
            <a:spAutoFit/>
          </a:bodyPr>
          <a:lstStyle/>
          <a:p>
            <a:pPr algn="ctr"/>
            <a:r>
              <a:rPr sz="1300" b="0" i="0" dirty="0" err="1">
                <a:solidFill>
                  <a:srgbClr val="B9BEC8"/>
                </a:solidFill>
                <a:latin typeface="Calibri"/>
              </a:rPr>
              <a:t>Planung</a:t>
            </a:r>
            <a:r>
              <a:rPr sz="1300" b="0" i="0" dirty="0">
                <a:solidFill>
                  <a:srgbClr val="B9BEC8"/>
                </a:solidFill>
                <a:latin typeface="Calibri"/>
              </a:rPr>
              <a:t> pro Tag</a:t>
            </a:r>
          </a:p>
        </p:txBody>
      </p:sp>
      <p:sp>
        <p:nvSpPr>
          <p:cNvPr id="19" name="Rounded Rectangle 18"/>
          <p:cNvSpPr/>
          <p:nvPr/>
        </p:nvSpPr>
        <p:spPr>
          <a:xfrm>
            <a:off x="4637368" y="1332000"/>
            <a:ext cx="1894499" cy="158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778998" y="1368000"/>
            <a:ext cx="1642499" cy="684000"/>
          </a:xfrm>
          <a:prstGeom prst="rect">
            <a:avLst/>
          </a:prstGeom>
          <a:noFill/>
        </p:spPr>
        <p:txBody>
          <a:bodyPr wrap="square" lIns="0" tIns="0" rIns="0" bIns="0" anchor="ctr">
            <a:spAutoFit/>
          </a:bodyPr>
          <a:lstStyle/>
          <a:p>
            <a:pPr algn="ctr"/>
            <a:r>
              <a:rPr sz="3000" b="1" i="0" dirty="0">
                <a:solidFill>
                  <a:srgbClr val="FF6B35"/>
                </a:solidFill>
                <a:latin typeface="Calibri"/>
              </a:rPr>
              <a:t>12</a:t>
            </a:r>
          </a:p>
        </p:txBody>
      </p:sp>
      <p:sp>
        <p:nvSpPr>
          <p:cNvPr id="21" name="TextBox 20"/>
          <p:cNvSpPr txBox="1"/>
          <p:nvPr/>
        </p:nvSpPr>
        <p:spPr>
          <a:xfrm>
            <a:off x="4778999" y="1998000"/>
            <a:ext cx="1642499" cy="396000"/>
          </a:xfrm>
          <a:prstGeom prst="rect">
            <a:avLst/>
          </a:prstGeom>
          <a:noFill/>
        </p:spPr>
        <p:txBody>
          <a:bodyPr wrap="square" lIns="0" tIns="0" rIns="0" bIns="0" anchor="t">
            <a:spAutoFit/>
          </a:bodyPr>
          <a:lstStyle/>
          <a:p>
            <a:pPr algn="ctr"/>
            <a:r>
              <a:rPr sz="1300" b="0" i="0" dirty="0">
                <a:solidFill>
                  <a:srgbClr val="B9BEC8"/>
                </a:solidFill>
                <a:latin typeface="Calibri"/>
              </a:rPr>
              <a:t>Out-of-Stock pro Monat</a:t>
            </a:r>
          </a:p>
        </p:txBody>
      </p:sp>
      <p:sp>
        <p:nvSpPr>
          <p:cNvPr id="22" name="Rounded Rectangle 21"/>
          <p:cNvSpPr/>
          <p:nvPr/>
        </p:nvSpPr>
        <p:spPr>
          <a:xfrm>
            <a:off x="6709500" y="1332000"/>
            <a:ext cx="1894499" cy="1584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835499" y="1386000"/>
            <a:ext cx="1642499" cy="684000"/>
          </a:xfrm>
          <a:prstGeom prst="rect">
            <a:avLst/>
          </a:prstGeom>
          <a:noFill/>
        </p:spPr>
        <p:txBody>
          <a:bodyPr wrap="square" lIns="0" tIns="0" rIns="0" bIns="0" anchor="ctr">
            <a:spAutoFit/>
          </a:bodyPr>
          <a:lstStyle/>
          <a:p>
            <a:pPr algn="ctr"/>
            <a:r>
              <a:rPr sz="3000" b="1" i="0" dirty="0">
                <a:solidFill>
                  <a:srgbClr val="FF6B35"/>
                </a:solidFill>
                <a:latin typeface="Calibri"/>
              </a:rPr>
              <a:t>7 von 10</a:t>
            </a:r>
          </a:p>
        </p:txBody>
      </p:sp>
      <p:sp>
        <p:nvSpPr>
          <p:cNvPr id="24" name="TextBox 23"/>
          <p:cNvSpPr txBox="1"/>
          <p:nvPr/>
        </p:nvSpPr>
        <p:spPr>
          <a:xfrm>
            <a:off x="6835497" y="2001291"/>
            <a:ext cx="1642499" cy="396000"/>
          </a:xfrm>
          <a:prstGeom prst="rect">
            <a:avLst/>
          </a:prstGeom>
          <a:noFill/>
        </p:spPr>
        <p:txBody>
          <a:bodyPr wrap="square" lIns="0" tIns="0" rIns="0" bIns="0" anchor="t">
            <a:spAutoFit/>
          </a:bodyPr>
          <a:lstStyle/>
          <a:p>
            <a:pPr algn="ctr"/>
            <a:r>
              <a:rPr sz="1300" b="0" i="0" dirty="0" err="1">
                <a:solidFill>
                  <a:srgbClr val="B9BEC8"/>
                </a:solidFill>
                <a:latin typeface="Calibri"/>
              </a:rPr>
              <a:t>Stresslevel</a:t>
            </a:r>
            <a:r>
              <a:rPr sz="1300" b="0" i="0" dirty="0">
                <a:solidFill>
                  <a:srgbClr val="B9BEC8"/>
                </a:solidFill>
                <a:latin typeface="Calibri"/>
              </a:rPr>
              <a:t> </a:t>
            </a:r>
            <a:r>
              <a:rPr sz="1300" b="0" i="0" dirty="0" err="1">
                <a:solidFill>
                  <a:srgbClr val="B9BEC8"/>
                </a:solidFill>
                <a:latin typeface="Calibri"/>
              </a:rPr>
              <a:t>im</a:t>
            </a:r>
            <a:r>
              <a:rPr sz="1300" b="0" i="0" dirty="0">
                <a:solidFill>
                  <a:srgbClr val="B9BEC8"/>
                </a:solidFill>
                <a:latin typeface="Calibri"/>
              </a:rPr>
              <a:t> Team</a:t>
            </a:r>
          </a:p>
        </p:txBody>
      </p:sp>
      <p:sp>
        <p:nvSpPr>
          <p:cNvPr id="25" name="Rounded Rectangle 24"/>
          <p:cNvSpPr/>
          <p:nvPr/>
        </p:nvSpPr>
        <p:spPr>
          <a:xfrm>
            <a:off x="540000" y="3060000"/>
            <a:ext cx="8063999" cy="936000"/>
          </a:xfrm>
          <a:prstGeom prst="roundRect">
            <a:avLst>
              <a:gd name="adj" fmla="val 6000"/>
            </a:avLst>
          </a:prstGeom>
          <a:no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27999" y="3204000"/>
            <a:ext cx="7487999" cy="288000"/>
          </a:xfrm>
          <a:prstGeom prst="rect">
            <a:avLst/>
          </a:prstGeom>
          <a:noFill/>
        </p:spPr>
        <p:txBody>
          <a:bodyPr wrap="square" lIns="0" tIns="0" rIns="0" bIns="0" anchor="t">
            <a:spAutoFit/>
          </a:bodyPr>
          <a:lstStyle/>
          <a:p>
            <a:pPr algn="l"/>
            <a:r>
              <a:rPr sz="1500" b="1" i="0">
                <a:solidFill>
                  <a:srgbClr val="FF6B35"/>
                </a:solidFill>
                <a:latin typeface="Calibri"/>
              </a:rPr>
              <a:t>Samstagmittag</a:t>
            </a:r>
          </a:p>
        </p:txBody>
      </p:sp>
      <p:sp>
        <p:nvSpPr>
          <p:cNvPr id="27" name="TextBox 26"/>
          <p:cNvSpPr txBox="1"/>
          <p:nvPr/>
        </p:nvSpPr>
        <p:spPr>
          <a:xfrm>
            <a:off x="827999" y="3491999"/>
            <a:ext cx="7487999" cy="369332"/>
          </a:xfrm>
          <a:prstGeom prst="rect">
            <a:avLst/>
          </a:prstGeom>
          <a:noFill/>
        </p:spPr>
        <p:txBody>
          <a:bodyPr wrap="square" lIns="0" tIns="0" rIns="0" bIns="0" anchor="t">
            <a:spAutoFit/>
          </a:bodyPr>
          <a:lstStyle/>
          <a:p>
            <a:pPr algn="l"/>
            <a:r>
              <a:rPr sz="2400" b="1" i="0" dirty="0">
                <a:solidFill>
                  <a:srgbClr val="FFFFFF"/>
                </a:solidFill>
                <a:latin typeface="Calibri"/>
              </a:rPr>
              <a:t>40 Schnitzel </a:t>
            </a:r>
            <a:r>
              <a:rPr sz="2400" b="1" i="0" dirty="0" err="1">
                <a:solidFill>
                  <a:srgbClr val="FFFFFF"/>
                </a:solidFill>
                <a:latin typeface="Calibri"/>
              </a:rPr>
              <a:t>vorbereitet</a:t>
            </a:r>
            <a:r>
              <a:rPr sz="2400" b="1" i="0" dirty="0">
                <a:solidFill>
                  <a:srgbClr val="FFFFFF"/>
                </a:solidFill>
                <a:latin typeface="Calibri"/>
              </a:rPr>
              <a:t> — 97 </a:t>
            </a:r>
            <a:r>
              <a:rPr sz="2400" b="1" i="0" dirty="0" err="1">
                <a:solidFill>
                  <a:srgbClr val="FFFFFF"/>
                </a:solidFill>
                <a:latin typeface="Calibri"/>
              </a:rPr>
              <a:t>gebraucht</a:t>
            </a:r>
            <a:endParaRPr sz="2400" b="1" i="0" dirty="0">
              <a:solidFill>
                <a:srgbClr val="FFFFFF"/>
              </a:solidFill>
              <a:latin typeface="Calibri"/>
            </a:endParaRPr>
          </a:p>
        </p:txBody>
      </p:sp>
      <p:sp>
        <p:nvSpPr>
          <p:cNvPr id="28" name="TextBox 27"/>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9" name="TextBox 28"/>
          <p:cNvSpPr txBox="1"/>
          <p:nvPr/>
        </p:nvSpPr>
        <p:spPr>
          <a:xfrm>
            <a:off x="5183999" y="4770000"/>
            <a:ext cx="3420000" cy="246221"/>
          </a:xfrm>
          <a:prstGeom prst="rect">
            <a:avLst/>
          </a:prstGeom>
          <a:noFill/>
        </p:spPr>
        <p:txBody>
          <a:bodyPr wrap="square" lIns="0" tIns="0" rIns="0" bIns="0" anchor="t">
            <a:spAutoFit/>
          </a:bodyPr>
          <a:lstStyle/>
          <a:p>
            <a:pPr algn="r"/>
            <a:r>
              <a:rPr sz="1600" b="1" i="0" dirty="0">
                <a:solidFill>
                  <a:schemeClr val="tx1">
                    <a:lumMod val="50000"/>
                    <a:lumOff val="50000"/>
                  </a:schemeClr>
                </a:solidFill>
                <a:latin typeface="Calibri"/>
              </a:rPr>
              <a:t>B2  ·  03 / 11</a:t>
            </a:r>
          </a:p>
        </p:txBody>
      </p:sp>
      <p:sp>
        <p:nvSpPr>
          <p:cNvPr id="31" name="TextBox 13">
            <a:extLst>
              <a:ext uri="{FF2B5EF4-FFF2-40B4-BE49-F238E27FC236}">
                <a16:creationId xmlns:a16="http://schemas.microsoft.com/office/drawing/2014/main" id="{58630B1E-306C-3B5C-8EAA-1D9A2CED58FC}"/>
              </a:ext>
            </a:extLst>
          </p:cNvPr>
          <p:cNvSpPr txBox="1"/>
          <p:nvPr/>
        </p:nvSpPr>
        <p:spPr>
          <a:xfrm>
            <a:off x="625736" y="2373360"/>
            <a:ext cx="1642499" cy="261610"/>
          </a:xfrm>
          <a:prstGeom prst="rect">
            <a:avLst/>
          </a:prstGeom>
          <a:noFill/>
        </p:spPr>
        <p:txBody>
          <a:bodyPr wrap="square" lIns="0" tIns="0" rIns="0" bIns="0" anchor="ctr">
            <a:spAutoFit/>
          </a:bodyPr>
          <a:lstStyle/>
          <a:p>
            <a:pPr algn="ctr"/>
            <a:r>
              <a:rPr lang="de-CH" sz="1700" b="1" i="0" dirty="0">
                <a:solidFill>
                  <a:schemeClr val="accent6">
                    <a:lumMod val="60000"/>
                    <a:lumOff val="40000"/>
                  </a:schemeClr>
                </a:solidFill>
                <a:latin typeface="Calibri"/>
              </a:rPr>
              <a:t>Ziel: -50%</a:t>
            </a:r>
            <a:endParaRPr sz="1700" b="1" i="0" dirty="0">
              <a:solidFill>
                <a:schemeClr val="accent6">
                  <a:lumMod val="60000"/>
                  <a:lumOff val="40000"/>
                </a:schemeClr>
              </a:solidFill>
              <a:latin typeface="Calibri"/>
            </a:endParaRPr>
          </a:p>
        </p:txBody>
      </p:sp>
      <p:sp>
        <p:nvSpPr>
          <p:cNvPr id="33" name="TextBox 13">
            <a:extLst>
              <a:ext uri="{FF2B5EF4-FFF2-40B4-BE49-F238E27FC236}">
                <a16:creationId xmlns:a16="http://schemas.microsoft.com/office/drawing/2014/main" id="{D1EE5FAA-D0B3-90A3-64CC-4C39F445EB97}"/>
              </a:ext>
            </a:extLst>
          </p:cNvPr>
          <p:cNvSpPr txBox="1"/>
          <p:nvPr/>
        </p:nvSpPr>
        <p:spPr>
          <a:xfrm>
            <a:off x="2648665" y="2381333"/>
            <a:ext cx="1642499" cy="261610"/>
          </a:xfrm>
          <a:prstGeom prst="rect">
            <a:avLst/>
          </a:prstGeom>
          <a:noFill/>
        </p:spPr>
        <p:txBody>
          <a:bodyPr wrap="square" lIns="0" tIns="0" rIns="0" bIns="0" anchor="ctr">
            <a:spAutoFit/>
          </a:bodyPr>
          <a:lstStyle/>
          <a:p>
            <a:pPr algn="ctr"/>
            <a:r>
              <a:rPr lang="de-CH" sz="1700" b="1" i="0" dirty="0">
                <a:solidFill>
                  <a:schemeClr val="accent6">
                    <a:lumMod val="60000"/>
                    <a:lumOff val="40000"/>
                  </a:schemeClr>
                </a:solidFill>
                <a:latin typeface="Calibri"/>
              </a:rPr>
              <a:t>Ziel: 15 Min.</a:t>
            </a:r>
            <a:endParaRPr sz="1700" b="1" i="0" dirty="0">
              <a:solidFill>
                <a:schemeClr val="accent6">
                  <a:lumMod val="60000"/>
                  <a:lumOff val="40000"/>
                </a:schemeClr>
              </a:solidFill>
              <a:latin typeface="Calibri"/>
            </a:endParaRPr>
          </a:p>
        </p:txBody>
      </p:sp>
      <p:sp>
        <p:nvSpPr>
          <p:cNvPr id="35" name="TextBox 13">
            <a:extLst>
              <a:ext uri="{FF2B5EF4-FFF2-40B4-BE49-F238E27FC236}">
                <a16:creationId xmlns:a16="http://schemas.microsoft.com/office/drawing/2014/main" id="{4A80E7D8-4C7D-0338-FD42-F577B889FE52}"/>
              </a:ext>
            </a:extLst>
          </p:cNvPr>
          <p:cNvSpPr txBox="1"/>
          <p:nvPr/>
        </p:nvSpPr>
        <p:spPr>
          <a:xfrm>
            <a:off x="4763367" y="2373360"/>
            <a:ext cx="1642499" cy="261610"/>
          </a:xfrm>
          <a:prstGeom prst="rect">
            <a:avLst/>
          </a:prstGeom>
          <a:noFill/>
        </p:spPr>
        <p:txBody>
          <a:bodyPr wrap="square" lIns="0" tIns="0" rIns="0" bIns="0" anchor="ctr">
            <a:spAutoFit/>
          </a:bodyPr>
          <a:lstStyle/>
          <a:p>
            <a:pPr algn="ctr"/>
            <a:r>
              <a:rPr lang="de-CH" sz="1700" b="1" i="0" dirty="0">
                <a:solidFill>
                  <a:schemeClr val="accent6">
                    <a:lumMod val="60000"/>
                    <a:lumOff val="40000"/>
                  </a:schemeClr>
                </a:solidFill>
                <a:latin typeface="Calibri"/>
              </a:rPr>
              <a:t>Ziel: 3/Monat</a:t>
            </a:r>
            <a:endParaRPr sz="1700" b="1" i="0" dirty="0">
              <a:solidFill>
                <a:schemeClr val="accent6">
                  <a:lumMod val="60000"/>
                  <a:lumOff val="40000"/>
                </a:schemeClr>
              </a:solidFill>
              <a:latin typeface="Calibri"/>
            </a:endParaRPr>
          </a:p>
        </p:txBody>
      </p:sp>
      <p:sp>
        <p:nvSpPr>
          <p:cNvPr id="37" name="TextBox 13">
            <a:extLst>
              <a:ext uri="{FF2B5EF4-FFF2-40B4-BE49-F238E27FC236}">
                <a16:creationId xmlns:a16="http://schemas.microsoft.com/office/drawing/2014/main" id="{33BCE735-8AB2-4956-66A6-FD0B31102816}"/>
              </a:ext>
            </a:extLst>
          </p:cNvPr>
          <p:cNvSpPr txBox="1"/>
          <p:nvPr/>
        </p:nvSpPr>
        <p:spPr>
          <a:xfrm>
            <a:off x="6835498" y="2381333"/>
            <a:ext cx="1642499" cy="261610"/>
          </a:xfrm>
          <a:prstGeom prst="rect">
            <a:avLst/>
          </a:prstGeom>
          <a:noFill/>
        </p:spPr>
        <p:txBody>
          <a:bodyPr wrap="square" lIns="0" tIns="0" rIns="0" bIns="0" anchor="ctr">
            <a:spAutoFit/>
          </a:bodyPr>
          <a:lstStyle/>
          <a:p>
            <a:pPr algn="ctr"/>
            <a:r>
              <a:rPr lang="de-CH" sz="1700" b="1" i="0" dirty="0">
                <a:solidFill>
                  <a:schemeClr val="accent6">
                    <a:lumMod val="60000"/>
                    <a:lumOff val="40000"/>
                  </a:schemeClr>
                </a:solidFill>
                <a:latin typeface="Calibri"/>
              </a:rPr>
              <a:t>Ziel: 4 von 10</a:t>
            </a:r>
            <a:endParaRPr sz="1700" b="1" i="0" dirty="0">
              <a:solidFill>
                <a:schemeClr val="accent6">
                  <a:lumMod val="60000"/>
                  <a:lumOff val="40000"/>
                </a:schemeClr>
              </a:solidFill>
              <a:latin typeface="Calibri"/>
            </a:endParaRPr>
          </a:p>
        </p:txBody>
      </p:sp>
      <p:sp>
        <p:nvSpPr>
          <p:cNvPr id="40" name="Stress_heute"/>
          <p:cNvSpPr txBox="1"/>
          <p:nvPr/>
        </p:nvSpPr>
        <p:spPr>
          <a:xfrm>
            <a:off x="6749500" y="2640000"/>
            <a:ext cx="1814499" cy="260000"/>
          </a:xfrm>
          <a:prstGeom prst="rect">
            <a:avLst/>
          </a:prstGeom>
          <a:noFill/>
        </p:spPr>
        <p:txBody>
          <a:bodyPr wrap="none" lIns="0" tIns="0" rIns="0" bIns="0" anchor="ctr">
            <a:spAutoFit/>
          </a:bodyPr>
          <a:lstStyle/>
          <a:p>
            <a:pPr algn="ctr"/>
            <a:r>
              <a:rPr lang="de-CH" sz="1400" b="1" i="0" dirty="0">
                <a:solidFill>
                  <a:schemeClr val="accent6">
                    <a:lumMod val="60000"/>
                    <a:lumOff val="40000"/>
                  </a:schemeClr>
                </a:solidFill>
                <a:latin typeface="Calibri"/>
              </a:rPr>
              <a:t>zuletzt 4.9 (05/2026)</a:t>
            </a:r>
            <a:endParaRPr sz="1100" b="1" i="0" dirty="0">
              <a:solidFill>
                <a:schemeClr val="accent6">
                  <a:lumMod val="60000"/>
                  <a:lumOff val="40000"/>
                </a:schemeClr>
              </a:solidFill>
              <a:latin typeface="Calibri"/>
            </a:endParaRPr>
          </a:p>
        </p:txBody>
      </p:sp>
      <p:sp>
        <p:nvSpPr>
          <p:cNvPr id="38"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39"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2  Auswahl</a:t>
            </a:r>
          </a:p>
        </p:txBody>
      </p:sp>
      <p:sp>
        <p:nvSpPr>
          <p:cNvPr id="5" name="Rounded Rectangle 4"/>
          <p:cNvSpPr/>
          <p:nvPr/>
        </p:nvSpPr>
        <p:spPr>
          <a:xfrm>
            <a:off x="1903199"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Fünf Use Cases, einer gewinnt</a:t>
            </a:r>
          </a:p>
        </p:txBody>
      </p:sp>
      <p:sp>
        <p:nvSpPr>
          <p:cNvPr id="13" name="Rounded Rectangle 12"/>
          <p:cNvSpPr/>
          <p:nvPr/>
        </p:nvSpPr>
        <p:spPr>
          <a:xfrm>
            <a:off x="540000" y="1368000"/>
            <a:ext cx="4104000" cy="2232000"/>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4000" y="1584000"/>
            <a:ext cx="3168000" cy="251999"/>
          </a:xfrm>
          <a:prstGeom prst="rect">
            <a:avLst/>
          </a:prstGeom>
          <a:noFill/>
        </p:spPr>
        <p:txBody>
          <a:bodyPr wrap="square" lIns="0" tIns="0" rIns="0" bIns="0" anchor="t">
            <a:spAutoFit/>
          </a:bodyPr>
          <a:lstStyle/>
          <a:p>
            <a:pPr algn="l"/>
            <a:r>
              <a:rPr sz="1300" b="1" i="0">
                <a:solidFill>
                  <a:srgbClr val="22C55E"/>
                </a:solidFill>
                <a:latin typeface="Calibri"/>
              </a:rPr>
              <a:t>PRIORITÄT 1</a:t>
            </a:r>
          </a:p>
        </p:txBody>
      </p:sp>
      <p:sp>
        <p:nvSpPr>
          <p:cNvPr id="15" name="TextBox 14"/>
          <p:cNvSpPr txBox="1"/>
          <p:nvPr/>
        </p:nvSpPr>
        <p:spPr>
          <a:xfrm>
            <a:off x="864000" y="1872000"/>
            <a:ext cx="3528000" cy="432000"/>
          </a:xfrm>
          <a:prstGeom prst="rect">
            <a:avLst/>
          </a:prstGeom>
          <a:noFill/>
        </p:spPr>
        <p:txBody>
          <a:bodyPr wrap="square" lIns="0" tIns="0" rIns="0" bIns="0" anchor="t">
            <a:spAutoFit/>
          </a:bodyPr>
          <a:lstStyle/>
          <a:p>
            <a:pPr algn="l"/>
            <a:r>
              <a:rPr sz="2400" b="1" i="0">
                <a:solidFill>
                  <a:srgbClr val="FFFFFF"/>
                </a:solidFill>
                <a:latin typeface="Calibri"/>
              </a:rPr>
              <a:t>UC01 Nachfrageprognose</a:t>
            </a:r>
          </a:p>
        </p:txBody>
      </p:sp>
      <p:sp>
        <p:nvSpPr>
          <p:cNvPr id="16" name="TextBox 15"/>
          <p:cNvSpPr txBox="1"/>
          <p:nvPr/>
        </p:nvSpPr>
        <p:spPr>
          <a:xfrm>
            <a:off x="864000" y="2484000"/>
            <a:ext cx="3528000" cy="864000"/>
          </a:xfrm>
          <a:prstGeom prst="rect">
            <a:avLst/>
          </a:prstGeom>
          <a:noFill/>
        </p:spPr>
        <p:txBody>
          <a:bodyPr wrap="square" lIns="0" tIns="0" rIns="0" bIns="0" anchor="t">
            <a:spAutoFit/>
          </a:bodyPr>
          <a:lstStyle/>
          <a:p>
            <a:pPr algn="l"/>
            <a:r>
              <a:rPr sz="5200" b="1" i="0">
                <a:solidFill>
                  <a:srgbClr val="22C55E"/>
                </a:solidFill>
                <a:latin typeface="Calibri"/>
              </a:rPr>
              <a:t>4.55</a:t>
            </a:r>
          </a:p>
        </p:txBody>
      </p:sp>
      <p:sp>
        <p:nvSpPr>
          <p:cNvPr id="17" name="TextBox 16"/>
          <p:cNvSpPr txBox="1"/>
          <p:nvPr/>
        </p:nvSpPr>
        <p:spPr>
          <a:xfrm>
            <a:off x="2808000" y="3024000"/>
            <a:ext cx="1655999" cy="288000"/>
          </a:xfrm>
          <a:prstGeom prst="rect">
            <a:avLst/>
          </a:prstGeom>
          <a:noFill/>
        </p:spPr>
        <p:txBody>
          <a:bodyPr wrap="square" lIns="0" tIns="0" rIns="0" bIns="0" anchor="t">
            <a:spAutoFit/>
          </a:bodyPr>
          <a:lstStyle/>
          <a:p>
            <a:pPr algn="l"/>
            <a:r>
              <a:rPr sz="1400" b="0" i="0">
                <a:solidFill>
                  <a:srgbClr val="B9BEC8"/>
                </a:solidFill>
                <a:latin typeface="Calibri"/>
              </a:rPr>
              <a:t>gewichteter Nutzwert</a:t>
            </a:r>
          </a:p>
        </p:txBody>
      </p:sp>
      <p:sp>
        <p:nvSpPr>
          <p:cNvPr id="18" name="TextBox 17"/>
          <p:cNvSpPr txBox="1"/>
          <p:nvPr/>
        </p:nvSpPr>
        <p:spPr>
          <a:xfrm>
            <a:off x="4968000" y="1655999"/>
            <a:ext cx="3635999" cy="1152000"/>
          </a:xfrm>
          <a:prstGeom prst="rect">
            <a:avLst/>
          </a:prstGeom>
          <a:noFill/>
        </p:spPr>
        <p:txBody>
          <a:bodyPr wrap="square" lIns="0" tIns="0" rIns="0" bIns="0" anchor="t">
            <a:spAutoFit/>
          </a:bodyPr>
          <a:lstStyle/>
          <a:p>
            <a:pPr algn="l">
              <a:lnSpc>
                <a:spcPct val="125000"/>
              </a:lnSpc>
            </a:pPr>
            <a:r>
              <a:rPr sz="2200" b="1" i="0">
                <a:solidFill>
                  <a:srgbClr val="FFFFFF"/>
                </a:solidFill>
                <a:latin typeface="Calibri"/>
              </a:rPr>
              <a:t>In keinem Kriterium hinter einem anderen Use Case.</a:t>
            </a:r>
          </a:p>
        </p:txBody>
      </p:sp>
      <p:sp>
        <p:nvSpPr>
          <p:cNvPr id="19" name="TextBox 18"/>
          <p:cNvSpPr txBox="1"/>
          <p:nvPr/>
        </p:nvSpPr>
        <p:spPr>
          <a:xfrm>
            <a:off x="4968000" y="2951999"/>
            <a:ext cx="3635999" cy="555730"/>
          </a:xfrm>
          <a:prstGeom prst="rect">
            <a:avLst/>
          </a:prstGeom>
          <a:noFill/>
        </p:spPr>
        <p:txBody>
          <a:bodyPr wrap="square" lIns="0" tIns="0" rIns="0" bIns="0" anchor="t">
            <a:spAutoFit/>
          </a:bodyPr>
          <a:lstStyle/>
          <a:p>
            <a:pPr algn="l">
              <a:lnSpc>
                <a:spcPct val="125000"/>
              </a:lnSpc>
            </a:pPr>
            <a:r>
              <a:rPr sz="1500" b="0" i="0" dirty="0">
                <a:solidFill>
                  <a:srgbClr val="B9BEC8"/>
                </a:solidFill>
                <a:latin typeface="Calibri"/>
              </a:rPr>
              <a:t>Platz 1 hält auch, </a:t>
            </a:r>
            <a:r>
              <a:rPr sz="1500" b="0" i="0" dirty="0" err="1">
                <a:solidFill>
                  <a:srgbClr val="B9BEC8"/>
                </a:solidFill>
                <a:latin typeface="Calibri"/>
              </a:rPr>
              <a:t>wenn</a:t>
            </a:r>
            <a:r>
              <a:rPr sz="1500" b="0" i="0" dirty="0">
                <a:solidFill>
                  <a:srgbClr val="B9BEC8"/>
                </a:solidFill>
                <a:latin typeface="Calibri"/>
              </a:rPr>
              <a:t> Sie die </a:t>
            </a:r>
            <a:r>
              <a:rPr sz="1500" b="0" i="0" dirty="0" err="1">
                <a:solidFill>
                  <a:srgbClr val="B9BEC8"/>
                </a:solidFill>
                <a:latin typeface="Calibri"/>
              </a:rPr>
              <a:t>Gewichte</a:t>
            </a:r>
            <a:r>
              <a:rPr sz="1500" b="0" i="0" dirty="0">
                <a:solidFill>
                  <a:srgbClr val="B9BEC8"/>
                </a:solidFill>
                <a:latin typeface="Calibri"/>
              </a:rPr>
              <a:t> </a:t>
            </a:r>
            <a:r>
              <a:rPr sz="1500" b="0" i="0" dirty="0" err="1">
                <a:solidFill>
                  <a:srgbClr val="B9BEC8"/>
                </a:solidFill>
                <a:latin typeface="Calibri"/>
              </a:rPr>
              <a:t>anders</a:t>
            </a:r>
            <a:r>
              <a:rPr sz="1500" b="0" i="0" dirty="0">
                <a:solidFill>
                  <a:srgbClr val="B9BEC8"/>
                </a:solidFill>
                <a:latin typeface="Calibri"/>
              </a:rPr>
              <a:t> </a:t>
            </a:r>
            <a:r>
              <a:rPr sz="1500" b="0" i="0" dirty="0" err="1">
                <a:solidFill>
                  <a:srgbClr val="B9BEC8"/>
                </a:solidFill>
                <a:latin typeface="Calibri"/>
              </a:rPr>
              <a:t>setzen</a:t>
            </a:r>
            <a:endParaRPr sz="1500" b="0" i="0" dirty="0">
              <a:solidFill>
                <a:srgbClr val="B9BEC8"/>
              </a:solidFill>
              <a:latin typeface="Calibri"/>
            </a:endParaRPr>
          </a:p>
        </p:txBody>
      </p:sp>
      <p:sp>
        <p:nvSpPr>
          <p:cNvPr id="20" name="Rounded Rectangle 19"/>
          <p:cNvSpPr/>
          <p:nvPr/>
        </p:nvSpPr>
        <p:spPr>
          <a:xfrm>
            <a:off x="540000" y="3888000"/>
            <a:ext cx="8063999" cy="612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hlinkClick r:id="rId3" action="ppaction://hlinksldjump"/>
          </p:cNvPr>
          <p:cNvSpPr txBox="1"/>
          <p:nvPr/>
        </p:nvSpPr>
        <p:spPr>
          <a:xfrm>
            <a:off x="827999" y="4078584"/>
            <a:ext cx="7487999" cy="230832"/>
          </a:xfrm>
          <a:prstGeom prst="rect">
            <a:avLst/>
          </a:prstGeom>
          <a:noFill/>
        </p:spPr>
        <p:txBody>
          <a:bodyPr wrap="square" lIns="0" tIns="0" rIns="0" bIns="0" anchor="ctr">
            <a:spAutoFit/>
          </a:bodyPr>
          <a:lstStyle/>
          <a:p>
            <a:pPr algn="l"/>
            <a:r>
              <a:rPr sz="1500" b="1" i="0" dirty="0">
                <a:solidFill>
                  <a:srgbClr val="FF6B35"/>
                </a:solidFill>
                <a:latin typeface="Calibri"/>
              </a:rPr>
              <a:t>Alle </a:t>
            </a:r>
            <a:r>
              <a:rPr sz="1500" b="1" i="0" dirty="0" err="1">
                <a:solidFill>
                  <a:srgbClr val="FF6B35"/>
                </a:solidFill>
                <a:latin typeface="Calibri"/>
              </a:rPr>
              <a:t>fünf</a:t>
            </a:r>
            <a:r>
              <a:rPr sz="1500" b="1" i="0" dirty="0">
                <a:solidFill>
                  <a:srgbClr val="FF6B35"/>
                </a:solidFill>
                <a:latin typeface="Calibri"/>
              </a:rPr>
              <a:t> Use Cases und die </a:t>
            </a:r>
            <a:r>
              <a:rPr sz="1500" b="1" i="0" dirty="0" err="1">
                <a:solidFill>
                  <a:srgbClr val="FF6B35"/>
                </a:solidFill>
                <a:latin typeface="Calibri"/>
              </a:rPr>
              <a:t>vollständige</a:t>
            </a:r>
            <a:r>
              <a:rPr sz="1500" b="1" i="0" dirty="0">
                <a:solidFill>
                  <a:srgbClr val="FF6B35"/>
                </a:solidFill>
                <a:latin typeface="Calibri"/>
              </a:rPr>
              <a:t> </a:t>
            </a:r>
            <a:r>
              <a:rPr sz="1500" b="1" i="0" dirty="0" err="1">
                <a:solidFill>
                  <a:srgbClr val="FF6B35"/>
                </a:solidFill>
                <a:latin typeface="Calibri"/>
              </a:rPr>
              <a:t>Bewertung</a:t>
            </a:r>
            <a:r>
              <a:rPr sz="1500" b="1" i="0" dirty="0">
                <a:solidFill>
                  <a:srgbClr val="FF6B35"/>
                </a:solidFill>
                <a:latin typeface="Calibri"/>
              </a:rPr>
              <a:t> </a:t>
            </a:r>
            <a:r>
              <a:rPr sz="1500" b="1" i="0" dirty="0" err="1">
                <a:solidFill>
                  <a:srgbClr val="FF6B35"/>
                </a:solidFill>
                <a:latin typeface="Calibri"/>
              </a:rPr>
              <a:t>hängen</a:t>
            </a:r>
            <a:r>
              <a:rPr sz="1500" b="1" i="0" dirty="0">
                <a:solidFill>
                  <a:srgbClr val="FF6B35"/>
                </a:solidFill>
                <a:latin typeface="Calibri"/>
              </a:rPr>
              <a:t> am Flipchart</a:t>
            </a:r>
          </a:p>
        </p:txBody>
      </p:sp>
      <p:sp>
        <p:nvSpPr>
          <p:cNvPr id="22" name="TextBox 21"/>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3" name="TextBox 22"/>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B3  ·  04 / 11</a:t>
            </a:r>
          </a:p>
        </p:txBody>
      </p:sp>
      <p:sp>
        <p:nvSpPr>
          <p:cNvPr id="24"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25"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2  Auswahl</a:t>
            </a:r>
          </a:p>
        </p:txBody>
      </p:sp>
      <p:sp>
        <p:nvSpPr>
          <p:cNvPr id="5" name="Rounded Rectangle 4"/>
          <p:cNvSpPr/>
          <p:nvPr/>
        </p:nvSpPr>
        <p:spPr>
          <a:xfrm>
            <a:off x="1903199"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Die Cloud war das Ergebnis, nicht die Präferenz</a:t>
            </a:r>
          </a:p>
        </p:txBody>
      </p:sp>
      <p:sp>
        <p:nvSpPr>
          <p:cNvPr id="13" name="TextBox 12"/>
          <p:cNvSpPr txBox="1"/>
          <p:nvPr/>
        </p:nvSpPr>
        <p:spPr>
          <a:xfrm>
            <a:off x="2520000" y="1278000"/>
            <a:ext cx="1956000" cy="251999"/>
          </a:xfrm>
          <a:prstGeom prst="rect">
            <a:avLst/>
          </a:prstGeom>
          <a:noFill/>
        </p:spPr>
        <p:txBody>
          <a:bodyPr wrap="square" lIns="0" tIns="0" rIns="0" bIns="0" anchor="t">
            <a:spAutoFit/>
          </a:bodyPr>
          <a:lstStyle/>
          <a:p>
            <a:pPr algn="ctr"/>
            <a:r>
              <a:rPr sz="1300" b="1" i="0">
                <a:solidFill>
                  <a:srgbClr val="B9BEC8"/>
                </a:solidFill>
                <a:latin typeface="Calibri"/>
              </a:rPr>
              <a:t>Variante A</a:t>
            </a:r>
          </a:p>
        </p:txBody>
      </p:sp>
      <p:sp>
        <p:nvSpPr>
          <p:cNvPr id="14" name="TextBox 13"/>
          <p:cNvSpPr txBox="1"/>
          <p:nvPr/>
        </p:nvSpPr>
        <p:spPr>
          <a:xfrm>
            <a:off x="4584000" y="1278000"/>
            <a:ext cx="1956000" cy="251999"/>
          </a:xfrm>
          <a:prstGeom prst="rect">
            <a:avLst/>
          </a:prstGeom>
          <a:noFill/>
        </p:spPr>
        <p:txBody>
          <a:bodyPr wrap="square" lIns="0" tIns="0" rIns="0" bIns="0" anchor="t">
            <a:spAutoFit/>
          </a:bodyPr>
          <a:lstStyle/>
          <a:p>
            <a:pPr algn="ctr"/>
            <a:r>
              <a:rPr sz="1300" b="1" i="0">
                <a:solidFill>
                  <a:srgbClr val="B9BEC8"/>
                </a:solidFill>
                <a:latin typeface="Calibri"/>
              </a:rPr>
              <a:t>Variante B</a:t>
            </a:r>
          </a:p>
        </p:txBody>
      </p:sp>
      <p:sp>
        <p:nvSpPr>
          <p:cNvPr id="15" name="TextBox 14"/>
          <p:cNvSpPr txBox="1"/>
          <p:nvPr/>
        </p:nvSpPr>
        <p:spPr>
          <a:xfrm>
            <a:off x="6648000" y="1278000"/>
            <a:ext cx="1956000" cy="251999"/>
          </a:xfrm>
          <a:prstGeom prst="rect">
            <a:avLst/>
          </a:prstGeom>
          <a:noFill/>
        </p:spPr>
        <p:txBody>
          <a:bodyPr wrap="square" lIns="0" tIns="0" rIns="0" bIns="0" anchor="t">
            <a:spAutoFit/>
          </a:bodyPr>
          <a:lstStyle/>
          <a:p>
            <a:pPr algn="ctr"/>
            <a:r>
              <a:rPr sz="1300" b="1" i="0">
                <a:solidFill>
                  <a:srgbClr val="B9BEC8"/>
                </a:solidFill>
                <a:latin typeface="Calibri"/>
              </a:rPr>
              <a:t>Variante C</a:t>
            </a:r>
          </a:p>
        </p:txBody>
      </p:sp>
      <p:sp>
        <p:nvSpPr>
          <p:cNvPr id="16" name="Rounded Rectangle 15"/>
          <p:cNvSpPr/>
          <p:nvPr/>
        </p:nvSpPr>
        <p:spPr>
          <a:xfrm>
            <a:off x="540000" y="1565999"/>
            <a:ext cx="1872000" cy="4967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4000" y="1565999"/>
            <a:ext cx="1584000" cy="496799"/>
          </a:xfrm>
          <a:prstGeom prst="rect">
            <a:avLst/>
          </a:prstGeom>
          <a:noFill/>
        </p:spPr>
        <p:txBody>
          <a:bodyPr wrap="square" lIns="0" tIns="0" rIns="0" bIns="0" anchor="ctr">
            <a:spAutoFit/>
          </a:bodyPr>
          <a:lstStyle/>
          <a:p>
            <a:pPr algn="l"/>
            <a:r>
              <a:rPr sz="1400" b="1" i="0">
                <a:solidFill>
                  <a:srgbClr val="FFFFFF"/>
                </a:solidFill>
                <a:latin typeface="Calibri"/>
              </a:rPr>
              <a:t>Datenquelle</a:t>
            </a:r>
          </a:p>
        </p:txBody>
      </p:sp>
      <p:sp>
        <p:nvSpPr>
          <p:cNvPr id="18" name="Rounded Rectangle 17"/>
          <p:cNvSpPr/>
          <p:nvPr/>
        </p:nvSpPr>
        <p:spPr>
          <a:xfrm>
            <a:off x="2520000" y="1565999"/>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628000" y="1565999"/>
            <a:ext cx="1740000" cy="496799"/>
          </a:xfrm>
          <a:prstGeom prst="rect">
            <a:avLst/>
          </a:prstGeom>
          <a:noFill/>
        </p:spPr>
        <p:txBody>
          <a:bodyPr wrap="square" lIns="0" tIns="0" rIns="0" bIns="0" anchor="ctr">
            <a:spAutoFit/>
          </a:bodyPr>
          <a:lstStyle/>
          <a:p>
            <a:pPr algn="ctr"/>
            <a:r>
              <a:rPr sz="1300" b="0" i="0">
                <a:solidFill>
                  <a:srgbClr val="B9BEC8"/>
                </a:solidFill>
                <a:latin typeface="Calibri"/>
              </a:rPr>
              <a:t>Nur POS</a:t>
            </a:r>
          </a:p>
        </p:txBody>
      </p:sp>
      <p:sp>
        <p:nvSpPr>
          <p:cNvPr id="20" name="Rounded Rectangle 19"/>
          <p:cNvSpPr/>
          <p:nvPr/>
        </p:nvSpPr>
        <p:spPr>
          <a:xfrm>
            <a:off x="4584000" y="1565999"/>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692000" y="1565999"/>
            <a:ext cx="1740000" cy="496799"/>
          </a:xfrm>
          <a:prstGeom prst="rect">
            <a:avLst/>
          </a:prstGeom>
          <a:noFill/>
        </p:spPr>
        <p:txBody>
          <a:bodyPr wrap="square" lIns="0" tIns="0" rIns="0" bIns="0" anchor="ctr">
            <a:spAutoFit/>
          </a:bodyPr>
          <a:lstStyle/>
          <a:p>
            <a:pPr algn="ctr"/>
            <a:r>
              <a:rPr sz="1300" b="0" i="0">
                <a:solidFill>
                  <a:srgbClr val="B9BEC8"/>
                </a:solidFill>
                <a:latin typeface="Calibri"/>
              </a:rPr>
              <a:t>POS + Wetter</a:t>
            </a:r>
          </a:p>
        </p:txBody>
      </p:sp>
      <p:sp>
        <p:nvSpPr>
          <p:cNvPr id="22" name="Rounded Rectangle 21"/>
          <p:cNvSpPr/>
          <p:nvPr/>
        </p:nvSpPr>
        <p:spPr>
          <a:xfrm>
            <a:off x="6648000" y="1565999"/>
            <a:ext cx="1956000" cy="496799"/>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56000" y="1565999"/>
            <a:ext cx="1740000" cy="496799"/>
          </a:xfrm>
          <a:prstGeom prst="rect">
            <a:avLst/>
          </a:prstGeom>
          <a:noFill/>
        </p:spPr>
        <p:txBody>
          <a:bodyPr wrap="square" lIns="0" tIns="0" rIns="0" bIns="0" anchor="ctr">
            <a:spAutoFit/>
          </a:bodyPr>
          <a:lstStyle/>
          <a:p>
            <a:pPr algn="ctr"/>
            <a:r>
              <a:rPr sz="1300" b="1" i="0">
                <a:solidFill>
                  <a:srgbClr val="22C55E"/>
                </a:solidFill>
                <a:latin typeface="Calibri"/>
              </a:rPr>
              <a:t>★  POS + Wetter + Anlässe</a:t>
            </a:r>
          </a:p>
        </p:txBody>
      </p:sp>
      <p:sp>
        <p:nvSpPr>
          <p:cNvPr id="24" name="Rounded Rectangle 23"/>
          <p:cNvSpPr/>
          <p:nvPr/>
        </p:nvSpPr>
        <p:spPr>
          <a:xfrm>
            <a:off x="540000" y="2149200"/>
            <a:ext cx="1872000" cy="4967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4000" y="2149200"/>
            <a:ext cx="1584000" cy="496799"/>
          </a:xfrm>
          <a:prstGeom prst="rect">
            <a:avLst/>
          </a:prstGeom>
          <a:noFill/>
        </p:spPr>
        <p:txBody>
          <a:bodyPr wrap="square" lIns="0" tIns="0" rIns="0" bIns="0" anchor="ctr">
            <a:spAutoFit/>
          </a:bodyPr>
          <a:lstStyle/>
          <a:p>
            <a:pPr algn="l"/>
            <a:r>
              <a:rPr sz="1400" b="1" i="0">
                <a:solidFill>
                  <a:srgbClr val="FFFFFF"/>
                </a:solidFill>
                <a:latin typeface="Calibri"/>
              </a:rPr>
              <a:t>Modelltyp</a:t>
            </a:r>
          </a:p>
        </p:txBody>
      </p:sp>
      <p:sp>
        <p:nvSpPr>
          <p:cNvPr id="26" name="Rounded Rectangle 25"/>
          <p:cNvSpPr/>
          <p:nvPr/>
        </p:nvSpPr>
        <p:spPr>
          <a:xfrm>
            <a:off x="2520000" y="21492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628000" y="21492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Statistisch (ARIMA)</a:t>
            </a:r>
          </a:p>
        </p:txBody>
      </p:sp>
      <p:sp>
        <p:nvSpPr>
          <p:cNvPr id="28" name="Rounded Rectangle 27"/>
          <p:cNvSpPr/>
          <p:nvPr/>
        </p:nvSpPr>
        <p:spPr>
          <a:xfrm>
            <a:off x="4584000" y="2149200"/>
            <a:ext cx="1956000" cy="496799"/>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692000" y="2149200"/>
            <a:ext cx="1740000" cy="496799"/>
          </a:xfrm>
          <a:prstGeom prst="rect">
            <a:avLst/>
          </a:prstGeom>
          <a:noFill/>
        </p:spPr>
        <p:txBody>
          <a:bodyPr wrap="square" lIns="0" tIns="0" rIns="0" bIns="0" anchor="ctr">
            <a:spAutoFit/>
          </a:bodyPr>
          <a:lstStyle/>
          <a:p>
            <a:pPr algn="ctr"/>
            <a:r>
              <a:rPr sz="1300" b="1" i="0">
                <a:solidFill>
                  <a:srgbClr val="22C55E"/>
                </a:solidFill>
                <a:latin typeface="Calibri"/>
              </a:rPr>
              <a:t>★  Gradient Boosting</a:t>
            </a:r>
          </a:p>
        </p:txBody>
      </p:sp>
      <p:sp>
        <p:nvSpPr>
          <p:cNvPr id="30" name="Rounded Rectangle 29"/>
          <p:cNvSpPr/>
          <p:nvPr/>
        </p:nvSpPr>
        <p:spPr>
          <a:xfrm>
            <a:off x="6648000" y="21492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756000" y="21492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Deep Learning (LSTM)</a:t>
            </a:r>
          </a:p>
        </p:txBody>
      </p:sp>
      <p:sp>
        <p:nvSpPr>
          <p:cNvPr id="32" name="Rounded Rectangle 31"/>
          <p:cNvSpPr/>
          <p:nvPr/>
        </p:nvSpPr>
        <p:spPr>
          <a:xfrm>
            <a:off x="540000" y="2732400"/>
            <a:ext cx="1872000" cy="4967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84000" y="2732400"/>
            <a:ext cx="1584000" cy="496799"/>
          </a:xfrm>
          <a:prstGeom prst="rect">
            <a:avLst/>
          </a:prstGeom>
          <a:noFill/>
        </p:spPr>
        <p:txBody>
          <a:bodyPr wrap="square" lIns="0" tIns="0" rIns="0" bIns="0" anchor="ctr">
            <a:spAutoFit/>
          </a:bodyPr>
          <a:lstStyle/>
          <a:p>
            <a:pPr algn="l"/>
            <a:r>
              <a:rPr sz="1400" b="1" i="0">
                <a:solidFill>
                  <a:srgbClr val="FFFFFF"/>
                </a:solidFill>
                <a:latin typeface="Calibri"/>
              </a:rPr>
              <a:t>Bereitstellung</a:t>
            </a:r>
          </a:p>
        </p:txBody>
      </p:sp>
      <p:sp>
        <p:nvSpPr>
          <p:cNvPr id="34" name="Rounded Rectangle 33"/>
          <p:cNvSpPr/>
          <p:nvPr/>
        </p:nvSpPr>
        <p:spPr>
          <a:xfrm>
            <a:off x="2520000" y="27324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2628000" y="27324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On-Premise</a:t>
            </a:r>
          </a:p>
        </p:txBody>
      </p:sp>
      <p:sp>
        <p:nvSpPr>
          <p:cNvPr id="36" name="Rounded Rectangle 35"/>
          <p:cNvSpPr/>
          <p:nvPr/>
        </p:nvSpPr>
        <p:spPr>
          <a:xfrm>
            <a:off x="4584000" y="2732400"/>
            <a:ext cx="1956000" cy="496799"/>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692000" y="2732400"/>
            <a:ext cx="1740000" cy="496799"/>
          </a:xfrm>
          <a:prstGeom prst="rect">
            <a:avLst/>
          </a:prstGeom>
          <a:noFill/>
        </p:spPr>
        <p:txBody>
          <a:bodyPr wrap="square" lIns="0" tIns="0" rIns="0" bIns="0" anchor="ctr">
            <a:spAutoFit/>
          </a:bodyPr>
          <a:lstStyle/>
          <a:p>
            <a:pPr algn="ctr"/>
            <a:r>
              <a:rPr sz="1300" b="1" i="0">
                <a:solidFill>
                  <a:srgbClr val="22C55E"/>
                </a:solidFill>
                <a:latin typeface="Calibri"/>
              </a:rPr>
              <a:t>★  Cloud SaaS (AWS/Supabase)</a:t>
            </a:r>
          </a:p>
        </p:txBody>
      </p:sp>
      <p:sp>
        <p:nvSpPr>
          <p:cNvPr id="38" name="Rounded Rectangle 37"/>
          <p:cNvSpPr/>
          <p:nvPr/>
        </p:nvSpPr>
        <p:spPr>
          <a:xfrm>
            <a:off x="6648000" y="27324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756000" y="27324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Hybrid</a:t>
            </a:r>
          </a:p>
        </p:txBody>
      </p:sp>
      <p:sp>
        <p:nvSpPr>
          <p:cNvPr id="40" name="Rounded Rectangle 39"/>
          <p:cNvSpPr/>
          <p:nvPr/>
        </p:nvSpPr>
        <p:spPr>
          <a:xfrm>
            <a:off x="540000" y="3315600"/>
            <a:ext cx="1872000" cy="4967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84000" y="3315600"/>
            <a:ext cx="1584000" cy="496799"/>
          </a:xfrm>
          <a:prstGeom prst="rect">
            <a:avLst/>
          </a:prstGeom>
          <a:noFill/>
        </p:spPr>
        <p:txBody>
          <a:bodyPr wrap="square" lIns="0" tIns="0" rIns="0" bIns="0" anchor="ctr">
            <a:spAutoFit/>
          </a:bodyPr>
          <a:lstStyle/>
          <a:p>
            <a:pPr algn="l"/>
            <a:r>
              <a:rPr sz="1400" b="1" i="0">
                <a:solidFill>
                  <a:srgbClr val="FFFFFF"/>
                </a:solidFill>
                <a:latin typeface="Calibri"/>
              </a:rPr>
              <a:t>Benutzerinterface</a:t>
            </a:r>
          </a:p>
        </p:txBody>
      </p:sp>
      <p:sp>
        <p:nvSpPr>
          <p:cNvPr id="42" name="Rounded Rectangle 41"/>
          <p:cNvSpPr/>
          <p:nvPr/>
        </p:nvSpPr>
        <p:spPr>
          <a:xfrm>
            <a:off x="2520000" y="33156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2628000" y="33156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CSV per Mail</a:t>
            </a:r>
          </a:p>
        </p:txBody>
      </p:sp>
      <p:sp>
        <p:nvSpPr>
          <p:cNvPr id="44" name="Rounded Rectangle 43"/>
          <p:cNvSpPr/>
          <p:nvPr/>
        </p:nvSpPr>
        <p:spPr>
          <a:xfrm>
            <a:off x="4584000" y="3315600"/>
            <a:ext cx="1956000" cy="496799"/>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4692000" y="3315600"/>
            <a:ext cx="1740000" cy="496799"/>
          </a:xfrm>
          <a:prstGeom prst="rect">
            <a:avLst/>
          </a:prstGeom>
          <a:noFill/>
        </p:spPr>
        <p:txBody>
          <a:bodyPr wrap="square" lIns="0" tIns="0" rIns="0" bIns="0" anchor="ctr">
            <a:spAutoFit/>
          </a:bodyPr>
          <a:lstStyle/>
          <a:p>
            <a:pPr algn="ctr"/>
            <a:r>
              <a:rPr sz="1300" b="1" i="0">
                <a:solidFill>
                  <a:srgbClr val="22C55E"/>
                </a:solidFill>
                <a:latin typeface="Calibri"/>
              </a:rPr>
              <a:t>★  Web-Dashboard</a:t>
            </a:r>
          </a:p>
        </p:txBody>
      </p:sp>
      <p:sp>
        <p:nvSpPr>
          <p:cNvPr id="46" name="Rounded Rectangle 45"/>
          <p:cNvSpPr/>
          <p:nvPr/>
        </p:nvSpPr>
        <p:spPr>
          <a:xfrm>
            <a:off x="6648000" y="3315600"/>
            <a:ext cx="1956000" cy="496799"/>
          </a:xfrm>
          <a:prstGeom prst="roundRect">
            <a:avLst>
              <a:gd name="adj" fmla="val 6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756000" y="3315600"/>
            <a:ext cx="1740000" cy="496799"/>
          </a:xfrm>
          <a:prstGeom prst="rect">
            <a:avLst/>
          </a:prstGeom>
          <a:noFill/>
        </p:spPr>
        <p:txBody>
          <a:bodyPr wrap="square" lIns="0" tIns="0" rIns="0" bIns="0" anchor="ctr">
            <a:spAutoFit/>
          </a:bodyPr>
          <a:lstStyle/>
          <a:p>
            <a:pPr algn="ctr"/>
            <a:r>
              <a:rPr sz="1300" b="0" i="0">
                <a:solidFill>
                  <a:srgbClr val="B9BEC8"/>
                </a:solidFill>
                <a:latin typeface="Calibri"/>
              </a:rPr>
              <a:t>Mobile App</a:t>
            </a:r>
          </a:p>
        </p:txBody>
      </p:sp>
      <p:sp>
        <p:nvSpPr>
          <p:cNvPr id="48" name="TextBox 47"/>
          <p:cNvSpPr txBox="1"/>
          <p:nvPr/>
        </p:nvSpPr>
        <p:spPr>
          <a:xfrm>
            <a:off x="540000" y="4104000"/>
            <a:ext cx="8063999" cy="215444"/>
          </a:xfrm>
          <a:prstGeom prst="rect">
            <a:avLst/>
          </a:prstGeom>
          <a:noFill/>
        </p:spPr>
        <p:txBody>
          <a:bodyPr wrap="square" lIns="0" tIns="0" rIns="0" bIns="0" anchor="t">
            <a:spAutoFit/>
          </a:bodyPr>
          <a:lstStyle/>
          <a:p>
            <a:pPr algn="l"/>
            <a:r>
              <a:rPr sz="1400" b="0" i="0" dirty="0">
                <a:solidFill>
                  <a:srgbClr val="B9BEC8"/>
                </a:solidFill>
                <a:latin typeface="Calibri"/>
              </a:rPr>
              <a:t>On-Premise </a:t>
            </a:r>
            <a:r>
              <a:rPr sz="1400" b="0" i="0" dirty="0" err="1">
                <a:solidFill>
                  <a:srgbClr val="B9BEC8"/>
                </a:solidFill>
                <a:latin typeface="Calibri"/>
              </a:rPr>
              <a:t>gebaut</a:t>
            </a:r>
            <a:r>
              <a:rPr sz="1400" b="0" i="0" dirty="0">
                <a:solidFill>
                  <a:srgbClr val="B9BEC8"/>
                </a:solidFill>
                <a:latin typeface="Calibri"/>
              </a:rPr>
              <a:t> und </a:t>
            </a:r>
            <a:r>
              <a:rPr sz="1400" b="0" i="0" dirty="0" err="1">
                <a:solidFill>
                  <a:srgbClr val="B9BEC8"/>
                </a:solidFill>
                <a:latin typeface="Calibri"/>
              </a:rPr>
              <a:t>getestet</a:t>
            </a:r>
            <a:r>
              <a:rPr sz="1400" b="0" i="0" dirty="0">
                <a:solidFill>
                  <a:srgbClr val="B9BEC8"/>
                </a:solidFill>
                <a:latin typeface="Calibri"/>
              </a:rPr>
              <a:t> — an </a:t>
            </a:r>
            <a:r>
              <a:rPr sz="1400" b="0" i="0" dirty="0" err="1">
                <a:solidFill>
                  <a:srgbClr val="B9BEC8"/>
                </a:solidFill>
                <a:latin typeface="Calibri"/>
              </a:rPr>
              <a:t>gefälschter</a:t>
            </a:r>
            <a:r>
              <a:rPr sz="1400" b="0" i="0" dirty="0">
                <a:solidFill>
                  <a:srgbClr val="B9BEC8"/>
                </a:solidFill>
                <a:latin typeface="Calibri"/>
              </a:rPr>
              <a:t> Hardware </a:t>
            </a:r>
            <a:r>
              <a:rPr sz="1400" b="0" i="0" dirty="0" err="1">
                <a:solidFill>
                  <a:srgbClr val="B9BEC8"/>
                </a:solidFill>
                <a:latin typeface="Calibri"/>
              </a:rPr>
              <a:t>gescheitert</a:t>
            </a:r>
            <a:r>
              <a:rPr lang="de-CH" sz="1400" b="0" i="0" dirty="0">
                <a:solidFill>
                  <a:srgbClr val="B9BEC8"/>
                </a:solidFill>
                <a:latin typeface="Calibri"/>
              </a:rPr>
              <a:t>. E</a:t>
            </a:r>
            <a:r>
              <a:rPr sz="1400" b="0" i="0" dirty="0">
                <a:solidFill>
                  <a:srgbClr val="B9BEC8"/>
                </a:solidFill>
                <a:latin typeface="Calibri"/>
              </a:rPr>
              <a:t>in </a:t>
            </a:r>
            <a:r>
              <a:rPr sz="1400" b="0" i="0" dirty="0" err="1">
                <a:solidFill>
                  <a:srgbClr val="B9BEC8"/>
                </a:solidFill>
                <a:latin typeface="Calibri"/>
              </a:rPr>
              <a:t>Beschaffungsfehle</a:t>
            </a:r>
            <a:r>
              <a:rPr lang="de-CH" sz="1400" b="0" i="0" dirty="0">
                <a:solidFill>
                  <a:srgbClr val="B9BEC8"/>
                </a:solidFill>
                <a:latin typeface="Calibri"/>
              </a:rPr>
              <a:t>r</a:t>
            </a:r>
            <a:endParaRPr sz="1400" b="0" i="0" dirty="0">
              <a:solidFill>
                <a:srgbClr val="B9BEC8"/>
              </a:solidFill>
              <a:latin typeface="Calibri"/>
            </a:endParaRPr>
          </a:p>
          <a:p>
            <a:pPr algn="l"/>
            <a:r>
              <a:rPr sz="1400" b="0" i="0" dirty="0">
                <a:solidFill>
                  <a:srgbClr val="B9BEC8"/>
                </a:solidFill>
                <a:latin typeface="Calibri"/>
              </a:rPr>
              <a:t>★ = Zielarchitektur  ·  heute im Pilotbetrieb: Regelbasis + KI-Delta (Anhang E, F)</a:t>
            </a:r>
          </a:p>
        </p:txBody>
      </p:sp>
      <p:sp>
        <p:nvSpPr>
          <p:cNvPr id="49" name="TextBox 48"/>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50" name="TextBox 49"/>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C2  ·  05 / 11</a:t>
            </a:r>
          </a:p>
        </p:txBody>
      </p:sp>
      <p:sp>
        <p:nvSpPr>
          <p:cNvPr id="51"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52"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3  Lösung</a:t>
            </a:r>
          </a:p>
        </p:txBody>
      </p:sp>
      <p:sp>
        <p:nvSpPr>
          <p:cNvPr id="7" name="Rounded Rectangle 6"/>
          <p:cNvSpPr/>
          <p:nvPr/>
        </p:nvSpPr>
        <p:spPr>
          <a:xfrm>
            <a:off x="3266399"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Fünf Schritte — entscheidend ist der fünfte</a:t>
            </a:r>
          </a:p>
        </p:txBody>
      </p:sp>
      <p:sp>
        <p:nvSpPr>
          <p:cNvPr id="13" name="Rounded Rectangle 12"/>
          <p:cNvSpPr/>
          <p:nvPr/>
        </p:nvSpPr>
        <p:spPr>
          <a:xfrm>
            <a:off x="540000" y="1332000"/>
            <a:ext cx="1497599" cy="165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6000" y="1458000"/>
            <a:ext cx="1245599" cy="288000"/>
          </a:xfrm>
          <a:prstGeom prst="rect">
            <a:avLst/>
          </a:prstGeom>
          <a:noFill/>
        </p:spPr>
        <p:txBody>
          <a:bodyPr wrap="square" lIns="0" tIns="0" rIns="0" bIns="0" anchor="t">
            <a:spAutoFit/>
          </a:bodyPr>
          <a:lstStyle/>
          <a:p>
            <a:pPr algn="l"/>
            <a:r>
              <a:rPr sz="2200" b="1" i="0">
                <a:solidFill>
                  <a:srgbClr val="7C828D"/>
                </a:solidFill>
                <a:latin typeface="Calibri"/>
              </a:rPr>
              <a:t>1</a:t>
            </a:r>
          </a:p>
        </p:txBody>
      </p:sp>
      <p:sp>
        <p:nvSpPr>
          <p:cNvPr id="15" name="TextBox 14"/>
          <p:cNvSpPr txBox="1"/>
          <p:nvPr/>
        </p:nvSpPr>
        <p:spPr>
          <a:xfrm>
            <a:off x="666000" y="1835999"/>
            <a:ext cx="1245599" cy="503999"/>
          </a:xfrm>
          <a:prstGeom prst="rect">
            <a:avLst/>
          </a:prstGeom>
          <a:noFill/>
        </p:spPr>
        <p:txBody>
          <a:bodyPr wrap="square" lIns="0" tIns="0" rIns="0" bIns="0" anchor="t">
            <a:spAutoFit/>
          </a:bodyPr>
          <a:lstStyle/>
          <a:p>
            <a:pPr algn="l"/>
            <a:r>
              <a:rPr sz="1500" b="1" i="0">
                <a:solidFill>
                  <a:srgbClr val="FFFFFF"/>
                </a:solidFill>
                <a:latin typeface="Calibri"/>
              </a:rPr>
              <a:t>POS-Abruf</a:t>
            </a:r>
          </a:p>
        </p:txBody>
      </p:sp>
      <p:sp>
        <p:nvSpPr>
          <p:cNvPr id="16" name="TextBox 15"/>
          <p:cNvSpPr txBox="1"/>
          <p:nvPr/>
        </p:nvSpPr>
        <p:spPr>
          <a:xfrm>
            <a:off x="666000" y="2340000"/>
            <a:ext cx="1245599" cy="630000"/>
          </a:xfrm>
          <a:prstGeom prst="rect">
            <a:avLst/>
          </a:prstGeom>
          <a:noFill/>
        </p:spPr>
        <p:txBody>
          <a:bodyPr wrap="square" lIns="0" tIns="0" rIns="0" bIns="0" anchor="t">
            <a:spAutoFit/>
          </a:bodyPr>
          <a:lstStyle/>
          <a:p>
            <a:pPr algn="l">
              <a:lnSpc>
                <a:spcPct val="120000"/>
              </a:lnSpc>
            </a:pPr>
            <a:r>
              <a:rPr sz="1200" b="0" i="0">
                <a:solidFill>
                  <a:srgbClr val="B9BEC8"/>
                </a:solidFill>
                <a:latin typeface="Calibri"/>
              </a:rPr>
              <a:t>Tickets beider Kassen, über das Back-Office</a:t>
            </a:r>
          </a:p>
        </p:txBody>
      </p:sp>
      <p:sp>
        <p:nvSpPr>
          <p:cNvPr id="17" name="TextBox 16"/>
          <p:cNvSpPr txBox="1"/>
          <p:nvPr/>
        </p:nvSpPr>
        <p:spPr>
          <a:xfrm>
            <a:off x="2044799" y="1908000"/>
            <a:ext cx="129600" cy="288000"/>
          </a:xfrm>
          <a:prstGeom prst="rect">
            <a:avLst/>
          </a:prstGeom>
          <a:noFill/>
        </p:spPr>
        <p:txBody>
          <a:bodyPr wrap="square" lIns="0" tIns="0" rIns="0" bIns="0" anchor="t">
            <a:spAutoFit/>
          </a:bodyPr>
          <a:lstStyle/>
          <a:p>
            <a:pPr algn="ctr"/>
            <a:r>
              <a:rPr sz="1800" b="1" i="0">
                <a:solidFill>
                  <a:srgbClr val="7C828D"/>
                </a:solidFill>
                <a:latin typeface="Calibri"/>
              </a:rPr>
              <a:t>›</a:t>
            </a:r>
          </a:p>
        </p:txBody>
      </p:sp>
      <p:sp>
        <p:nvSpPr>
          <p:cNvPr id="18" name="Rounded Rectangle 17"/>
          <p:cNvSpPr/>
          <p:nvPr/>
        </p:nvSpPr>
        <p:spPr>
          <a:xfrm>
            <a:off x="2181600" y="1332000"/>
            <a:ext cx="1497599" cy="165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307599" y="1458000"/>
            <a:ext cx="1245599" cy="288000"/>
          </a:xfrm>
          <a:prstGeom prst="rect">
            <a:avLst/>
          </a:prstGeom>
          <a:noFill/>
        </p:spPr>
        <p:txBody>
          <a:bodyPr wrap="square" lIns="0" tIns="0" rIns="0" bIns="0" anchor="t">
            <a:spAutoFit/>
          </a:bodyPr>
          <a:lstStyle/>
          <a:p>
            <a:pPr algn="l"/>
            <a:r>
              <a:rPr sz="2200" b="1" i="0">
                <a:solidFill>
                  <a:srgbClr val="7C828D"/>
                </a:solidFill>
                <a:latin typeface="Calibri"/>
              </a:rPr>
              <a:t>2</a:t>
            </a:r>
          </a:p>
        </p:txBody>
      </p:sp>
      <p:sp>
        <p:nvSpPr>
          <p:cNvPr id="20" name="TextBox 19"/>
          <p:cNvSpPr txBox="1"/>
          <p:nvPr/>
        </p:nvSpPr>
        <p:spPr>
          <a:xfrm>
            <a:off x="2307599" y="1835999"/>
            <a:ext cx="1245599" cy="503999"/>
          </a:xfrm>
          <a:prstGeom prst="rect">
            <a:avLst/>
          </a:prstGeom>
          <a:noFill/>
        </p:spPr>
        <p:txBody>
          <a:bodyPr wrap="square" lIns="0" tIns="0" rIns="0" bIns="0" anchor="t">
            <a:spAutoFit/>
          </a:bodyPr>
          <a:lstStyle/>
          <a:p>
            <a:pPr algn="l"/>
            <a:r>
              <a:rPr sz="1500" b="1" i="0">
                <a:solidFill>
                  <a:srgbClr val="FFFFFF"/>
                </a:solidFill>
                <a:latin typeface="Calibri"/>
              </a:rPr>
              <a:t>Daten &amp; Merkmale</a:t>
            </a:r>
          </a:p>
        </p:txBody>
      </p:sp>
      <p:sp>
        <p:nvSpPr>
          <p:cNvPr id="21" name="TextBox 20"/>
          <p:cNvSpPr txBox="1"/>
          <p:nvPr/>
        </p:nvSpPr>
        <p:spPr>
          <a:xfrm>
            <a:off x="2307599" y="2340000"/>
            <a:ext cx="1245599" cy="468000"/>
          </a:xfrm>
          <a:prstGeom prst="rect">
            <a:avLst/>
          </a:prstGeom>
          <a:noFill/>
        </p:spPr>
        <p:txBody>
          <a:bodyPr wrap="square" lIns="0" tIns="0" rIns="0" bIns="0" anchor="t">
            <a:spAutoFit/>
          </a:bodyPr>
          <a:lstStyle/>
          <a:p>
            <a:pPr algn="l">
              <a:lnSpc>
                <a:spcPct val="120000"/>
              </a:lnSpc>
            </a:pPr>
            <a:r>
              <a:rPr sz="1200" b="0" i="0">
                <a:solidFill>
                  <a:srgbClr val="B9BEC8"/>
                </a:solidFill>
                <a:latin typeface="Calibri"/>
              </a:rPr>
              <a:t>Wetter, Anlässe, Tagesmenü</a:t>
            </a:r>
          </a:p>
        </p:txBody>
      </p:sp>
      <p:sp>
        <p:nvSpPr>
          <p:cNvPr id="22" name="TextBox 21"/>
          <p:cNvSpPr txBox="1"/>
          <p:nvPr/>
        </p:nvSpPr>
        <p:spPr>
          <a:xfrm>
            <a:off x="3686399" y="1908000"/>
            <a:ext cx="129600" cy="288000"/>
          </a:xfrm>
          <a:prstGeom prst="rect">
            <a:avLst/>
          </a:prstGeom>
          <a:noFill/>
        </p:spPr>
        <p:txBody>
          <a:bodyPr wrap="square" lIns="0" tIns="0" rIns="0" bIns="0" anchor="t">
            <a:spAutoFit/>
          </a:bodyPr>
          <a:lstStyle/>
          <a:p>
            <a:pPr algn="ctr"/>
            <a:r>
              <a:rPr sz="1800" b="1" i="0">
                <a:solidFill>
                  <a:srgbClr val="7C828D"/>
                </a:solidFill>
                <a:latin typeface="Calibri"/>
              </a:rPr>
              <a:t>›</a:t>
            </a:r>
          </a:p>
        </p:txBody>
      </p:sp>
      <p:sp>
        <p:nvSpPr>
          <p:cNvPr id="23" name="Rounded Rectangle 22"/>
          <p:cNvSpPr/>
          <p:nvPr/>
        </p:nvSpPr>
        <p:spPr>
          <a:xfrm>
            <a:off x="3823199" y="1332000"/>
            <a:ext cx="1497599" cy="165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949199" y="1458000"/>
            <a:ext cx="1245599" cy="288000"/>
          </a:xfrm>
          <a:prstGeom prst="rect">
            <a:avLst/>
          </a:prstGeom>
          <a:noFill/>
        </p:spPr>
        <p:txBody>
          <a:bodyPr wrap="square" lIns="0" tIns="0" rIns="0" bIns="0" anchor="t">
            <a:spAutoFit/>
          </a:bodyPr>
          <a:lstStyle/>
          <a:p>
            <a:pPr algn="l"/>
            <a:r>
              <a:rPr sz="2200" b="1" i="0">
                <a:solidFill>
                  <a:srgbClr val="7C828D"/>
                </a:solidFill>
                <a:latin typeface="Calibri"/>
              </a:rPr>
              <a:t>3</a:t>
            </a:r>
          </a:p>
        </p:txBody>
      </p:sp>
      <p:sp>
        <p:nvSpPr>
          <p:cNvPr id="25" name="TextBox 24"/>
          <p:cNvSpPr txBox="1"/>
          <p:nvPr/>
        </p:nvSpPr>
        <p:spPr>
          <a:xfrm>
            <a:off x="3949199" y="1835999"/>
            <a:ext cx="1245599" cy="503999"/>
          </a:xfrm>
          <a:prstGeom prst="rect">
            <a:avLst/>
          </a:prstGeom>
          <a:noFill/>
        </p:spPr>
        <p:txBody>
          <a:bodyPr wrap="square" lIns="0" tIns="0" rIns="0" bIns="0" anchor="t">
            <a:spAutoFit/>
          </a:bodyPr>
          <a:lstStyle/>
          <a:p>
            <a:pPr algn="l"/>
            <a:r>
              <a:rPr sz="1500" b="1" i="0">
                <a:solidFill>
                  <a:srgbClr val="FFFFFF"/>
                </a:solidFill>
                <a:latin typeface="Calibri"/>
              </a:rPr>
              <a:t>Prognose</a:t>
            </a:r>
          </a:p>
        </p:txBody>
      </p:sp>
      <p:sp>
        <p:nvSpPr>
          <p:cNvPr id="26" name="TextBox 25"/>
          <p:cNvSpPr txBox="1"/>
          <p:nvPr/>
        </p:nvSpPr>
        <p:spPr>
          <a:xfrm>
            <a:off x="3949199" y="2340000"/>
            <a:ext cx="1245599" cy="468000"/>
          </a:xfrm>
          <a:prstGeom prst="rect">
            <a:avLst/>
          </a:prstGeom>
          <a:noFill/>
        </p:spPr>
        <p:txBody>
          <a:bodyPr wrap="square" lIns="0" tIns="0" rIns="0" bIns="0" anchor="t">
            <a:spAutoFit/>
          </a:bodyPr>
          <a:lstStyle/>
          <a:p>
            <a:pPr algn="l">
              <a:lnSpc>
                <a:spcPct val="120000"/>
              </a:lnSpc>
            </a:pPr>
            <a:r>
              <a:rPr sz="1200" b="0" i="0">
                <a:solidFill>
                  <a:srgbClr val="B9BEC8"/>
                </a:solidFill>
                <a:latin typeface="Calibri"/>
              </a:rPr>
              <a:t>Regeln + gelernte Deltas</a:t>
            </a:r>
          </a:p>
        </p:txBody>
      </p:sp>
      <p:sp>
        <p:nvSpPr>
          <p:cNvPr id="27" name="TextBox 26"/>
          <p:cNvSpPr txBox="1"/>
          <p:nvPr/>
        </p:nvSpPr>
        <p:spPr>
          <a:xfrm>
            <a:off x="5327999" y="1908000"/>
            <a:ext cx="129600" cy="288000"/>
          </a:xfrm>
          <a:prstGeom prst="rect">
            <a:avLst/>
          </a:prstGeom>
          <a:noFill/>
        </p:spPr>
        <p:txBody>
          <a:bodyPr wrap="square" lIns="0" tIns="0" rIns="0" bIns="0" anchor="t">
            <a:spAutoFit/>
          </a:bodyPr>
          <a:lstStyle/>
          <a:p>
            <a:pPr algn="ctr"/>
            <a:r>
              <a:rPr sz="1800" b="1" i="0">
                <a:solidFill>
                  <a:srgbClr val="7C828D"/>
                </a:solidFill>
                <a:latin typeface="Calibri"/>
              </a:rPr>
              <a:t>›</a:t>
            </a:r>
          </a:p>
        </p:txBody>
      </p:sp>
      <p:sp>
        <p:nvSpPr>
          <p:cNvPr id="28" name="Rounded Rectangle 27"/>
          <p:cNvSpPr/>
          <p:nvPr/>
        </p:nvSpPr>
        <p:spPr>
          <a:xfrm>
            <a:off x="5464800" y="1332000"/>
            <a:ext cx="1497599" cy="165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590800" y="1458000"/>
            <a:ext cx="1245599" cy="288000"/>
          </a:xfrm>
          <a:prstGeom prst="rect">
            <a:avLst/>
          </a:prstGeom>
          <a:noFill/>
        </p:spPr>
        <p:txBody>
          <a:bodyPr wrap="square" lIns="0" tIns="0" rIns="0" bIns="0" anchor="t">
            <a:spAutoFit/>
          </a:bodyPr>
          <a:lstStyle/>
          <a:p>
            <a:pPr algn="l"/>
            <a:r>
              <a:rPr sz="2200" b="1" i="0">
                <a:solidFill>
                  <a:srgbClr val="7C828D"/>
                </a:solidFill>
                <a:latin typeface="Calibri"/>
              </a:rPr>
              <a:t>4</a:t>
            </a:r>
          </a:p>
        </p:txBody>
      </p:sp>
      <p:sp>
        <p:nvSpPr>
          <p:cNvPr id="30" name="TextBox 29"/>
          <p:cNvSpPr txBox="1"/>
          <p:nvPr/>
        </p:nvSpPr>
        <p:spPr>
          <a:xfrm>
            <a:off x="5590800" y="1835999"/>
            <a:ext cx="1245599" cy="503999"/>
          </a:xfrm>
          <a:prstGeom prst="rect">
            <a:avLst/>
          </a:prstGeom>
          <a:noFill/>
        </p:spPr>
        <p:txBody>
          <a:bodyPr wrap="square" lIns="0" tIns="0" rIns="0" bIns="0" anchor="t">
            <a:spAutoFit/>
          </a:bodyPr>
          <a:lstStyle/>
          <a:p>
            <a:pPr algn="l"/>
            <a:r>
              <a:rPr sz="1500" b="1" i="0">
                <a:solidFill>
                  <a:srgbClr val="FFFFFF"/>
                </a:solidFill>
                <a:latin typeface="Calibri"/>
              </a:rPr>
              <a:t>Dashboard</a:t>
            </a:r>
          </a:p>
        </p:txBody>
      </p:sp>
      <p:sp>
        <p:nvSpPr>
          <p:cNvPr id="31" name="TextBox 30"/>
          <p:cNvSpPr txBox="1"/>
          <p:nvPr/>
        </p:nvSpPr>
        <p:spPr>
          <a:xfrm>
            <a:off x="5590800" y="2340000"/>
            <a:ext cx="1245599" cy="468000"/>
          </a:xfrm>
          <a:prstGeom prst="rect">
            <a:avLst/>
          </a:prstGeom>
          <a:noFill/>
        </p:spPr>
        <p:txBody>
          <a:bodyPr wrap="square" lIns="0" tIns="0" rIns="0" bIns="0" anchor="t">
            <a:spAutoFit/>
          </a:bodyPr>
          <a:lstStyle/>
          <a:p>
            <a:pPr algn="l">
              <a:lnSpc>
                <a:spcPct val="120000"/>
              </a:lnSpc>
            </a:pPr>
            <a:r>
              <a:rPr sz="1200" b="0" i="0">
                <a:solidFill>
                  <a:srgbClr val="B9BEC8"/>
                </a:solidFill>
                <a:latin typeface="Calibri"/>
              </a:rPr>
              <a:t>rollenbasiert, mit Erklärung</a:t>
            </a:r>
          </a:p>
        </p:txBody>
      </p:sp>
      <p:sp>
        <p:nvSpPr>
          <p:cNvPr id="32" name="TextBox 31"/>
          <p:cNvSpPr txBox="1"/>
          <p:nvPr/>
        </p:nvSpPr>
        <p:spPr>
          <a:xfrm>
            <a:off x="6969600" y="1908000"/>
            <a:ext cx="129600" cy="288000"/>
          </a:xfrm>
          <a:prstGeom prst="rect">
            <a:avLst/>
          </a:prstGeom>
          <a:noFill/>
        </p:spPr>
        <p:txBody>
          <a:bodyPr wrap="square" lIns="0" tIns="0" rIns="0" bIns="0" anchor="t">
            <a:spAutoFit/>
          </a:bodyPr>
          <a:lstStyle/>
          <a:p>
            <a:pPr algn="ctr"/>
            <a:r>
              <a:rPr sz="1800" b="1" i="0">
                <a:solidFill>
                  <a:srgbClr val="7C828D"/>
                </a:solidFill>
                <a:latin typeface="Calibri"/>
              </a:rPr>
              <a:t>›</a:t>
            </a:r>
          </a:p>
        </p:txBody>
      </p:sp>
      <p:sp>
        <p:nvSpPr>
          <p:cNvPr id="33" name="Rounded Rectangle 32"/>
          <p:cNvSpPr/>
          <p:nvPr/>
        </p:nvSpPr>
        <p:spPr>
          <a:xfrm>
            <a:off x="7106399" y="1332000"/>
            <a:ext cx="1497599" cy="1656000"/>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232400" y="1458000"/>
            <a:ext cx="1245599" cy="288000"/>
          </a:xfrm>
          <a:prstGeom prst="rect">
            <a:avLst/>
          </a:prstGeom>
          <a:noFill/>
        </p:spPr>
        <p:txBody>
          <a:bodyPr wrap="square" lIns="0" tIns="0" rIns="0" bIns="0" anchor="t">
            <a:spAutoFit/>
          </a:bodyPr>
          <a:lstStyle/>
          <a:p>
            <a:pPr algn="l"/>
            <a:r>
              <a:rPr sz="2200" b="1" i="0">
                <a:solidFill>
                  <a:srgbClr val="22C55E"/>
                </a:solidFill>
                <a:latin typeface="Calibri"/>
              </a:rPr>
              <a:t>5</a:t>
            </a:r>
          </a:p>
        </p:txBody>
      </p:sp>
      <p:sp>
        <p:nvSpPr>
          <p:cNvPr id="35" name="TextBox 34">
            <a:hlinkClick r:id="rId3"/>
          </p:cNvPr>
          <p:cNvSpPr txBox="1"/>
          <p:nvPr/>
        </p:nvSpPr>
        <p:spPr>
          <a:xfrm>
            <a:off x="7232400" y="1835999"/>
            <a:ext cx="1245599" cy="503999"/>
          </a:xfrm>
          <a:prstGeom prst="rect">
            <a:avLst/>
          </a:prstGeom>
          <a:noFill/>
        </p:spPr>
        <p:txBody>
          <a:bodyPr wrap="square" lIns="0" tIns="0" rIns="0" bIns="0" anchor="t">
            <a:spAutoFit/>
          </a:bodyPr>
          <a:lstStyle/>
          <a:p>
            <a:pPr algn="l"/>
            <a:r>
              <a:rPr sz="1500" b="1" i="0">
                <a:solidFill>
                  <a:srgbClr val="22C55E"/>
                </a:solidFill>
                <a:latin typeface="Calibri"/>
              </a:rPr>
              <a:t>Feedback-Loop</a:t>
            </a:r>
          </a:p>
        </p:txBody>
      </p:sp>
      <p:sp>
        <p:nvSpPr>
          <p:cNvPr id="36" name="TextBox 35"/>
          <p:cNvSpPr txBox="1"/>
          <p:nvPr/>
        </p:nvSpPr>
        <p:spPr>
          <a:xfrm>
            <a:off x="7232400" y="2340000"/>
            <a:ext cx="1245599" cy="468000"/>
          </a:xfrm>
          <a:prstGeom prst="rect">
            <a:avLst/>
          </a:prstGeom>
          <a:noFill/>
        </p:spPr>
        <p:txBody>
          <a:bodyPr wrap="square" lIns="0" tIns="0" rIns="0" bIns="0" anchor="t">
            <a:spAutoFit/>
          </a:bodyPr>
          <a:lstStyle/>
          <a:p>
            <a:pPr algn="l">
              <a:lnSpc>
                <a:spcPct val="120000"/>
              </a:lnSpc>
            </a:pPr>
            <a:r>
              <a:rPr sz="1200" b="0" i="0">
                <a:solidFill>
                  <a:srgbClr val="B9BEC8"/>
                </a:solidFill>
                <a:latin typeface="Calibri"/>
              </a:rPr>
              <a:t>Ist gegen Prognose — lernt</a:t>
            </a:r>
          </a:p>
        </p:txBody>
      </p:sp>
      <p:sp>
        <p:nvSpPr>
          <p:cNvPr id="37" name="Rounded Rectangle 36"/>
          <p:cNvSpPr/>
          <p:nvPr/>
        </p:nvSpPr>
        <p:spPr>
          <a:xfrm>
            <a:off x="540000" y="3096000"/>
            <a:ext cx="3941999" cy="1260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56000" y="3240000"/>
            <a:ext cx="3510000" cy="251999"/>
          </a:xfrm>
          <a:prstGeom prst="rect">
            <a:avLst/>
          </a:prstGeom>
          <a:noFill/>
        </p:spPr>
        <p:txBody>
          <a:bodyPr wrap="square" lIns="0" tIns="0" rIns="0" bIns="0" anchor="t">
            <a:spAutoFit/>
          </a:bodyPr>
          <a:lstStyle/>
          <a:p>
            <a:pPr algn="l"/>
            <a:r>
              <a:rPr sz="1500" b="1" i="0">
                <a:solidFill>
                  <a:srgbClr val="FF6B35"/>
                </a:solidFill>
                <a:latin typeface="Calibri"/>
              </a:rPr>
              <a:t>Datengrundlage</a:t>
            </a:r>
          </a:p>
        </p:txBody>
      </p:sp>
      <p:sp>
        <p:nvSpPr>
          <p:cNvPr id="39" name="TextBox 38"/>
          <p:cNvSpPr txBox="1"/>
          <p:nvPr/>
        </p:nvSpPr>
        <p:spPr>
          <a:xfrm>
            <a:off x="756000" y="3564000"/>
            <a:ext cx="3510000" cy="827999"/>
          </a:xfrm>
          <a:prstGeom prst="rect">
            <a:avLst/>
          </a:prstGeom>
          <a:noFill/>
        </p:spPr>
        <p:txBody>
          <a:bodyPr wrap="square" lIns="0" tIns="0" rIns="0" bIns="0" anchor="t">
            <a:spAutoFit/>
          </a:bodyPr>
          <a:lstStyle/>
          <a:p>
            <a:pPr algn="l">
              <a:lnSpc>
                <a:spcPct val="120000"/>
              </a:lnSpc>
            </a:pPr>
            <a:r>
              <a:rPr sz="1700" b="0" i="0">
                <a:solidFill>
                  <a:srgbClr val="FFFFFF"/>
                </a:solidFill>
                <a:latin typeface="Calibri"/>
              </a:rPr>
              <a:t>POS · Wetter · Anlässe · Real-Werte aus der Küche</a:t>
            </a:r>
          </a:p>
        </p:txBody>
      </p:sp>
      <p:sp>
        <p:nvSpPr>
          <p:cNvPr id="40" name="Rounded Rectangle 39"/>
          <p:cNvSpPr/>
          <p:nvPr/>
        </p:nvSpPr>
        <p:spPr>
          <a:xfrm>
            <a:off x="4662000" y="3096000"/>
            <a:ext cx="3941999" cy="1260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4878000" y="3240000"/>
            <a:ext cx="3510000" cy="251999"/>
          </a:xfrm>
          <a:prstGeom prst="rect">
            <a:avLst/>
          </a:prstGeom>
          <a:noFill/>
        </p:spPr>
        <p:txBody>
          <a:bodyPr wrap="square" lIns="0" tIns="0" rIns="0" bIns="0" anchor="t">
            <a:spAutoFit/>
          </a:bodyPr>
          <a:lstStyle/>
          <a:p>
            <a:pPr algn="l"/>
            <a:r>
              <a:rPr sz="1500" b="1" i="0">
                <a:solidFill>
                  <a:srgbClr val="FF6B35"/>
                </a:solidFill>
                <a:latin typeface="Calibri"/>
              </a:rPr>
              <a:t>Anforderungen &amp; Datenschutz · C1</a:t>
            </a:r>
          </a:p>
        </p:txBody>
      </p:sp>
      <p:sp>
        <p:nvSpPr>
          <p:cNvPr id="42" name="TextBox 41"/>
          <p:cNvSpPr txBox="1"/>
          <p:nvPr/>
        </p:nvSpPr>
        <p:spPr>
          <a:xfrm>
            <a:off x="4877999" y="3491999"/>
            <a:ext cx="3510000" cy="827999"/>
          </a:xfrm>
          <a:prstGeom prst="rect">
            <a:avLst/>
          </a:prstGeom>
          <a:noFill/>
        </p:spPr>
        <p:txBody>
          <a:bodyPr wrap="square" lIns="0" tIns="0" rIns="0" bIns="0" anchor="t">
            <a:spAutoFit/>
          </a:bodyPr>
          <a:lstStyle/>
          <a:p>
            <a:pPr algn="l">
              <a:lnSpc>
                <a:spcPct val="120000"/>
              </a:lnSpc>
            </a:pPr>
            <a:r>
              <a:rPr sz="1500" b="0" i="0" dirty="0">
                <a:solidFill>
                  <a:srgbClr val="FFFFFF"/>
                </a:solidFill>
                <a:latin typeface="Calibri"/>
              </a:rPr>
              <a:t>8 </a:t>
            </a:r>
            <a:r>
              <a:rPr sz="1500" b="0" i="0" dirty="0" err="1">
                <a:solidFill>
                  <a:srgbClr val="FFFFFF"/>
                </a:solidFill>
                <a:latin typeface="Calibri"/>
              </a:rPr>
              <a:t>funktionale</a:t>
            </a:r>
            <a:r>
              <a:rPr sz="1500" b="0" i="0" dirty="0">
                <a:solidFill>
                  <a:srgbClr val="FFFFFF"/>
                </a:solidFill>
                <a:latin typeface="Calibri"/>
              </a:rPr>
              <a:t> · 3 nicht-</a:t>
            </a:r>
            <a:r>
              <a:rPr sz="1500" b="0" i="0" dirty="0" err="1">
                <a:solidFill>
                  <a:srgbClr val="FFFFFF"/>
                </a:solidFill>
                <a:latin typeface="Calibri"/>
              </a:rPr>
              <a:t>funktionale</a:t>
            </a:r>
            <a:r>
              <a:rPr sz="1500" b="0" i="0" dirty="0">
                <a:solidFill>
                  <a:srgbClr val="FFFFFF"/>
                </a:solidFill>
                <a:latin typeface="Calibri"/>
              </a:rPr>
              <a:t> · 4 User Stories</a:t>
            </a:r>
          </a:p>
          <a:p>
            <a:pPr algn="l">
              <a:lnSpc>
                <a:spcPct val="120000"/>
              </a:lnSpc>
              <a:spcBef>
                <a:spcPts val="500"/>
              </a:spcBef>
            </a:pPr>
            <a:r>
              <a:rPr sz="1500" b="0" i="0" dirty="0">
                <a:solidFill>
                  <a:srgbClr val="FFFFFF"/>
                </a:solidFill>
                <a:latin typeface="Calibri"/>
              </a:rPr>
              <a:t>Rollen </a:t>
            </a:r>
            <a:r>
              <a:rPr sz="1500" b="0" i="0" dirty="0" err="1">
                <a:solidFill>
                  <a:srgbClr val="FFFFFF"/>
                </a:solidFill>
                <a:latin typeface="Calibri"/>
              </a:rPr>
              <a:t>getrennt</a:t>
            </a:r>
            <a:r>
              <a:rPr sz="1500" b="0" i="0" dirty="0">
                <a:solidFill>
                  <a:srgbClr val="FFFFFF"/>
                </a:solidFill>
                <a:latin typeface="Calibri"/>
              </a:rPr>
              <a:t> · </a:t>
            </a:r>
            <a:r>
              <a:rPr sz="1500" b="0" i="0" dirty="0" err="1">
                <a:solidFill>
                  <a:srgbClr val="FFFFFF"/>
                </a:solidFill>
                <a:latin typeface="Calibri"/>
              </a:rPr>
              <a:t>Daten</a:t>
            </a:r>
            <a:r>
              <a:rPr sz="1500" b="0" i="0" dirty="0">
                <a:solidFill>
                  <a:srgbClr val="FFFFFF"/>
                </a:solidFill>
                <a:latin typeface="Calibri"/>
              </a:rPr>
              <a:t> in der Schweiz</a:t>
            </a:r>
          </a:p>
        </p:txBody>
      </p:sp>
      <p:sp>
        <p:nvSpPr>
          <p:cNvPr id="43" name="TextBox 42"/>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44" name="TextBox 43"/>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C3  ·  06 / 11</a:t>
            </a:r>
          </a:p>
        </p:txBody>
      </p:sp>
      <p:sp>
        <p:nvSpPr>
          <p:cNvPr id="45"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46"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4  Bewertung</a:t>
            </a:r>
          </a:p>
        </p:txBody>
      </p:sp>
      <p:sp>
        <p:nvSpPr>
          <p:cNvPr id="9" name="Rounded Rectangle 8"/>
          <p:cNvSpPr/>
          <p:nvPr/>
        </p:nvSpPr>
        <p:spPr>
          <a:xfrm>
            <a:off x="4629600"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Belegt — mit benannten Grenzen</a:t>
            </a:r>
          </a:p>
        </p:txBody>
      </p:sp>
      <p:sp>
        <p:nvSpPr>
          <p:cNvPr id="13" name="TextBox 12"/>
          <p:cNvSpPr txBox="1"/>
          <p:nvPr/>
        </p:nvSpPr>
        <p:spPr>
          <a:xfrm>
            <a:off x="540000" y="1296000"/>
            <a:ext cx="4752000" cy="288000"/>
          </a:xfrm>
          <a:prstGeom prst="rect">
            <a:avLst/>
          </a:prstGeom>
          <a:noFill/>
        </p:spPr>
        <p:txBody>
          <a:bodyPr wrap="square" lIns="0" tIns="0" rIns="0" bIns="0" anchor="t">
            <a:spAutoFit/>
          </a:bodyPr>
          <a:lstStyle/>
          <a:p>
            <a:pPr algn="l"/>
            <a:r>
              <a:rPr sz="1500" b="1" i="0">
                <a:solidFill>
                  <a:srgbClr val="FF6B35"/>
                </a:solidFill>
                <a:latin typeface="Calibri"/>
              </a:rPr>
              <a:t>Sechs Risiken bewertet</a:t>
            </a:r>
          </a:p>
        </p:txBody>
      </p:sp>
      <p:sp>
        <p:nvSpPr>
          <p:cNvPr id="14" name="Rounded Rectangle 13"/>
          <p:cNvSpPr/>
          <p:nvPr/>
        </p:nvSpPr>
        <p:spPr>
          <a:xfrm>
            <a:off x="540000" y="1620000"/>
            <a:ext cx="4752000" cy="576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20000" y="1699200"/>
            <a:ext cx="4392000" cy="251999"/>
          </a:xfrm>
          <a:prstGeom prst="rect">
            <a:avLst/>
          </a:prstGeom>
          <a:noFill/>
        </p:spPr>
        <p:txBody>
          <a:bodyPr wrap="square" lIns="0" tIns="0" rIns="0" bIns="0" anchor="t">
            <a:spAutoFit/>
          </a:bodyPr>
          <a:lstStyle/>
          <a:p>
            <a:pPr algn="l"/>
            <a:r>
              <a:rPr sz="1400" b="1" i="0">
                <a:solidFill>
                  <a:srgbClr val="FFFFFF"/>
                </a:solidFill>
                <a:latin typeface="Calibri"/>
              </a:rPr>
              <a:t>Tagesmenü wird im POS überschrieben</a:t>
            </a:r>
          </a:p>
        </p:txBody>
      </p:sp>
      <p:sp>
        <p:nvSpPr>
          <p:cNvPr id="16" name="TextBox 15"/>
          <p:cNvSpPr txBox="1"/>
          <p:nvPr/>
        </p:nvSpPr>
        <p:spPr>
          <a:xfrm>
            <a:off x="720000" y="1951200"/>
            <a:ext cx="4392000" cy="184666"/>
          </a:xfrm>
          <a:prstGeom prst="rect">
            <a:avLst/>
          </a:prstGeom>
          <a:noFill/>
        </p:spPr>
        <p:txBody>
          <a:bodyPr wrap="square" lIns="0" tIns="0" rIns="0" bIns="0" anchor="t">
            <a:spAutoFit/>
          </a:bodyPr>
          <a:lstStyle/>
          <a:p>
            <a:pPr algn="l"/>
            <a:r>
              <a:rPr sz="1200" b="0" i="0" dirty="0">
                <a:solidFill>
                  <a:srgbClr val="B9BEC8"/>
                </a:solidFill>
                <a:latin typeface="Calibri"/>
              </a:rPr>
              <a:t>seit 09/2026 täglicher Import</a:t>
            </a:r>
          </a:p>
        </p:txBody>
      </p:sp>
      <p:sp>
        <p:nvSpPr>
          <p:cNvPr id="17" name="Rounded Rectangle 16"/>
          <p:cNvSpPr/>
          <p:nvPr/>
        </p:nvSpPr>
        <p:spPr>
          <a:xfrm>
            <a:off x="540000" y="2286000"/>
            <a:ext cx="4752000" cy="576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20000" y="2365200"/>
            <a:ext cx="4392000" cy="251999"/>
          </a:xfrm>
          <a:prstGeom prst="rect">
            <a:avLst/>
          </a:prstGeom>
          <a:noFill/>
        </p:spPr>
        <p:txBody>
          <a:bodyPr wrap="square" lIns="0" tIns="0" rIns="0" bIns="0" anchor="t">
            <a:spAutoFit/>
          </a:bodyPr>
          <a:lstStyle/>
          <a:p>
            <a:pPr algn="l"/>
            <a:r>
              <a:rPr sz="1400" b="1" i="0">
                <a:solidFill>
                  <a:srgbClr val="FFFFFF"/>
                </a:solidFill>
                <a:latin typeface="Calibri"/>
              </a:rPr>
              <a:t>Akzeptanz in der Küche</a:t>
            </a:r>
          </a:p>
        </p:txBody>
      </p:sp>
      <p:sp>
        <p:nvSpPr>
          <p:cNvPr id="19" name="TextBox 18"/>
          <p:cNvSpPr txBox="1"/>
          <p:nvPr/>
        </p:nvSpPr>
        <p:spPr>
          <a:xfrm>
            <a:off x="720000" y="2617200"/>
            <a:ext cx="4392000" cy="216000"/>
          </a:xfrm>
          <a:prstGeom prst="rect">
            <a:avLst/>
          </a:prstGeom>
          <a:noFill/>
        </p:spPr>
        <p:txBody>
          <a:bodyPr wrap="square" lIns="0" tIns="0" rIns="0" bIns="0" anchor="t">
            <a:spAutoFit/>
          </a:bodyPr>
          <a:lstStyle/>
          <a:p>
            <a:pPr algn="l"/>
            <a:r>
              <a:rPr sz="1200" b="0" i="0">
                <a:solidFill>
                  <a:srgbClr val="B9BEC8"/>
                </a:solidFill>
                <a:latin typeface="Calibri"/>
              </a:rPr>
              <a:t>Schulung und Co-Creation</a:t>
            </a:r>
          </a:p>
        </p:txBody>
      </p:sp>
      <p:sp>
        <p:nvSpPr>
          <p:cNvPr id="20" name="Rounded Rectangle 19"/>
          <p:cNvSpPr/>
          <p:nvPr/>
        </p:nvSpPr>
        <p:spPr>
          <a:xfrm>
            <a:off x="540000" y="2951999"/>
            <a:ext cx="4752000" cy="576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20000" y="3031200"/>
            <a:ext cx="4392000" cy="251999"/>
          </a:xfrm>
          <a:prstGeom prst="rect">
            <a:avLst/>
          </a:prstGeom>
          <a:noFill/>
        </p:spPr>
        <p:txBody>
          <a:bodyPr wrap="square" lIns="0" tIns="0" rIns="0" bIns="0" anchor="t">
            <a:spAutoFit/>
          </a:bodyPr>
          <a:lstStyle/>
          <a:p>
            <a:pPr algn="l"/>
            <a:r>
              <a:rPr sz="1400" b="1" i="0">
                <a:solidFill>
                  <a:srgbClr val="FFFFFF"/>
                </a:solidFill>
                <a:latin typeface="Calibri"/>
              </a:rPr>
              <a:t>Anlässe in der Region</a:t>
            </a:r>
          </a:p>
        </p:txBody>
      </p:sp>
      <p:sp>
        <p:nvSpPr>
          <p:cNvPr id="22" name="TextBox 21"/>
          <p:cNvSpPr txBox="1"/>
          <p:nvPr/>
        </p:nvSpPr>
        <p:spPr>
          <a:xfrm>
            <a:off x="720000" y="3283199"/>
            <a:ext cx="4392000" cy="216000"/>
          </a:xfrm>
          <a:prstGeom prst="rect">
            <a:avLst/>
          </a:prstGeom>
          <a:noFill/>
        </p:spPr>
        <p:txBody>
          <a:bodyPr wrap="square" lIns="0" tIns="0" rIns="0" bIns="0" anchor="t">
            <a:spAutoFit/>
          </a:bodyPr>
          <a:lstStyle/>
          <a:p>
            <a:pPr algn="l"/>
            <a:r>
              <a:rPr sz="1200" b="0" i="0">
                <a:solidFill>
                  <a:srgbClr val="B9BEC8"/>
                </a:solidFill>
                <a:latin typeface="Calibri"/>
              </a:rPr>
              <a:t>vollständig — KI-Suche mit Freigabe</a:t>
            </a:r>
          </a:p>
        </p:txBody>
      </p:sp>
      <p:sp>
        <p:nvSpPr>
          <p:cNvPr id="23" name="Rounded Rectangle 22"/>
          <p:cNvSpPr/>
          <p:nvPr/>
        </p:nvSpPr>
        <p:spPr>
          <a:xfrm>
            <a:off x="540000" y="3618000"/>
            <a:ext cx="4752000" cy="576000"/>
          </a:xfrm>
          <a:prstGeom prst="roundRect">
            <a:avLst>
              <a:gd name="adj" fmla="val 6000"/>
            </a:avLst>
          </a:prstGeom>
          <a:solidFill>
            <a:srgbClr val="2B18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20000" y="3697200"/>
            <a:ext cx="4392000" cy="251999"/>
          </a:xfrm>
          <a:prstGeom prst="rect">
            <a:avLst/>
          </a:prstGeom>
          <a:noFill/>
        </p:spPr>
        <p:txBody>
          <a:bodyPr wrap="square" lIns="0" tIns="0" rIns="0" bIns="0" anchor="t">
            <a:spAutoFit/>
          </a:bodyPr>
          <a:lstStyle/>
          <a:p>
            <a:pPr algn="l"/>
            <a:r>
              <a:rPr sz="1400" b="1" i="0">
                <a:solidFill>
                  <a:srgbClr val="FF6B35"/>
                </a:solidFill>
                <a:latin typeface="Calibri"/>
              </a:rPr>
              <a:t>Beschaffung eigener Hardware</a:t>
            </a:r>
          </a:p>
        </p:txBody>
      </p:sp>
      <p:sp>
        <p:nvSpPr>
          <p:cNvPr id="25" name="TextBox 24"/>
          <p:cNvSpPr txBox="1"/>
          <p:nvPr/>
        </p:nvSpPr>
        <p:spPr>
          <a:xfrm>
            <a:off x="720000" y="3949200"/>
            <a:ext cx="4392000" cy="216000"/>
          </a:xfrm>
          <a:prstGeom prst="rect">
            <a:avLst/>
          </a:prstGeom>
          <a:noFill/>
        </p:spPr>
        <p:txBody>
          <a:bodyPr wrap="square" lIns="0" tIns="0" rIns="0" bIns="0" anchor="t">
            <a:spAutoFit/>
          </a:bodyPr>
          <a:lstStyle/>
          <a:p>
            <a:pPr algn="l"/>
            <a:r>
              <a:rPr sz="1200" b="0" i="0">
                <a:solidFill>
                  <a:srgbClr val="B9BEC8"/>
                </a:solidFill>
                <a:latin typeface="Calibri"/>
              </a:rPr>
              <a:t>EINGETRETEN · Jan–Apr 2026 · Lehre: geprüfter Lieferant</a:t>
            </a:r>
          </a:p>
        </p:txBody>
      </p:sp>
      <p:sp>
        <p:nvSpPr>
          <p:cNvPr id="26" name="Rounded Rectangle 25"/>
          <p:cNvSpPr/>
          <p:nvPr/>
        </p:nvSpPr>
        <p:spPr>
          <a:xfrm>
            <a:off x="5508000" y="1296000"/>
            <a:ext cx="3096000" cy="3240000"/>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hlinkClick r:id="rId3" action="ppaction://hlinksldjump"/>
          </p:cNvPr>
          <p:cNvSpPr txBox="1"/>
          <p:nvPr/>
        </p:nvSpPr>
        <p:spPr>
          <a:xfrm>
            <a:off x="5759999" y="1475999"/>
            <a:ext cx="2591999" cy="288000"/>
          </a:xfrm>
          <a:prstGeom prst="rect">
            <a:avLst/>
          </a:prstGeom>
          <a:noFill/>
        </p:spPr>
        <p:txBody>
          <a:bodyPr wrap="square" lIns="0" tIns="0" rIns="0" bIns="0" anchor="t">
            <a:spAutoFit/>
          </a:bodyPr>
          <a:lstStyle/>
          <a:p>
            <a:pPr algn="l"/>
            <a:r>
              <a:rPr sz="1400" b="1" i="0">
                <a:solidFill>
                  <a:srgbClr val="22C55E"/>
                </a:solidFill>
                <a:latin typeface="Calibri"/>
              </a:rPr>
              <a:t>Walk-Forward-Backtest, August 2026</a:t>
            </a:r>
          </a:p>
        </p:txBody>
      </p:sp>
      <p:sp>
        <p:nvSpPr>
          <p:cNvPr id="28" name="TextBox 27"/>
          <p:cNvSpPr txBox="1"/>
          <p:nvPr/>
        </p:nvSpPr>
        <p:spPr>
          <a:xfrm>
            <a:off x="5759999" y="1872000"/>
            <a:ext cx="2591999" cy="720000"/>
          </a:xfrm>
          <a:prstGeom prst="rect">
            <a:avLst/>
          </a:prstGeom>
          <a:noFill/>
        </p:spPr>
        <p:txBody>
          <a:bodyPr wrap="square" lIns="0" tIns="0" rIns="0" bIns="0" anchor="t">
            <a:spAutoFit/>
          </a:bodyPr>
          <a:lstStyle/>
          <a:p>
            <a:pPr algn="l"/>
            <a:r>
              <a:rPr sz="4200" b="1" i="0">
                <a:solidFill>
                  <a:srgbClr val="22C55E"/>
                </a:solidFill>
                <a:latin typeface="Calibri"/>
              </a:rPr>
              <a:t>43.2 %</a:t>
            </a:r>
          </a:p>
        </p:txBody>
      </p:sp>
      <p:sp>
        <p:nvSpPr>
          <p:cNvPr id="29" name="TextBox 28"/>
          <p:cNvSpPr txBox="1"/>
          <p:nvPr/>
        </p:nvSpPr>
        <p:spPr>
          <a:xfrm>
            <a:off x="5759999" y="2628000"/>
            <a:ext cx="2591999" cy="360000"/>
          </a:xfrm>
          <a:prstGeom prst="rect">
            <a:avLst/>
          </a:prstGeom>
          <a:noFill/>
        </p:spPr>
        <p:txBody>
          <a:bodyPr wrap="square" lIns="0" tIns="0" rIns="0" bIns="0" anchor="t">
            <a:spAutoFit/>
          </a:bodyPr>
          <a:lstStyle/>
          <a:p>
            <a:pPr algn="l"/>
            <a:r>
              <a:rPr sz="1400" b="0" i="0">
                <a:solidFill>
                  <a:srgbClr val="FFFFFF"/>
                </a:solidFill>
                <a:latin typeface="Calibri"/>
              </a:rPr>
              <a:t>MAPE des Modells</a:t>
            </a:r>
          </a:p>
        </p:txBody>
      </p:sp>
      <p:sp>
        <p:nvSpPr>
          <p:cNvPr id="30" name="TextBox 29"/>
          <p:cNvSpPr txBox="1"/>
          <p:nvPr/>
        </p:nvSpPr>
        <p:spPr>
          <a:xfrm>
            <a:off x="5759999" y="3024000"/>
            <a:ext cx="2591999" cy="360000"/>
          </a:xfrm>
          <a:prstGeom prst="rect">
            <a:avLst/>
          </a:prstGeom>
          <a:noFill/>
        </p:spPr>
        <p:txBody>
          <a:bodyPr wrap="square" lIns="0" tIns="0" rIns="0" bIns="0" anchor="t">
            <a:spAutoFit/>
          </a:bodyPr>
          <a:lstStyle/>
          <a:p>
            <a:pPr algn="l">
              <a:lnSpc>
                <a:spcPct val="120000"/>
              </a:lnSpc>
            </a:pPr>
            <a:r>
              <a:rPr sz="1400" b="0" i="0">
                <a:solidFill>
                  <a:srgbClr val="B9BEC8"/>
                </a:solidFill>
                <a:latin typeface="Calibri"/>
              </a:rPr>
              <a:t>gegen 81.4 % der naiven Baseline</a:t>
            </a:r>
          </a:p>
        </p:txBody>
      </p:sp>
      <p:sp>
        <p:nvSpPr>
          <p:cNvPr id="31" name="Rounded Rectangle 30"/>
          <p:cNvSpPr/>
          <p:nvPr/>
        </p:nvSpPr>
        <p:spPr>
          <a:xfrm>
            <a:off x="5759999" y="3491999"/>
            <a:ext cx="2591999" cy="10800"/>
          </a:xfrm>
          <a:prstGeom prst="roundRect">
            <a:avLst>
              <a:gd name="adj" fmla="val 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759999" y="3636000"/>
            <a:ext cx="2591999" cy="679817"/>
          </a:xfrm>
          <a:prstGeom prst="rect">
            <a:avLst/>
          </a:prstGeom>
          <a:noFill/>
        </p:spPr>
        <p:txBody>
          <a:bodyPr wrap="square" lIns="0" tIns="0" rIns="0" bIns="0" anchor="t">
            <a:spAutoFit/>
          </a:bodyPr>
          <a:lstStyle/>
          <a:p>
            <a:pPr algn="l">
              <a:lnSpc>
                <a:spcPct val="120000"/>
              </a:lnSpc>
            </a:pPr>
            <a:r>
              <a:rPr sz="1400" b="1" i="0" dirty="0" err="1">
                <a:solidFill>
                  <a:srgbClr val="FFFFFF"/>
                </a:solidFill>
                <a:latin typeface="Calibri"/>
              </a:rPr>
              <a:t>Halber Fehler – Ziel</a:t>
            </a:r>
            <a:r>
              <a:rPr sz="1400" b="1" i="0" dirty="0">
                <a:solidFill>
                  <a:srgbClr val="FFFFFF"/>
                </a:solidFill>
                <a:latin typeface="Calibri"/>
              </a:rPr>
              <a:t> </a:t>
            </a:r>
            <a:r>
              <a:rPr sz="1400" b="1" i="0" dirty="0" err="1">
                <a:solidFill>
                  <a:srgbClr val="FFFFFF"/>
                </a:solidFill>
                <a:latin typeface="Calibri"/>
              </a:rPr>
              <a:t>unter</a:t>
            </a:r>
            <a:r>
              <a:rPr sz="1400" b="1" i="0" dirty="0">
                <a:solidFill>
                  <a:srgbClr val="FFFFFF"/>
                </a:solidFill>
                <a:latin typeface="Calibri"/>
              </a:rPr>
              <a:t> 15 % (Top-10-Gerichte) </a:t>
            </a:r>
            <a:r>
              <a:rPr sz="1400" b="1" i="0" dirty="0" err="1">
                <a:solidFill>
                  <a:srgbClr val="FFFFFF"/>
                </a:solidFill>
                <a:latin typeface="Calibri"/>
              </a:rPr>
              <a:t>nach</a:t>
            </a:r>
            <a:r>
              <a:rPr sz="1400" b="1" i="0" dirty="0">
                <a:solidFill>
                  <a:srgbClr val="FFFFFF"/>
                </a:solidFill>
                <a:latin typeface="Calibri"/>
              </a:rPr>
              <a:t> </a:t>
            </a:r>
            <a:r>
              <a:rPr sz="1400" b="1" i="0" dirty="0" err="1">
                <a:solidFill>
                  <a:srgbClr val="FFFFFF"/>
                </a:solidFill>
                <a:latin typeface="Calibri"/>
              </a:rPr>
              <a:t>zwei</a:t>
            </a:r>
            <a:r>
              <a:rPr sz="1400" b="1" i="0" dirty="0">
                <a:solidFill>
                  <a:srgbClr val="FFFFFF"/>
                </a:solidFill>
                <a:latin typeface="Calibri"/>
              </a:rPr>
              <a:t> </a:t>
            </a:r>
            <a:r>
              <a:rPr sz="1400" b="1" i="0" dirty="0" err="1">
                <a:solidFill>
                  <a:srgbClr val="FFFFFF"/>
                </a:solidFill>
                <a:latin typeface="Calibri"/>
              </a:rPr>
              <a:t>Saisonzyklen</a:t>
            </a:r>
            <a:endParaRPr sz="1400" b="1" i="0" dirty="0">
              <a:solidFill>
                <a:srgbClr val="FFFFFF"/>
              </a:solidFill>
              <a:latin typeface="Calibri"/>
            </a:endParaRPr>
          </a:p>
        </p:txBody>
      </p:sp>
      <p:sp>
        <p:nvSpPr>
          <p:cNvPr id="33" name="TextBox 32"/>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34" name="TextBox 33"/>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C4  ·  07 / 11</a:t>
            </a:r>
          </a:p>
        </p:txBody>
      </p:sp>
      <p:sp>
        <p:nvSpPr>
          <p:cNvPr id="35"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36"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4  Bewertung</a:t>
            </a:r>
          </a:p>
        </p:txBody>
      </p:sp>
      <p:sp>
        <p:nvSpPr>
          <p:cNvPr id="9" name="Rounded Rectangle 8"/>
          <p:cNvSpPr/>
          <p:nvPr/>
        </p:nvSpPr>
        <p:spPr>
          <a:xfrm>
            <a:off x="4629600"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Rechnet sich das?</a:t>
            </a:r>
          </a:p>
        </p:txBody>
      </p:sp>
      <p:sp>
        <p:nvSpPr>
          <p:cNvPr id="13" name="Rounded Rectangle 12"/>
          <p:cNvSpPr/>
          <p:nvPr/>
        </p:nvSpPr>
        <p:spPr>
          <a:xfrm>
            <a:off x="540000" y="1332000"/>
            <a:ext cx="2568000" cy="3096000"/>
          </a:xfrm>
          <a:prstGeom prst="roundRect">
            <a:avLst>
              <a:gd name="adj" fmla="val 6000"/>
            </a:avLst>
          </a:prstGeom>
          <a:solidFill>
            <a:srgbClr val="122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7999" y="1620000"/>
            <a:ext cx="1992000" cy="288000"/>
          </a:xfrm>
          <a:prstGeom prst="rect">
            <a:avLst/>
          </a:prstGeom>
          <a:noFill/>
        </p:spPr>
        <p:txBody>
          <a:bodyPr wrap="square" lIns="0" tIns="0" rIns="0" bIns="0" anchor="t">
            <a:spAutoFit/>
          </a:bodyPr>
          <a:lstStyle/>
          <a:p>
            <a:pPr algn="l"/>
            <a:r>
              <a:rPr sz="1300" b="1" i="0">
                <a:solidFill>
                  <a:srgbClr val="22C55E"/>
                </a:solidFill>
                <a:latin typeface="Calibri"/>
              </a:rPr>
              <a:t>NUTZEN PRO JAHR</a:t>
            </a:r>
          </a:p>
        </p:txBody>
      </p:sp>
      <p:sp>
        <p:nvSpPr>
          <p:cNvPr id="15" name="TextBox 14"/>
          <p:cNvSpPr txBox="1"/>
          <p:nvPr/>
        </p:nvSpPr>
        <p:spPr>
          <a:xfrm>
            <a:off x="827999" y="2015999"/>
            <a:ext cx="1992000" cy="648000"/>
          </a:xfrm>
          <a:prstGeom prst="rect">
            <a:avLst/>
          </a:prstGeom>
          <a:noFill/>
        </p:spPr>
        <p:txBody>
          <a:bodyPr wrap="square" lIns="0" tIns="0" rIns="0" bIns="0" anchor="t">
            <a:spAutoFit/>
          </a:bodyPr>
          <a:lstStyle/>
          <a:p>
            <a:pPr algn="l"/>
            <a:r>
              <a:rPr sz="3200" b="1" i="0">
                <a:solidFill>
                  <a:srgbClr val="22C55E"/>
                </a:solidFill>
                <a:latin typeface="Calibri"/>
              </a:rPr>
              <a:t>CHF 18’750</a:t>
            </a:r>
          </a:p>
        </p:txBody>
      </p:sp>
      <p:sp>
        <p:nvSpPr>
          <p:cNvPr id="16" name="TextBox 15"/>
          <p:cNvSpPr txBox="1"/>
          <p:nvPr/>
        </p:nvSpPr>
        <p:spPr>
          <a:xfrm>
            <a:off x="827999" y="2772000"/>
            <a:ext cx="1992000" cy="1512000"/>
          </a:xfrm>
          <a:prstGeom prst="rect">
            <a:avLst/>
          </a:prstGeom>
          <a:noFill/>
        </p:spPr>
        <p:txBody>
          <a:bodyPr wrap="square" lIns="0" tIns="0" rIns="0" bIns="0" anchor="t">
            <a:spAutoFit/>
          </a:bodyPr>
          <a:lstStyle/>
          <a:p>
            <a:pPr algn="l">
              <a:lnSpc>
                <a:spcPct val="120000"/>
              </a:lnSpc>
            </a:pPr>
            <a:r>
              <a:rPr sz="1400" b="0" i="0">
                <a:solidFill>
                  <a:srgbClr val="FFFFFF"/>
                </a:solidFill>
                <a:latin typeface="Calibri"/>
              </a:rPr>
              <a:t>Food Waste halbiert  9’000</a:t>
            </a:r>
          </a:p>
          <a:p>
            <a:pPr algn="l">
              <a:lnSpc>
                <a:spcPct val="120000"/>
              </a:lnSpc>
              <a:spcBef>
                <a:spcPts val="600"/>
              </a:spcBef>
            </a:pPr>
            <a:r>
              <a:rPr sz="1400" b="0" i="0">
                <a:solidFill>
                  <a:srgbClr val="FFFFFF"/>
                </a:solidFill>
                <a:latin typeface="Calibri"/>
              </a:rPr>
              <a:t>Menü-Optimierung  3’750</a:t>
            </a:r>
          </a:p>
          <a:p>
            <a:pPr algn="l">
              <a:lnSpc>
                <a:spcPct val="120000"/>
              </a:lnSpc>
              <a:spcBef>
                <a:spcPts val="600"/>
              </a:spcBef>
            </a:pPr>
            <a:r>
              <a:rPr sz="1400" b="0" i="0">
                <a:solidFill>
                  <a:srgbClr val="FFFFFF"/>
                </a:solidFill>
                <a:latin typeface="Calibri"/>
              </a:rPr>
              <a:t>Zeitersparnis  2’875</a:t>
            </a:r>
          </a:p>
          <a:p>
            <a:pPr algn="l">
              <a:lnSpc>
                <a:spcPct val="120000"/>
              </a:lnSpc>
              <a:spcBef>
                <a:spcPts val="600"/>
              </a:spcBef>
            </a:pPr>
            <a:r>
              <a:rPr sz="1400" b="0" i="0">
                <a:solidFill>
                  <a:srgbClr val="FFFFFF"/>
                </a:solidFill>
                <a:latin typeface="Calibri"/>
              </a:rPr>
              <a:t>Überstunden-/Stressreduktion  3’125</a:t>
            </a:r>
          </a:p>
        </p:txBody>
      </p:sp>
      <p:sp>
        <p:nvSpPr>
          <p:cNvPr id="17" name="Rounded Rectangle 16"/>
          <p:cNvSpPr/>
          <p:nvPr/>
        </p:nvSpPr>
        <p:spPr>
          <a:xfrm>
            <a:off x="3288000" y="1332000"/>
            <a:ext cx="2568000" cy="3096000"/>
          </a:xfrm>
          <a:prstGeom prst="roundRect">
            <a:avLst>
              <a:gd name="adj" fmla="val 6000"/>
            </a:avLst>
          </a:prstGeom>
          <a:solidFill>
            <a:srgbClr val="2B18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576000" y="1620000"/>
            <a:ext cx="1992000" cy="288000"/>
          </a:xfrm>
          <a:prstGeom prst="rect">
            <a:avLst/>
          </a:prstGeom>
          <a:noFill/>
        </p:spPr>
        <p:txBody>
          <a:bodyPr wrap="square" lIns="0" tIns="0" rIns="0" bIns="0" anchor="t">
            <a:spAutoFit/>
          </a:bodyPr>
          <a:lstStyle/>
          <a:p>
            <a:pPr algn="l"/>
            <a:r>
              <a:rPr sz="1300" b="1" i="0">
                <a:solidFill>
                  <a:srgbClr val="FF6B35"/>
                </a:solidFill>
                <a:latin typeface="Calibri"/>
              </a:rPr>
              <a:t>KOSTEN JAHR 1</a:t>
            </a:r>
          </a:p>
        </p:txBody>
      </p:sp>
      <p:sp>
        <p:nvSpPr>
          <p:cNvPr id="19" name="TextBox 18"/>
          <p:cNvSpPr txBox="1"/>
          <p:nvPr/>
        </p:nvSpPr>
        <p:spPr>
          <a:xfrm>
            <a:off x="3576000" y="2015999"/>
            <a:ext cx="1992000" cy="648000"/>
          </a:xfrm>
          <a:prstGeom prst="rect">
            <a:avLst/>
          </a:prstGeom>
          <a:noFill/>
        </p:spPr>
        <p:txBody>
          <a:bodyPr wrap="square" lIns="0" tIns="0" rIns="0" bIns="0" anchor="t">
            <a:spAutoFit/>
          </a:bodyPr>
          <a:lstStyle/>
          <a:p>
            <a:pPr algn="l"/>
            <a:r>
              <a:rPr sz="3200" b="1" i="0">
                <a:solidFill>
                  <a:srgbClr val="FF6B35"/>
                </a:solidFill>
                <a:latin typeface="Calibri"/>
              </a:rPr>
              <a:t>CHF 12’300</a:t>
            </a:r>
          </a:p>
        </p:txBody>
      </p:sp>
      <p:sp>
        <p:nvSpPr>
          <p:cNvPr id="20" name="TextBox 19"/>
          <p:cNvSpPr txBox="1"/>
          <p:nvPr/>
        </p:nvSpPr>
        <p:spPr>
          <a:xfrm>
            <a:off x="3576000" y="2772000"/>
            <a:ext cx="1992000" cy="1512000"/>
          </a:xfrm>
          <a:prstGeom prst="rect">
            <a:avLst/>
          </a:prstGeom>
          <a:noFill/>
        </p:spPr>
        <p:txBody>
          <a:bodyPr wrap="square" lIns="0" tIns="0" rIns="0" bIns="0" anchor="t">
            <a:spAutoFit/>
          </a:bodyPr>
          <a:lstStyle/>
          <a:p>
            <a:pPr algn="l">
              <a:lnSpc>
                <a:spcPct val="120000"/>
              </a:lnSpc>
            </a:pPr>
            <a:r>
              <a:rPr sz="1400" b="0" i="0">
                <a:solidFill>
                  <a:srgbClr val="FFFFFF"/>
                </a:solidFill>
                <a:latin typeface="Calibri"/>
              </a:rPr>
              <a:t>Einrichtung/Datenbereinigung  6’000</a:t>
            </a:r>
          </a:p>
          <a:p>
            <a:pPr algn="l">
              <a:lnSpc>
                <a:spcPct val="120000"/>
              </a:lnSpc>
              <a:spcBef>
                <a:spcPts val="600"/>
              </a:spcBef>
            </a:pPr>
            <a:r>
              <a:rPr sz="1400" b="0" i="0">
                <a:solidFill>
                  <a:srgbClr val="FFFFFF"/>
                </a:solidFill>
                <a:latin typeface="Calibri"/>
              </a:rPr>
              <a:t>Lizenz 400/Mt.  4’800</a:t>
            </a:r>
          </a:p>
          <a:p>
            <a:pPr algn="l">
              <a:lnSpc>
                <a:spcPct val="120000"/>
              </a:lnSpc>
              <a:spcBef>
                <a:spcPts val="600"/>
              </a:spcBef>
            </a:pPr>
            <a:r>
              <a:rPr sz="1400" b="0" i="0">
                <a:solidFill>
                  <a:srgbClr val="FFFFFF"/>
                </a:solidFill>
                <a:latin typeface="Calibri"/>
              </a:rPr>
              <a:t>Onboarding  1’500</a:t>
            </a:r>
          </a:p>
          <a:p>
            <a:pPr algn="l">
              <a:lnSpc>
                <a:spcPct val="120000"/>
              </a:lnSpc>
              <a:spcBef>
                <a:spcPts val="600"/>
              </a:spcBef>
            </a:pPr>
            <a:r>
              <a:rPr sz="1400" b="0" i="0">
                <a:solidFill>
                  <a:srgbClr val="FFFFFF"/>
                </a:solidFill>
                <a:latin typeface="Calibri"/>
              </a:rPr>
              <a:t>Wartung erst ab Jahr 2</a:t>
            </a:r>
          </a:p>
        </p:txBody>
      </p:sp>
      <p:sp>
        <p:nvSpPr>
          <p:cNvPr id="21" name="Rounded Rectangle 20"/>
          <p:cNvSpPr/>
          <p:nvPr/>
        </p:nvSpPr>
        <p:spPr>
          <a:xfrm>
            <a:off x="6036000" y="1332000"/>
            <a:ext cx="2568000" cy="309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324000" y="1620000"/>
            <a:ext cx="1992000" cy="288000"/>
          </a:xfrm>
          <a:prstGeom prst="rect">
            <a:avLst/>
          </a:prstGeom>
          <a:noFill/>
        </p:spPr>
        <p:txBody>
          <a:bodyPr wrap="square" lIns="0" tIns="0" rIns="0" bIns="0" anchor="t">
            <a:spAutoFit/>
          </a:bodyPr>
          <a:lstStyle/>
          <a:p>
            <a:pPr algn="l"/>
            <a:r>
              <a:rPr sz="1300" b="1" i="0">
                <a:solidFill>
                  <a:srgbClr val="B9BEC8"/>
                </a:solidFill>
                <a:latin typeface="Calibri"/>
              </a:rPr>
              <a:t>NETTO JAHR 1</a:t>
            </a:r>
          </a:p>
        </p:txBody>
      </p:sp>
      <p:sp>
        <p:nvSpPr>
          <p:cNvPr id="23" name="TextBox 22"/>
          <p:cNvSpPr txBox="1"/>
          <p:nvPr/>
        </p:nvSpPr>
        <p:spPr>
          <a:xfrm>
            <a:off x="6324000" y="2015999"/>
            <a:ext cx="1992000" cy="648000"/>
          </a:xfrm>
          <a:prstGeom prst="rect">
            <a:avLst/>
          </a:prstGeom>
          <a:noFill/>
        </p:spPr>
        <p:txBody>
          <a:bodyPr wrap="square" lIns="0" tIns="0" rIns="0" bIns="0" anchor="t">
            <a:spAutoFit/>
          </a:bodyPr>
          <a:lstStyle/>
          <a:p>
            <a:pPr algn="l"/>
            <a:r>
              <a:rPr sz="3200" b="1" i="0">
                <a:solidFill>
                  <a:srgbClr val="FFFFFF"/>
                </a:solidFill>
                <a:latin typeface="Calibri"/>
              </a:rPr>
              <a:t>+ CHF 6’450</a:t>
            </a:r>
          </a:p>
        </p:txBody>
      </p:sp>
      <p:sp>
        <p:nvSpPr>
          <p:cNvPr id="24" name="TextBox 23"/>
          <p:cNvSpPr txBox="1"/>
          <p:nvPr/>
        </p:nvSpPr>
        <p:spPr>
          <a:xfrm>
            <a:off x="6324000" y="2772000"/>
            <a:ext cx="1992000" cy="1512000"/>
          </a:xfrm>
          <a:prstGeom prst="rect">
            <a:avLst/>
          </a:prstGeom>
          <a:noFill/>
        </p:spPr>
        <p:txBody>
          <a:bodyPr wrap="square" lIns="0" tIns="0" rIns="0" bIns="0" anchor="t">
            <a:spAutoFit/>
          </a:bodyPr>
          <a:lstStyle/>
          <a:p>
            <a:pPr algn="l">
              <a:lnSpc>
                <a:spcPct val="120000"/>
              </a:lnSpc>
            </a:pPr>
            <a:r>
              <a:rPr sz="1400" b="0" i="0">
                <a:solidFill>
                  <a:srgbClr val="FFFFFF"/>
                </a:solidFill>
                <a:latin typeface="Calibri"/>
              </a:rPr>
              <a:t>Netto-ROI  52 %</a:t>
            </a:r>
          </a:p>
          <a:p>
            <a:pPr algn="l">
              <a:lnSpc>
                <a:spcPct val="120000"/>
              </a:lnSpc>
              <a:spcBef>
                <a:spcPts val="600"/>
              </a:spcBef>
            </a:pPr>
            <a:r>
              <a:rPr sz="1400" b="0" i="0">
                <a:solidFill>
                  <a:srgbClr val="FFFFFF"/>
                </a:solidFill>
                <a:latin typeface="Calibri"/>
              </a:rPr>
              <a:t>Break-even  6.5 Monate</a:t>
            </a:r>
          </a:p>
          <a:p>
            <a:pPr algn="l">
              <a:lnSpc>
                <a:spcPct val="120000"/>
              </a:lnSpc>
              <a:spcBef>
                <a:spcPts val="600"/>
              </a:spcBef>
            </a:pPr>
            <a:r>
              <a:rPr sz="1400" b="0" i="0">
                <a:solidFill>
                  <a:srgbClr val="FFFFFF"/>
                </a:solidFill>
                <a:latin typeface="Calibri"/>
              </a:rPr>
              <a:t>Drei Jahre  146 %</a:t>
            </a:r>
          </a:p>
        </p:txBody>
      </p:sp>
      <p:sp>
        <p:nvSpPr>
          <p:cNvPr id="25" name="TextBox 24"/>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6" name="TextBox 25"/>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C5  ·  08 / 11</a:t>
            </a:r>
          </a:p>
        </p:txBody>
      </p:sp>
      <p:sp>
        <p:nvSpPr>
          <p:cNvPr id="27"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28"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5  Empfehlung</a:t>
            </a:r>
          </a:p>
        </p:txBody>
      </p:sp>
      <p:sp>
        <p:nvSpPr>
          <p:cNvPr id="11" name="Rounded Rectangle 10"/>
          <p:cNvSpPr/>
          <p:nvPr/>
        </p:nvSpPr>
        <p:spPr>
          <a:xfrm>
            <a:off x="5992799"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461665"/>
          </a:xfrm>
          <a:prstGeom prst="rect">
            <a:avLst/>
          </a:prstGeom>
          <a:noFill/>
        </p:spPr>
        <p:txBody>
          <a:bodyPr wrap="square" lIns="0" tIns="0" rIns="0" bIns="0" anchor="t">
            <a:spAutoFit/>
          </a:bodyPr>
          <a:lstStyle/>
          <a:p>
            <a:pPr algn="l"/>
            <a:r>
              <a:rPr sz="3000" b="1" i="0" dirty="0">
                <a:solidFill>
                  <a:srgbClr val="FFFFFF"/>
                </a:solidFill>
                <a:latin typeface="Calibri"/>
              </a:rPr>
              <a:t>Was ich von </a:t>
            </a:r>
            <a:r>
              <a:rPr lang="de-CH" sz="3000" b="1" i="0" dirty="0">
                <a:solidFill>
                  <a:srgbClr val="FFFFFF"/>
                </a:solidFill>
                <a:latin typeface="Calibri"/>
              </a:rPr>
              <a:t>Fotios </a:t>
            </a:r>
            <a:r>
              <a:rPr lang="de-CH" sz="3000" b="1" i="0" dirty="0" err="1">
                <a:solidFill>
                  <a:srgbClr val="FFFFFF"/>
                </a:solidFill>
                <a:latin typeface="Calibri"/>
              </a:rPr>
              <a:t>Kleidaras</a:t>
            </a:r>
            <a:r>
              <a:rPr sz="3000" b="1" i="0" dirty="0">
                <a:solidFill>
                  <a:srgbClr val="FFFFFF"/>
                </a:solidFill>
                <a:latin typeface="Calibri"/>
              </a:rPr>
              <a:t> </a:t>
            </a:r>
            <a:r>
              <a:rPr sz="3000" b="1" i="0" dirty="0" err="1">
                <a:solidFill>
                  <a:srgbClr val="FFFFFF"/>
                </a:solidFill>
                <a:latin typeface="Calibri"/>
              </a:rPr>
              <a:t>brauche</a:t>
            </a:r>
            <a:endParaRPr sz="3000" b="1" i="0" dirty="0">
              <a:solidFill>
                <a:srgbClr val="FFFFFF"/>
              </a:solidFill>
              <a:latin typeface="Calibri"/>
            </a:endParaRPr>
          </a:p>
        </p:txBody>
      </p:sp>
      <p:sp>
        <p:nvSpPr>
          <p:cNvPr id="13" name="Rounded Rectangle 12"/>
          <p:cNvSpPr/>
          <p:nvPr/>
        </p:nvSpPr>
        <p:spPr>
          <a:xfrm>
            <a:off x="540000" y="1296000"/>
            <a:ext cx="8063999" cy="1080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4000" y="1422000"/>
            <a:ext cx="7415999" cy="200055"/>
          </a:xfrm>
          <a:prstGeom prst="rect">
            <a:avLst/>
          </a:prstGeom>
          <a:noFill/>
        </p:spPr>
        <p:txBody>
          <a:bodyPr wrap="square" lIns="0" tIns="0" rIns="0" bIns="0" anchor="t">
            <a:spAutoFit/>
          </a:bodyPr>
          <a:lstStyle/>
          <a:p>
            <a:pPr algn="l"/>
            <a:r>
              <a:rPr sz="1300" b="1" i="0" dirty="0">
                <a:solidFill>
                  <a:srgbClr val="FFE3D3"/>
                </a:solidFill>
                <a:latin typeface="Calibri"/>
              </a:rPr>
              <a:t>IHRE ENTSCHEIDUNG </a:t>
            </a:r>
            <a:r>
              <a:rPr lang="de-CH" sz="1300" b="1" i="0" dirty="0">
                <a:solidFill>
                  <a:srgbClr val="FFE3D3"/>
                </a:solidFill>
                <a:latin typeface="Calibri"/>
              </a:rPr>
              <a:t>· Managementpräsentation Restaurant Löwenburg</a:t>
            </a:r>
            <a:endParaRPr sz="1300" b="1" i="0" dirty="0">
              <a:solidFill>
                <a:srgbClr val="FFE3D3"/>
              </a:solidFill>
              <a:latin typeface="Calibri"/>
            </a:endParaRPr>
          </a:p>
        </p:txBody>
      </p:sp>
      <p:sp>
        <p:nvSpPr>
          <p:cNvPr id="15" name="TextBox 14"/>
          <p:cNvSpPr txBox="1"/>
          <p:nvPr/>
        </p:nvSpPr>
        <p:spPr>
          <a:xfrm>
            <a:off x="864000" y="1710000"/>
            <a:ext cx="7415999" cy="430887"/>
          </a:xfrm>
          <a:prstGeom prst="rect">
            <a:avLst/>
          </a:prstGeom>
          <a:noFill/>
        </p:spPr>
        <p:txBody>
          <a:bodyPr wrap="square" lIns="0" tIns="0" rIns="0" bIns="0" anchor="t">
            <a:spAutoFit/>
          </a:bodyPr>
          <a:lstStyle/>
          <a:p>
            <a:pPr algn="l"/>
            <a:r>
              <a:rPr sz="2800" b="1" i="0" dirty="0" err="1">
                <a:solidFill>
                  <a:srgbClr val="FFFFFF"/>
                </a:solidFill>
                <a:latin typeface="Calibri"/>
              </a:rPr>
              <a:t>Geben</a:t>
            </a:r>
            <a:r>
              <a:rPr sz="2800" b="1" i="0" dirty="0">
                <a:solidFill>
                  <a:srgbClr val="FFFFFF"/>
                </a:solidFill>
                <a:latin typeface="Calibri"/>
              </a:rPr>
              <a:t> Sie CHF 12’300 für </a:t>
            </a:r>
            <a:r>
              <a:rPr lang="de-CH" sz="2800" b="1" i="0" dirty="0">
                <a:solidFill>
                  <a:srgbClr val="FFFFFF"/>
                </a:solidFill>
                <a:latin typeface="Calibri"/>
              </a:rPr>
              <a:t>den </a:t>
            </a:r>
            <a:r>
              <a:rPr lang="de-CH" sz="2800" b="1" dirty="0">
                <a:solidFill>
                  <a:srgbClr val="FFFFFF"/>
                </a:solidFill>
                <a:latin typeface="Calibri"/>
              </a:rPr>
              <a:t>Fort</a:t>
            </a:r>
            <a:r>
              <a:rPr lang="de-CH" sz="2800" b="1" i="0" dirty="0">
                <a:solidFill>
                  <a:srgbClr val="FFFFFF"/>
                </a:solidFill>
                <a:latin typeface="Calibri"/>
              </a:rPr>
              <a:t>betrieb </a:t>
            </a:r>
            <a:r>
              <a:rPr sz="2800" b="1" i="0" dirty="0" err="1">
                <a:solidFill>
                  <a:srgbClr val="FFFFFF"/>
                </a:solidFill>
                <a:latin typeface="Calibri"/>
              </a:rPr>
              <a:t>frei</a:t>
            </a:r>
            <a:r>
              <a:rPr sz="2800" b="1" i="0" dirty="0">
                <a:solidFill>
                  <a:srgbClr val="FFFFFF"/>
                </a:solidFill>
                <a:latin typeface="Calibri"/>
              </a:rPr>
              <a:t>?</a:t>
            </a:r>
          </a:p>
        </p:txBody>
      </p:sp>
      <p:sp>
        <p:nvSpPr>
          <p:cNvPr id="16" name="Rounded Rectangle 15"/>
          <p:cNvSpPr/>
          <p:nvPr/>
        </p:nvSpPr>
        <p:spPr>
          <a:xfrm>
            <a:off x="540000" y="2592000"/>
            <a:ext cx="2568000" cy="1584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56000" y="2736000"/>
            <a:ext cx="2135999" cy="288000"/>
          </a:xfrm>
          <a:prstGeom prst="rect">
            <a:avLst/>
          </a:prstGeom>
          <a:noFill/>
        </p:spPr>
        <p:txBody>
          <a:bodyPr wrap="square" lIns="0" tIns="0" rIns="0" bIns="0" anchor="t">
            <a:spAutoFit/>
          </a:bodyPr>
          <a:lstStyle/>
          <a:p>
            <a:pPr algn="l"/>
            <a:r>
              <a:rPr sz="1500" b="1" i="0">
                <a:solidFill>
                  <a:srgbClr val="FF6B35"/>
                </a:solidFill>
                <a:latin typeface="Calibri"/>
              </a:rPr>
              <a:t>Dafür bekommen Sie</a:t>
            </a:r>
          </a:p>
        </p:txBody>
      </p:sp>
      <p:sp>
        <p:nvSpPr>
          <p:cNvPr id="18" name="TextBox 17"/>
          <p:cNvSpPr txBox="1"/>
          <p:nvPr/>
        </p:nvSpPr>
        <p:spPr>
          <a:xfrm>
            <a:off x="756000" y="3096000"/>
            <a:ext cx="2135999" cy="787973"/>
          </a:xfrm>
          <a:prstGeom prst="rect">
            <a:avLst/>
          </a:prstGeom>
          <a:noFill/>
        </p:spPr>
        <p:txBody>
          <a:bodyPr wrap="square" lIns="0" tIns="0" rIns="0" bIns="0" anchor="t">
            <a:spAutoFit/>
          </a:bodyPr>
          <a:lstStyle/>
          <a:p>
            <a:pPr algn="l">
              <a:lnSpc>
                <a:spcPct val="125000"/>
              </a:lnSpc>
            </a:pPr>
            <a:r>
              <a:rPr sz="1400" b="0" i="0" dirty="0" err="1">
                <a:solidFill>
                  <a:srgbClr val="FFFFFF"/>
                </a:solidFill>
                <a:latin typeface="Calibri"/>
              </a:rPr>
              <a:t>Regelbetrieb für ein Jahr: Datenbereinigung, Lizenz und Onboarding</a:t>
            </a:r>
          </a:p>
        </p:txBody>
      </p:sp>
      <p:sp>
        <p:nvSpPr>
          <p:cNvPr id="19" name="Rounded Rectangle 18"/>
          <p:cNvSpPr/>
          <p:nvPr/>
        </p:nvSpPr>
        <p:spPr>
          <a:xfrm>
            <a:off x="3288000" y="2592000"/>
            <a:ext cx="2568000" cy="1584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503999" y="2736000"/>
            <a:ext cx="2135999" cy="288000"/>
          </a:xfrm>
          <a:prstGeom prst="rect">
            <a:avLst/>
          </a:prstGeom>
          <a:noFill/>
        </p:spPr>
        <p:txBody>
          <a:bodyPr wrap="square" lIns="0" tIns="0" rIns="0" bIns="0" anchor="t">
            <a:spAutoFit/>
          </a:bodyPr>
          <a:lstStyle/>
          <a:p>
            <a:pPr algn="l"/>
            <a:r>
              <a:rPr sz="1500" b="1" i="0">
                <a:solidFill>
                  <a:srgbClr val="FF6B35"/>
                </a:solidFill>
                <a:latin typeface="Calibri"/>
              </a:rPr>
              <a:t>Dafür brauche ich Sie</a:t>
            </a:r>
          </a:p>
        </p:txBody>
      </p:sp>
      <p:sp>
        <p:nvSpPr>
          <p:cNvPr id="21" name="TextBox 20"/>
          <p:cNvSpPr txBox="1"/>
          <p:nvPr/>
        </p:nvSpPr>
        <p:spPr>
          <a:xfrm>
            <a:off x="3503999" y="3096000"/>
            <a:ext cx="2135999" cy="787973"/>
          </a:xfrm>
          <a:prstGeom prst="rect">
            <a:avLst/>
          </a:prstGeom>
          <a:noFill/>
        </p:spPr>
        <p:txBody>
          <a:bodyPr wrap="square" lIns="0" tIns="0" rIns="0" bIns="0" anchor="t">
            <a:spAutoFit/>
          </a:bodyPr>
          <a:lstStyle/>
          <a:p>
            <a:pPr algn="l">
              <a:lnSpc>
                <a:spcPct val="125000"/>
              </a:lnSpc>
            </a:pPr>
            <a:r>
              <a:rPr sz="1400" b="0" i="0" dirty="0">
                <a:solidFill>
                  <a:srgbClr val="FFFFFF"/>
                </a:solidFill>
                <a:latin typeface="Calibri"/>
              </a:rPr>
              <a:t>Fotios </a:t>
            </a:r>
            <a:r>
              <a:rPr sz="1400" b="0" i="0" dirty="0" err="1">
                <a:solidFill>
                  <a:srgbClr val="FFFFFF"/>
                </a:solidFill>
                <a:latin typeface="Calibri"/>
              </a:rPr>
              <a:t>als</a:t>
            </a:r>
            <a:r>
              <a:rPr sz="1400" b="0" i="0" dirty="0">
                <a:solidFill>
                  <a:srgbClr val="FFFFFF"/>
                </a:solidFill>
                <a:latin typeface="Calibri"/>
              </a:rPr>
              <a:t> Tester und die </a:t>
            </a:r>
            <a:r>
              <a:rPr sz="1400" b="0" i="0" dirty="0" err="1">
                <a:solidFill>
                  <a:srgbClr val="FFFFFF"/>
                </a:solidFill>
                <a:latin typeface="Calibri"/>
              </a:rPr>
              <a:t>tägliche</a:t>
            </a:r>
            <a:r>
              <a:rPr sz="1400" b="0" i="0" dirty="0">
                <a:solidFill>
                  <a:srgbClr val="FFFFFF"/>
                </a:solidFill>
                <a:latin typeface="Calibri"/>
              </a:rPr>
              <a:t> Real-</a:t>
            </a:r>
            <a:r>
              <a:rPr sz="1400" b="0" i="0" dirty="0" err="1">
                <a:solidFill>
                  <a:srgbClr val="FFFFFF"/>
                </a:solidFill>
                <a:latin typeface="Calibri"/>
              </a:rPr>
              <a:t>Erfassung</a:t>
            </a:r>
            <a:r>
              <a:rPr sz="1400" b="0" i="0" dirty="0">
                <a:solidFill>
                  <a:srgbClr val="FFFFFF"/>
                </a:solidFill>
                <a:latin typeface="Calibri"/>
              </a:rPr>
              <a:t> </a:t>
            </a:r>
            <a:r>
              <a:rPr lang="de-CH" sz="1400" dirty="0">
                <a:solidFill>
                  <a:srgbClr val="FFFFFF"/>
                </a:solidFill>
                <a:latin typeface="Calibri"/>
              </a:rPr>
              <a:t>mit dem Tagesabschluss</a:t>
            </a:r>
            <a:endParaRPr sz="1400" b="0" i="0" dirty="0">
              <a:solidFill>
                <a:srgbClr val="FFFFFF"/>
              </a:solidFill>
              <a:latin typeface="Calibri"/>
            </a:endParaRPr>
          </a:p>
        </p:txBody>
      </p:sp>
      <p:sp>
        <p:nvSpPr>
          <p:cNvPr id="22" name="Rounded Rectangle 21"/>
          <p:cNvSpPr/>
          <p:nvPr/>
        </p:nvSpPr>
        <p:spPr>
          <a:xfrm>
            <a:off x="6036000" y="2592000"/>
            <a:ext cx="2568000" cy="15840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52000" y="2736000"/>
            <a:ext cx="2135999" cy="288000"/>
          </a:xfrm>
          <a:prstGeom prst="rect">
            <a:avLst/>
          </a:prstGeom>
          <a:noFill/>
        </p:spPr>
        <p:txBody>
          <a:bodyPr wrap="square" lIns="0" tIns="0" rIns="0" bIns="0" anchor="t">
            <a:spAutoFit/>
          </a:bodyPr>
          <a:lstStyle/>
          <a:p>
            <a:pPr algn="l"/>
            <a:r>
              <a:rPr sz="1500" b="1" i="0">
                <a:solidFill>
                  <a:srgbClr val="FF6B35"/>
                </a:solidFill>
                <a:latin typeface="Calibri"/>
              </a:rPr>
              <a:t>Dann entscheiden Sie neu</a:t>
            </a:r>
          </a:p>
        </p:txBody>
      </p:sp>
      <p:sp>
        <p:nvSpPr>
          <p:cNvPr id="24" name="TextBox 23"/>
          <p:cNvSpPr txBox="1"/>
          <p:nvPr/>
        </p:nvSpPr>
        <p:spPr>
          <a:xfrm>
            <a:off x="6252000" y="3096000"/>
            <a:ext cx="2135999" cy="1057277"/>
          </a:xfrm>
          <a:prstGeom prst="rect">
            <a:avLst/>
          </a:prstGeom>
          <a:noFill/>
        </p:spPr>
        <p:txBody>
          <a:bodyPr wrap="square" lIns="0" tIns="0" rIns="0" bIns="0" anchor="t">
            <a:spAutoFit/>
          </a:bodyPr>
          <a:lstStyle/>
          <a:p>
            <a:pPr algn="l">
              <a:lnSpc>
                <a:spcPct val="125000"/>
              </a:lnSpc>
            </a:pPr>
            <a:r>
              <a:rPr sz="1400" b="0" i="0" dirty="0" err="1">
                <a:solidFill>
                  <a:srgbClr val="FFFFFF"/>
                </a:solidFill>
                <a:latin typeface="Calibri"/>
              </a:rPr>
              <a:t>Quartalsreview</a:t>
            </a:r>
            <a:r>
              <a:rPr sz="1400" b="0" i="0" dirty="0">
                <a:solidFill>
                  <a:srgbClr val="FFFFFF"/>
                </a:solidFill>
                <a:latin typeface="Calibri"/>
              </a:rPr>
              <a:t> </a:t>
            </a:r>
            <a:r>
              <a:rPr sz="1400" b="0" i="0" dirty="0" err="1">
                <a:solidFill>
                  <a:srgbClr val="FFFFFF"/>
                </a:solidFill>
                <a:latin typeface="Calibri"/>
              </a:rPr>
              <a:t>nach</a:t>
            </a:r>
            <a:r>
              <a:rPr sz="1400" b="0" i="0" dirty="0">
                <a:solidFill>
                  <a:srgbClr val="FFFFFF"/>
                </a:solidFill>
                <a:latin typeface="Calibri"/>
              </a:rPr>
              <a:t> 12 </a:t>
            </a:r>
            <a:r>
              <a:rPr sz="1400" b="0" i="0" dirty="0" err="1">
                <a:solidFill>
                  <a:srgbClr val="FFFFFF"/>
                </a:solidFill>
                <a:latin typeface="Calibri"/>
              </a:rPr>
              <a:t>Wochen</a:t>
            </a:r>
            <a:r>
              <a:rPr sz="1400" b="0" i="0" dirty="0">
                <a:solidFill>
                  <a:srgbClr val="FFFFFF"/>
                </a:solidFill>
                <a:latin typeface="Calibri"/>
              </a:rPr>
              <a:t> — </a:t>
            </a:r>
            <a:r>
              <a:rPr sz="1400" b="0" i="0" dirty="0" err="1">
                <a:solidFill>
                  <a:srgbClr val="FFFFFF"/>
                </a:solidFill>
                <a:latin typeface="Calibri"/>
              </a:rPr>
              <a:t>mit</a:t>
            </a:r>
            <a:r>
              <a:rPr sz="1400" b="0" i="0" dirty="0">
                <a:solidFill>
                  <a:srgbClr val="FFFFFF"/>
                </a:solidFill>
                <a:latin typeface="Calibri"/>
              </a:rPr>
              <a:t> </a:t>
            </a:r>
            <a:r>
              <a:rPr sz="1400" b="0" i="0" dirty="0" err="1">
                <a:solidFill>
                  <a:srgbClr val="FFFFFF"/>
                </a:solidFill>
                <a:latin typeface="Calibri"/>
              </a:rPr>
              <a:t>gemessenen</a:t>
            </a:r>
            <a:r>
              <a:rPr sz="1400" b="0" i="0" dirty="0">
                <a:solidFill>
                  <a:srgbClr val="FFFFFF"/>
                </a:solidFill>
                <a:latin typeface="Calibri"/>
              </a:rPr>
              <a:t> Zahlen. Weiter, </a:t>
            </a:r>
            <a:r>
              <a:rPr sz="1400" b="0" i="0" dirty="0" err="1">
                <a:solidFill>
                  <a:srgbClr val="FFFFFF"/>
                </a:solidFill>
                <a:latin typeface="Calibri"/>
              </a:rPr>
              <a:t>anpassen</a:t>
            </a:r>
            <a:r>
              <a:rPr sz="1400" b="0" i="0" dirty="0">
                <a:solidFill>
                  <a:srgbClr val="FFFFFF"/>
                </a:solidFill>
                <a:latin typeface="Calibri"/>
              </a:rPr>
              <a:t> </a:t>
            </a:r>
            <a:r>
              <a:rPr sz="1400" b="0" i="0" dirty="0" err="1">
                <a:solidFill>
                  <a:srgbClr val="FFFFFF"/>
                </a:solidFill>
                <a:latin typeface="Calibri"/>
              </a:rPr>
              <a:t>oder</a:t>
            </a:r>
            <a:r>
              <a:rPr sz="1400" b="0" i="0" dirty="0">
                <a:solidFill>
                  <a:srgbClr val="FFFFFF"/>
                </a:solidFill>
                <a:latin typeface="Calibri"/>
              </a:rPr>
              <a:t> </a:t>
            </a:r>
            <a:r>
              <a:rPr sz="1400" b="0" i="0" dirty="0" err="1">
                <a:solidFill>
                  <a:srgbClr val="FFFFFF"/>
                </a:solidFill>
                <a:latin typeface="Calibri"/>
              </a:rPr>
              <a:t>stoppen</a:t>
            </a:r>
            <a:endParaRPr sz="1400" b="0" i="0" dirty="0">
              <a:solidFill>
                <a:srgbClr val="FFFFFF"/>
              </a:solidFill>
              <a:latin typeface="Calibri"/>
            </a:endParaRPr>
          </a:p>
        </p:txBody>
      </p:sp>
      <p:sp>
        <p:nvSpPr>
          <p:cNvPr id="25" name="TextBox 24"/>
          <p:cNvSpPr txBox="1"/>
          <p:nvPr/>
        </p:nvSpPr>
        <p:spPr>
          <a:xfrm>
            <a:off x="540000" y="4248000"/>
            <a:ext cx="8063999" cy="413999"/>
          </a:xfrm>
          <a:prstGeom prst="rect">
            <a:avLst/>
          </a:prstGeom>
          <a:noFill/>
        </p:spPr>
        <p:txBody>
          <a:bodyPr wrap="square" lIns="0" tIns="0" rIns="0" bIns="0" anchor="t">
            <a:spAutoFit/>
          </a:bodyPr>
          <a:lstStyle/>
          <a:p>
            <a:pPr algn="l"/>
            <a:r>
              <a:rPr sz="1400" b="0" i="0" dirty="0">
                <a:solidFill>
                  <a:srgbClr val="B9BEC8"/>
                </a:solidFill>
                <a:latin typeface="Calibri"/>
              </a:rPr>
              <a:t>Kein Blankoscheck: Ausstieg nach dem Quartalsreview CHF 8’700, danach Lizenz monatlich kündbar</a:t>
            </a:r>
          </a:p>
          <a:p>
            <a:pPr algn="l"/>
            <a:r>
              <a:rPr sz="1400" b="0" i="0" dirty="0">
                <a:solidFill>
                  <a:srgbClr val="B9BEC8"/>
                </a:solidFill>
                <a:latin typeface="Calibri"/>
              </a:rPr>
              <a:t>Die bisherige Entwicklung war nicht verrechnete Eigenleistung</a:t>
            </a:r>
          </a:p>
        </p:txBody>
      </p:sp>
      <p:sp>
        <p:nvSpPr>
          <p:cNvPr id="26" name="TextBox 25"/>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7" name="TextBox 26"/>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C5  ·  09 / 11</a:t>
            </a:r>
          </a:p>
        </p:txBody>
      </p:sp>
      <p:sp>
        <p:nvSpPr>
          <p:cNvPr id="28" name="Agenda6_0"/>
          <p:cNvSpPr txBox="1"/>
          <p:nvPr/>
        </p:nvSpPr>
        <p:spPr>
          <a:xfrm>
            <a:off x="73559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6  Reflexion</a:t>
            </a:r>
          </a:p>
        </p:txBody>
      </p:sp>
      <p:sp>
        <p:nvSpPr>
          <p:cNvPr id="29" name="Agenda6_1"/>
          <p:cNvSpPr/>
          <p:nvPr/>
        </p:nvSpPr>
        <p:spPr>
          <a:xfrm>
            <a:off x="73559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1  Ausgangslage</a:t>
            </a:r>
          </a:p>
        </p:txBody>
      </p:sp>
      <p:sp>
        <p:nvSpPr>
          <p:cNvPr id="3" name="Rounded Rectangle 2"/>
          <p:cNvSpPr/>
          <p:nvPr/>
        </p:nvSpPr>
        <p:spPr>
          <a:xfrm>
            <a:off x="5400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031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2  Auswahl</a:t>
            </a:r>
          </a:p>
        </p:txBody>
      </p:sp>
      <p:sp>
        <p:nvSpPr>
          <p:cNvPr id="5" name="Rounded Rectangle 4"/>
          <p:cNvSpPr/>
          <p:nvPr/>
        </p:nvSpPr>
        <p:spPr>
          <a:xfrm>
            <a:off x="19031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2663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3  Lösung</a:t>
            </a:r>
          </a:p>
        </p:txBody>
      </p:sp>
      <p:sp>
        <p:nvSpPr>
          <p:cNvPr id="7" name="Rounded Rectangle 6"/>
          <p:cNvSpPr/>
          <p:nvPr/>
        </p:nvSpPr>
        <p:spPr>
          <a:xfrm>
            <a:off x="32663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29600"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4  Bewertung</a:t>
            </a:r>
          </a:p>
        </p:txBody>
      </p:sp>
      <p:sp>
        <p:nvSpPr>
          <p:cNvPr id="9" name="Rounded Rectangle 8"/>
          <p:cNvSpPr/>
          <p:nvPr/>
        </p:nvSpPr>
        <p:spPr>
          <a:xfrm>
            <a:off x="4629600"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92799" y="187200"/>
            <a:ext cx="1247999" cy="280800"/>
          </a:xfrm>
          <a:prstGeom prst="rect">
            <a:avLst/>
          </a:prstGeom>
          <a:noFill/>
        </p:spPr>
        <p:txBody>
          <a:bodyPr wrap="square" lIns="0" tIns="0" rIns="0" bIns="0" anchor="ctr">
            <a:spAutoFit/>
          </a:bodyPr>
          <a:lstStyle/>
          <a:p>
            <a:pPr algn="l"/>
            <a:r>
              <a:rPr sz="1200" b="0" i="0">
                <a:solidFill>
                  <a:srgbClr val="7C828D"/>
                </a:solidFill>
                <a:latin typeface="Calibri"/>
              </a:rPr>
              <a:t>5  Empfehlung</a:t>
            </a:r>
          </a:p>
        </p:txBody>
      </p:sp>
      <p:sp>
        <p:nvSpPr>
          <p:cNvPr id="11" name="Rounded Rectangle 10"/>
          <p:cNvSpPr/>
          <p:nvPr/>
        </p:nvSpPr>
        <p:spPr>
          <a:xfrm>
            <a:off x="5992799" y="475200"/>
            <a:ext cx="1247999" cy="18000"/>
          </a:xfrm>
          <a:prstGeom prst="roundRect">
            <a:avLst>
              <a:gd name="adj" fmla="val 0"/>
            </a:avLst>
          </a:prstGeom>
          <a:solidFill>
            <a:srgbClr val="33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Was ich heute anders machen würde</a:t>
            </a:r>
          </a:p>
        </p:txBody>
      </p:sp>
      <p:sp>
        <p:nvSpPr>
          <p:cNvPr id="13" name="Rounded Rectangle 12"/>
          <p:cNvSpPr/>
          <p:nvPr/>
        </p:nvSpPr>
        <p:spPr>
          <a:xfrm>
            <a:off x="540000" y="1332000"/>
            <a:ext cx="8063999" cy="7379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92000" y="1332000"/>
            <a:ext cx="576000" cy="737999"/>
          </a:xfrm>
          <a:prstGeom prst="rect">
            <a:avLst/>
          </a:prstGeom>
          <a:noFill/>
        </p:spPr>
        <p:txBody>
          <a:bodyPr wrap="square" lIns="0" tIns="0" rIns="0" bIns="0" anchor="ctr">
            <a:spAutoFit/>
          </a:bodyPr>
          <a:lstStyle/>
          <a:p>
            <a:pPr algn="l"/>
            <a:r>
              <a:rPr sz="2200" b="1" i="0">
                <a:solidFill>
                  <a:srgbClr val="FF6B35"/>
                </a:solidFill>
                <a:latin typeface="Calibri"/>
              </a:rPr>
              <a:t>01</a:t>
            </a:r>
          </a:p>
        </p:txBody>
      </p:sp>
      <p:sp>
        <p:nvSpPr>
          <p:cNvPr id="15" name="TextBox 14"/>
          <p:cNvSpPr txBox="1"/>
          <p:nvPr/>
        </p:nvSpPr>
        <p:spPr>
          <a:xfrm>
            <a:off x="1404000" y="1332000"/>
            <a:ext cx="6912000" cy="737999"/>
          </a:xfrm>
          <a:prstGeom prst="rect">
            <a:avLst/>
          </a:prstGeom>
          <a:noFill/>
        </p:spPr>
        <p:txBody>
          <a:bodyPr wrap="square" lIns="0" tIns="0" rIns="0" bIns="0" anchor="ctr">
            <a:spAutoFit/>
          </a:bodyPr>
          <a:lstStyle/>
          <a:p>
            <a:pPr algn="l"/>
            <a:r>
              <a:rPr sz="1900" b="1" i="0">
                <a:solidFill>
                  <a:srgbClr val="FFFFFF"/>
                </a:solidFill>
                <a:latin typeface="Calibri"/>
              </a:rPr>
              <a:t>Die Datenlücke früher schliessen</a:t>
            </a:r>
          </a:p>
        </p:txBody>
      </p:sp>
      <p:sp>
        <p:nvSpPr>
          <p:cNvPr id="16" name="Rounded Rectangle 15"/>
          <p:cNvSpPr/>
          <p:nvPr/>
        </p:nvSpPr>
        <p:spPr>
          <a:xfrm>
            <a:off x="540000" y="3924000"/>
            <a:ext cx="8063999" cy="684000"/>
          </a:xfrm>
          <a:prstGeom prst="roundRect">
            <a:avLst>
              <a:gd name="adj" fmla="val 6000"/>
            </a:avLst>
          </a:prstGeom>
          <a:noFill/>
          <a:ln w="1778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40000" y="2178000"/>
            <a:ext cx="8063999" cy="7379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2000" y="2178000"/>
            <a:ext cx="576000" cy="737999"/>
          </a:xfrm>
          <a:prstGeom prst="rect">
            <a:avLst/>
          </a:prstGeom>
          <a:noFill/>
        </p:spPr>
        <p:txBody>
          <a:bodyPr wrap="square" lIns="0" tIns="0" rIns="0" bIns="0" anchor="ctr">
            <a:spAutoFit/>
          </a:bodyPr>
          <a:lstStyle/>
          <a:p>
            <a:pPr algn="l"/>
            <a:r>
              <a:rPr sz="2200" b="1" i="0">
                <a:solidFill>
                  <a:srgbClr val="FF6B35"/>
                </a:solidFill>
                <a:latin typeface="Calibri"/>
              </a:rPr>
              <a:t>02</a:t>
            </a:r>
          </a:p>
        </p:txBody>
      </p:sp>
      <p:sp>
        <p:nvSpPr>
          <p:cNvPr id="19" name="TextBox 18"/>
          <p:cNvSpPr txBox="1"/>
          <p:nvPr/>
        </p:nvSpPr>
        <p:spPr>
          <a:xfrm>
            <a:off x="1404000" y="2178000"/>
            <a:ext cx="6912000" cy="737999"/>
          </a:xfrm>
          <a:prstGeom prst="rect">
            <a:avLst/>
          </a:prstGeom>
          <a:noFill/>
        </p:spPr>
        <p:txBody>
          <a:bodyPr wrap="square" lIns="0" tIns="0" rIns="0" bIns="0" anchor="ctr">
            <a:spAutoFit/>
          </a:bodyPr>
          <a:lstStyle/>
          <a:p>
            <a:pPr algn="l"/>
            <a:r>
              <a:rPr sz="1900" b="1" i="0">
                <a:solidFill>
                  <a:srgbClr val="FFFFFF"/>
                </a:solidFill>
                <a:latin typeface="Calibri"/>
              </a:rPr>
              <a:t>Die weichen Positionen von Anfang an ausweisen</a:t>
            </a:r>
          </a:p>
        </p:txBody>
      </p:sp>
      <p:sp>
        <p:nvSpPr>
          <p:cNvPr id="20" name="Rounded Rectangle 19"/>
          <p:cNvSpPr/>
          <p:nvPr/>
        </p:nvSpPr>
        <p:spPr>
          <a:xfrm>
            <a:off x="540000" y="3924000"/>
            <a:ext cx="8063999" cy="684000"/>
          </a:xfrm>
          <a:prstGeom prst="roundRect">
            <a:avLst>
              <a:gd name="adj" fmla="val 6000"/>
            </a:avLst>
          </a:prstGeom>
          <a:noFill/>
          <a:ln w="1778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40000" y="3024000"/>
            <a:ext cx="8063999" cy="737999"/>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92000" y="3024000"/>
            <a:ext cx="576000" cy="737999"/>
          </a:xfrm>
          <a:prstGeom prst="rect">
            <a:avLst/>
          </a:prstGeom>
          <a:noFill/>
        </p:spPr>
        <p:txBody>
          <a:bodyPr wrap="square" lIns="0" tIns="0" rIns="0" bIns="0" anchor="ctr">
            <a:spAutoFit/>
          </a:bodyPr>
          <a:lstStyle/>
          <a:p>
            <a:pPr algn="l"/>
            <a:r>
              <a:rPr sz="2200" b="1" i="0">
                <a:solidFill>
                  <a:srgbClr val="FF6B35"/>
                </a:solidFill>
                <a:latin typeface="Calibri"/>
              </a:rPr>
              <a:t>03</a:t>
            </a:r>
          </a:p>
        </p:txBody>
      </p:sp>
      <p:sp>
        <p:nvSpPr>
          <p:cNvPr id="23" name="TextBox 22"/>
          <p:cNvSpPr txBox="1"/>
          <p:nvPr/>
        </p:nvSpPr>
        <p:spPr>
          <a:xfrm>
            <a:off x="1404000" y="3024000"/>
            <a:ext cx="6912000" cy="737999"/>
          </a:xfrm>
          <a:prstGeom prst="rect">
            <a:avLst/>
          </a:prstGeom>
          <a:noFill/>
        </p:spPr>
        <p:txBody>
          <a:bodyPr wrap="square" lIns="0" tIns="0" rIns="0" bIns="0" anchor="ctr">
            <a:spAutoFit/>
          </a:bodyPr>
          <a:lstStyle/>
          <a:p>
            <a:pPr algn="l"/>
            <a:r>
              <a:rPr sz="1900" b="1" i="0">
                <a:solidFill>
                  <a:srgbClr val="FFFFFF"/>
                </a:solidFill>
                <a:latin typeface="Calibri"/>
              </a:rPr>
              <a:t>Hardware über einen geprüften Lieferanten</a:t>
            </a:r>
          </a:p>
        </p:txBody>
      </p:sp>
      <p:sp>
        <p:nvSpPr>
          <p:cNvPr id="24" name="Rounded Rectangle 23"/>
          <p:cNvSpPr/>
          <p:nvPr/>
        </p:nvSpPr>
        <p:spPr>
          <a:xfrm>
            <a:off x="540000" y="3924000"/>
            <a:ext cx="8063999" cy="684000"/>
          </a:xfrm>
          <a:prstGeom prst="roundRect">
            <a:avLst>
              <a:gd name="adj" fmla="val 6000"/>
            </a:avLst>
          </a:prstGeom>
          <a:noFill/>
          <a:ln w="1778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7999" y="4050000"/>
            <a:ext cx="7487999" cy="246221"/>
          </a:xfrm>
          <a:prstGeom prst="rect">
            <a:avLst/>
          </a:prstGeom>
          <a:noFill/>
        </p:spPr>
        <p:txBody>
          <a:bodyPr wrap="square" lIns="0" tIns="0" rIns="0" bIns="0" anchor="t">
            <a:spAutoFit/>
          </a:bodyPr>
          <a:lstStyle/>
          <a:p>
            <a:pPr algn="l"/>
            <a:r>
              <a:rPr sz="1600" b="1" i="0" dirty="0">
                <a:solidFill>
                  <a:srgbClr val="FFFFFF"/>
                </a:solidFill>
                <a:latin typeface="Calibri"/>
              </a:rPr>
              <a:t>Die </a:t>
            </a:r>
            <a:r>
              <a:rPr sz="1600" b="1" i="0" dirty="0" err="1">
                <a:solidFill>
                  <a:srgbClr val="FFFFFF"/>
                </a:solidFill>
                <a:latin typeface="Calibri"/>
              </a:rPr>
              <a:t>Machbarkeit</a:t>
            </a:r>
            <a:r>
              <a:rPr sz="1600" b="1" i="0" dirty="0">
                <a:solidFill>
                  <a:srgbClr val="FFFFFF"/>
                </a:solidFill>
                <a:latin typeface="Calibri"/>
              </a:rPr>
              <a:t> </a:t>
            </a:r>
            <a:r>
              <a:rPr sz="1600" b="1" i="0" dirty="0" err="1">
                <a:solidFill>
                  <a:srgbClr val="FFFFFF"/>
                </a:solidFill>
                <a:latin typeface="Calibri"/>
              </a:rPr>
              <a:t>ist</a:t>
            </a:r>
            <a:r>
              <a:rPr sz="1600" b="1" i="0" dirty="0">
                <a:solidFill>
                  <a:srgbClr val="FFFFFF"/>
                </a:solidFill>
                <a:latin typeface="Calibri"/>
              </a:rPr>
              <a:t> </a:t>
            </a:r>
            <a:r>
              <a:rPr sz="1600" b="1" i="0" dirty="0" err="1">
                <a:solidFill>
                  <a:srgbClr val="FFFFFF"/>
                </a:solidFill>
                <a:latin typeface="Calibri"/>
              </a:rPr>
              <a:t>belegt – der wirtschaftliche</a:t>
            </a:r>
            <a:r>
              <a:rPr sz="1600" b="1" i="0" dirty="0">
                <a:solidFill>
                  <a:srgbClr val="FFFFFF"/>
                </a:solidFill>
                <a:latin typeface="Calibri"/>
              </a:rPr>
              <a:t> </a:t>
            </a:r>
            <a:r>
              <a:rPr sz="1600" b="1" i="0" dirty="0" err="1">
                <a:solidFill>
                  <a:srgbClr val="FFFFFF"/>
                </a:solidFill>
                <a:latin typeface="Calibri"/>
              </a:rPr>
              <a:t>Nutzen</a:t>
            </a:r>
            <a:r>
              <a:rPr sz="1600" b="1" i="0" dirty="0">
                <a:solidFill>
                  <a:srgbClr val="FFFFFF"/>
                </a:solidFill>
                <a:latin typeface="Calibri"/>
              </a:rPr>
              <a:t> </a:t>
            </a:r>
            <a:r>
              <a:rPr sz="1600" b="1" i="0" dirty="0" err="1">
                <a:solidFill>
                  <a:srgbClr val="FFFFFF"/>
                </a:solidFill>
                <a:latin typeface="Calibri"/>
              </a:rPr>
              <a:t>wird</a:t>
            </a:r>
            <a:r>
              <a:rPr sz="1600" b="1" i="0" dirty="0">
                <a:solidFill>
                  <a:srgbClr val="FFFFFF"/>
                </a:solidFill>
                <a:latin typeface="Calibri"/>
              </a:rPr>
              <a:t> </a:t>
            </a:r>
            <a:r>
              <a:rPr sz="1600" b="1" i="0" dirty="0" err="1">
                <a:solidFill>
                  <a:srgbClr val="FFFFFF"/>
                </a:solidFill>
                <a:latin typeface="Calibri"/>
              </a:rPr>
              <a:t>jetzt</a:t>
            </a:r>
            <a:r>
              <a:rPr sz="1600" b="1" i="0" dirty="0">
                <a:solidFill>
                  <a:srgbClr val="FFFFFF"/>
                </a:solidFill>
                <a:latin typeface="Calibri"/>
              </a:rPr>
              <a:t> </a:t>
            </a:r>
            <a:r>
              <a:rPr sz="1600" b="1" i="0" dirty="0" err="1">
                <a:solidFill>
                  <a:srgbClr val="FFFFFF"/>
                </a:solidFill>
                <a:latin typeface="Calibri"/>
              </a:rPr>
              <a:t>validiert</a:t>
            </a:r>
            <a:r>
              <a:rPr sz="1600" b="1" i="0" dirty="0">
                <a:solidFill>
                  <a:srgbClr val="FFFFFF"/>
                </a:solidFill>
                <a:latin typeface="Calibri"/>
              </a:rPr>
              <a:t>, nicht </a:t>
            </a:r>
            <a:r>
              <a:rPr sz="1600" b="1" i="0" dirty="0" err="1">
                <a:solidFill>
                  <a:srgbClr val="FFFFFF"/>
                </a:solidFill>
                <a:latin typeface="Calibri"/>
              </a:rPr>
              <a:t>skaliert</a:t>
            </a:r>
            <a:endParaRPr sz="1600" b="1" i="0" dirty="0">
              <a:solidFill>
                <a:srgbClr val="FFFFFF"/>
              </a:solidFill>
              <a:latin typeface="Calibri"/>
            </a:endParaRPr>
          </a:p>
        </p:txBody>
      </p:sp>
      <p:sp>
        <p:nvSpPr>
          <p:cNvPr id="26" name="TextBox 25"/>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7" name="TextBox 26"/>
          <p:cNvSpPr txBox="1"/>
          <p:nvPr/>
        </p:nvSpPr>
        <p:spPr>
          <a:xfrm>
            <a:off x="5183999" y="4770000"/>
            <a:ext cx="3420000" cy="251999"/>
          </a:xfrm>
          <a:prstGeom prst="rect">
            <a:avLst/>
          </a:prstGeom>
          <a:noFill/>
        </p:spPr>
        <p:txBody>
          <a:bodyPr wrap="square" lIns="0" tIns="0" rIns="0" bIns="0" anchor="t">
            <a:spAutoFit/>
          </a:bodyPr>
          <a:lstStyle/>
          <a:p>
            <a:pPr algn="r"/>
            <a:r>
              <a:rPr sz="1600" b="1" i="0" dirty="0">
                <a:solidFill>
                  <a:srgbClr val="7C828D"/>
                </a:solidFill>
                <a:latin typeface="Calibri"/>
              </a:rPr>
              <a:t>10 / 11</a:t>
            </a:r>
          </a:p>
        </p:txBody>
      </p:sp>
      <p:sp>
        <p:nvSpPr>
          <p:cNvPr id="28" name="Agenda6_0"/>
          <p:cNvSpPr txBox="1"/>
          <p:nvPr/>
        </p:nvSpPr>
        <p:spPr>
          <a:xfrm>
            <a:off x="7355999" y="187200"/>
            <a:ext cx="1247999" cy="280800"/>
          </a:xfrm>
          <a:prstGeom prst="rect">
            <a:avLst/>
          </a:prstGeom>
          <a:noFill/>
        </p:spPr>
        <p:txBody>
          <a:bodyPr wrap="square" lIns="0" tIns="0" rIns="0" bIns="0" anchor="ctr">
            <a:spAutoFit/>
          </a:bodyPr>
          <a:lstStyle/>
          <a:p>
            <a:pPr algn="l"/>
            <a:r>
              <a:rPr sz="1200" b="1" i="0">
                <a:solidFill>
                  <a:srgbClr val="FFFFFF"/>
                </a:solidFill>
                <a:latin typeface="Calibri"/>
              </a:rPr>
              <a:t>6  Reflexion</a:t>
            </a:r>
          </a:p>
        </p:txBody>
      </p:sp>
      <p:sp>
        <p:nvSpPr>
          <p:cNvPr id="29" name="Agenda6_1"/>
          <p:cNvSpPr/>
          <p:nvPr/>
        </p:nvSpPr>
        <p:spPr>
          <a:xfrm>
            <a:off x="7355999" y="475200"/>
            <a:ext cx="1247999" cy="3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612" y="-39039"/>
            <a:ext cx="9024776" cy="548640"/>
          </a:xfrm>
          <a:prstGeom prst="rect">
            <a:avLst/>
          </a:prstGeom>
          <a:solidFill>
            <a:srgbClr val="080808"/>
          </a:solidFill>
          <a:ln w="12700">
            <a:solidFill>
              <a:srgbClr val="080808"/>
            </a:solidFill>
            <a:prstDash val="solid"/>
          </a:ln>
        </p:spPr>
        <p:txBody>
          <a:bodyPr/>
          <a:lstStyle/>
          <a:p>
            <a:endParaRPr lang="de-CH"/>
          </a:p>
        </p:txBody>
      </p:sp>
      <p:sp>
        <p:nvSpPr>
          <p:cNvPr id="3" name="Text 1"/>
          <p:cNvSpPr/>
          <p:nvPr/>
        </p:nvSpPr>
        <p:spPr>
          <a:xfrm>
            <a:off x="274320" y="0"/>
            <a:ext cx="8595360" cy="548640"/>
          </a:xfrm>
          <a:prstGeom prst="rect">
            <a:avLst/>
          </a:prstGeom>
          <a:noFill/>
          <a:ln/>
        </p:spPr>
        <p:txBody>
          <a:bodyPr wrap="square" rtlCol="0" anchor="ctr"/>
          <a:lstStyle/>
          <a:p>
            <a:pPr marL="0" indent="0" algn="ctr">
              <a:buNone/>
            </a:pPr>
            <a:r>
              <a:rPr lang="en-US" sz="1300" b="1" i="1" dirty="0">
                <a:solidFill>
                  <a:srgbClr val="F5C518"/>
                </a:solidFill>
                <a:latin typeface="Calibri" pitchFamily="34" charset="0"/>
                <a:ea typeface="Calibri" pitchFamily="34" charset="-122"/>
                <a:cs typeface="Calibri" pitchFamily="34" charset="-120"/>
              </a:rPr>
              <a:t>Das Ziel: derselbe Tag – drei Mal gechillt.</a:t>
            </a:r>
            <a:br>
              <a:rPr lang="en-US" sz="1300" b="1" i="1" dirty="0">
                <a:solidFill>
                  <a:srgbClr val="F5C518"/>
                </a:solidFill>
                <a:latin typeface="Calibri" pitchFamily="34" charset="0"/>
                <a:ea typeface="Calibri" pitchFamily="34" charset="-122"/>
                <a:cs typeface="Calibri" pitchFamily="34" charset="-120"/>
              </a:rPr>
            </a:br>
            <a:endParaRPr lang="en-US" sz="1050" dirty="0"/>
          </a:p>
        </p:txBody>
      </p:sp>
      <p:sp>
        <p:nvSpPr>
          <p:cNvPr id="4" name="Shape 2"/>
          <p:cNvSpPr/>
          <p:nvPr/>
        </p:nvSpPr>
        <p:spPr>
          <a:xfrm>
            <a:off x="0" y="548640"/>
            <a:ext cx="9144000" cy="530352"/>
          </a:xfrm>
          <a:prstGeom prst="rect">
            <a:avLst/>
          </a:prstGeom>
          <a:solidFill>
            <a:srgbClr val="1A1A1A"/>
          </a:solidFill>
          <a:ln w="12700">
            <a:solidFill>
              <a:srgbClr val="1A1A1A"/>
            </a:solidFill>
            <a:prstDash val="solid"/>
          </a:ln>
        </p:spPr>
        <p:txBody>
          <a:bodyPr/>
          <a:lstStyle/>
          <a:p>
            <a:endParaRPr lang="de-CH"/>
          </a:p>
        </p:txBody>
      </p:sp>
      <p:sp>
        <p:nvSpPr>
          <p:cNvPr id="5" name="Text 3"/>
          <p:cNvSpPr/>
          <p:nvPr/>
        </p:nvSpPr>
        <p:spPr>
          <a:xfrm>
            <a:off x="137160" y="548640"/>
            <a:ext cx="8869680" cy="530352"/>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Mit SmartGastro.ai: geplant statt nachproduziert</a:t>
            </a:r>
            <a:endParaRPr lang="en-US" sz="1900" dirty="0"/>
          </a:p>
        </p:txBody>
      </p:sp>
      <p:pic>
        <p:nvPicPr>
          <p:cNvPr id="6" name="Image 0" descr="preencoded.png"/>
          <p:cNvPicPr>
            <a:picLocks noChangeAspect="1"/>
          </p:cNvPicPr>
          <p:nvPr/>
        </p:nvPicPr>
        <p:blipFill>
          <a:blip r:embed="rId3"/>
          <a:srcRect/>
          <a:stretch/>
        </p:blipFill>
        <p:spPr>
          <a:xfrm>
            <a:off x="137160" y="1115568"/>
            <a:ext cx="2985516" cy="3090672"/>
          </a:xfrm>
          <a:prstGeom prst="rect">
            <a:avLst/>
          </a:prstGeom>
        </p:spPr>
      </p:pic>
      <p:sp>
        <p:nvSpPr>
          <p:cNvPr id="7" name="Shape 4"/>
          <p:cNvSpPr/>
          <p:nvPr/>
        </p:nvSpPr>
        <p:spPr>
          <a:xfrm>
            <a:off x="137160" y="3291840"/>
            <a:ext cx="2926080" cy="914400"/>
          </a:xfrm>
          <a:prstGeom prst="rect">
            <a:avLst/>
          </a:prstGeom>
          <a:solidFill>
            <a:srgbClr val="000000">
              <a:alpha val="70000"/>
            </a:srgbClr>
          </a:solidFill>
          <a:ln w="12700">
            <a:solidFill>
              <a:srgbClr val="000000"/>
            </a:solidFill>
            <a:prstDash val="solid"/>
          </a:ln>
        </p:spPr>
        <p:txBody>
          <a:bodyPr/>
          <a:lstStyle/>
          <a:p>
            <a:endParaRPr lang="de-CH"/>
          </a:p>
        </p:txBody>
      </p:sp>
      <p:sp>
        <p:nvSpPr>
          <p:cNvPr id="8" name="Shape 5"/>
          <p:cNvSpPr/>
          <p:nvPr/>
        </p:nvSpPr>
        <p:spPr>
          <a:xfrm>
            <a:off x="228600" y="1225296"/>
            <a:ext cx="1188720" cy="274320"/>
          </a:xfrm>
          <a:prstGeom prst="roundRect">
            <a:avLst>
              <a:gd name="adj" fmla="val 16667"/>
            </a:avLst>
          </a:prstGeom>
          <a:solidFill>
            <a:srgbClr val="000000">
              <a:alpha val="80000"/>
            </a:srgbClr>
          </a:solidFill>
          <a:ln w="12700">
            <a:solidFill>
              <a:srgbClr val="FFFFFF"/>
            </a:solidFill>
            <a:prstDash val="solid"/>
          </a:ln>
        </p:spPr>
        <p:txBody>
          <a:bodyPr/>
          <a:lstStyle/>
          <a:p>
            <a:endParaRPr lang="de-CH"/>
          </a:p>
        </p:txBody>
      </p:sp>
      <p:sp>
        <p:nvSpPr>
          <p:cNvPr id="9" name="Text 6"/>
          <p:cNvSpPr/>
          <p:nvPr/>
        </p:nvSpPr>
        <p:spPr>
          <a:xfrm>
            <a:off x="228600" y="1225296"/>
            <a:ext cx="118872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10:00 Uhr</a:t>
            </a:r>
            <a:endParaRPr lang="en-US" sz="900" dirty="0"/>
          </a:p>
        </p:txBody>
      </p:sp>
      <p:sp>
        <p:nvSpPr>
          <p:cNvPr id="10" name="Shape 7"/>
          <p:cNvSpPr/>
          <p:nvPr/>
        </p:nvSpPr>
        <p:spPr>
          <a:xfrm>
            <a:off x="137160" y="3401568"/>
            <a:ext cx="2926080" cy="493776"/>
          </a:xfrm>
          <a:prstGeom prst="rect">
            <a:avLst/>
          </a:prstGeom>
          <a:solidFill>
            <a:srgbClr val="1A7040">
              <a:alpha val="85000"/>
            </a:srgbClr>
          </a:solidFill>
          <a:ln w="12700">
            <a:solidFill>
              <a:srgbClr val="1A7040"/>
            </a:solidFill>
            <a:prstDash val="solid"/>
          </a:ln>
        </p:spPr>
        <p:txBody>
          <a:bodyPr/>
          <a:lstStyle/>
          <a:p>
            <a:endParaRPr lang="de-CH"/>
          </a:p>
        </p:txBody>
      </p:sp>
      <p:sp>
        <p:nvSpPr>
          <p:cNvPr id="11" name="Text 8"/>
          <p:cNvSpPr/>
          <p:nvPr/>
        </p:nvSpPr>
        <p:spPr>
          <a:xfrm>
            <a:off x="137160" y="3401568"/>
            <a:ext cx="2926080" cy="493776"/>
          </a:xfrm>
          <a:prstGeom prst="rect">
            <a:avLst/>
          </a:prstGeom>
          <a:noFill/>
          <a:ln/>
        </p:spPr>
        <p:txBody>
          <a:bodyPr wrap="square" rtlCol="0" anchor="ctr"/>
          <a:lstStyle/>
          <a:p>
            <a:pPr marL="0" indent="0" algn="ctr">
              <a:buNone/>
            </a:pPr>
            <a:r>
              <a:rPr lang="en-US" sz="2800" b="1" dirty="0">
                <a:solidFill>
                  <a:srgbClr val="7FFFD4"/>
                </a:solidFill>
                <a:latin typeface="Impact" pitchFamily="34" charset="0"/>
                <a:ea typeface="Impact" pitchFamily="34" charset="-122"/>
                <a:cs typeface="Impact" pitchFamily="34" charset="-120"/>
              </a:rPr>
              <a:t>GECHILLT</a:t>
            </a:r>
            <a:endParaRPr lang="en-US" sz="2800" dirty="0"/>
          </a:p>
        </p:txBody>
      </p:sp>
      <p:sp>
        <p:nvSpPr>
          <p:cNvPr id="12" name="Text 9"/>
          <p:cNvSpPr/>
          <p:nvPr/>
        </p:nvSpPr>
        <p:spPr>
          <a:xfrm>
            <a:off x="210312" y="3895344"/>
            <a:ext cx="2779776"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Mise-en-Place nach Prognose: Ruhe &amp; Organisation</a:t>
            </a:r>
            <a:endParaRPr lang="en-US" sz="900" dirty="0"/>
          </a:p>
        </p:txBody>
      </p:sp>
      <p:pic>
        <p:nvPicPr>
          <p:cNvPr id="13" name="Image 1" descr="preencoded.png"/>
          <p:cNvPicPr>
            <a:picLocks noChangeAspect="1"/>
          </p:cNvPicPr>
          <p:nvPr/>
        </p:nvPicPr>
        <p:blipFill>
          <a:blip r:embed="rId4"/>
          <a:srcRect b="24880"/>
          <a:stretch/>
        </p:blipFill>
        <p:spPr>
          <a:xfrm>
            <a:off x="3054097" y="1124712"/>
            <a:ext cx="3063239" cy="3090672"/>
          </a:xfrm>
          <a:prstGeom prst="rect">
            <a:avLst/>
          </a:prstGeom>
        </p:spPr>
      </p:pic>
      <p:sp>
        <p:nvSpPr>
          <p:cNvPr id="14" name="Shape 10"/>
          <p:cNvSpPr/>
          <p:nvPr/>
        </p:nvSpPr>
        <p:spPr>
          <a:xfrm>
            <a:off x="3122676" y="3291840"/>
            <a:ext cx="2939796" cy="914400"/>
          </a:xfrm>
          <a:prstGeom prst="rect">
            <a:avLst/>
          </a:prstGeom>
          <a:solidFill>
            <a:srgbClr val="000000">
              <a:alpha val="80000"/>
            </a:srgbClr>
          </a:solidFill>
          <a:ln w="12700">
            <a:solidFill>
              <a:srgbClr val="000000"/>
            </a:solidFill>
            <a:prstDash val="solid"/>
          </a:ln>
        </p:spPr>
        <p:txBody>
          <a:bodyPr/>
          <a:lstStyle/>
          <a:p>
            <a:endParaRPr lang="de-CH"/>
          </a:p>
        </p:txBody>
      </p:sp>
      <p:sp>
        <p:nvSpPr>
          <p:cNvPr id="15" name="Shape 11"/>
          <p:cNvSpPr/>
          <p:nvPr/>
        </p:nvSpPr>
        <p:spPr>
          <a:xfrm>
            <a:off x="3931920" y="1196281"/>
            <a:ext cx="1371600" cy="274320"/>
          </a:xfrm>
          <a:prstGeom prst="roundRect">
            <a:avLst>
              <a:gd name="adj" fmla="val 16667"/>
            </a:avLst>
          </a:prstGeom>
          <a:solidFill>
            <a:srgbClr val="000000">
              <a:alpha val="80000"/>
            </a:srgbClr>
          </a:solidFill>
          <a:ln w="12700">
            <a:solidFill>
              <a:srgbClr val="FFFFFF"/>
            </a:solidFill>
            <a:prstDash val="solid"/>
          </a:ln>
        </p:spPr>
        <p:txBody>
          <a:bodyPr/>
          <a:lstStyle/>
          <a:p>
            <a:endParaRPr lang="de-CH"/>
          </a:p>
        </p:txBody>
      </p:sp>
      <p:sp>
        <p:nvSpPr>
          <p:cNvPr id="16" name="Text 12"/>
          <p:cNvSpPr/>
          <p:nvPr/>
        </p:nvSpPr>
        <p:spPr>
          <a:xfrm>
            <a:off x="3840480" y="1207359"/>
            <a:ext cx="137160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12:30 Uhr</a:t>
            </a:r>
            <a:endParaRPr lang="en-US" sz="900" dirty="0"/>
          </a:p>
        </p:txBody>
      </p:sp>
      <p:sp>
        <p:nvSpPr>
          <p:cNvPr id="17" name="Shape 13"/>
          <p:cNvSpPr/>
          <p:nvPr/>
        </p:nvSpPr>
        <p:spPr>
          <a:xfrm>
            <a:off x="3122676" y="3409305"/>
            <a:ext cx="2926080" cy="493776"/>
          </a:xfrm>
          <a:prstGeom prst="rect">
            <a:avLst/>
          </a:prstGeom>
          <a:solidFill>
            <a:srgbClr val="1A7040">
              <a:alpha val="90000"/>
            </a:srgbClr>
          </a:solidFill>
          <a:ln w="12700">
            <a:solidFill>
              <a:srgbClr val="1A7040"/>
            </a:solidFill>
            <a:prstDash val="solid"/>
          </a:ln>
        </p:spPr>
        <p:txBody>
          <a:bodyPr/>
          <a:lstStyle/>
          <a:p>
            <a:endParaRPr lang="de-CH"/>
          </a:p>
        </p:txBody>
      </p:sp>
      <p:sp>
        <p:nvSpPr>
          <p:cNvPr id="18" name="Text 14"/>
          <p:cNvSpPr/>
          <p:nvPr/>
        </p:nvSpPr>
        <p:spPr>
          <a:xfrm>
            <a:off x="3154680" y="3401568"/>
            <a:ext cx="2880360" cy="493776"/>
          </a:xfrm>
          <a:prstGeom prst="rect">
            <a:avLst/>
          </a:prstGeom>
          <a:noFill/>
          <a:ln/>
        </p:spPr>
        <p:txBody>
          <a:bodyPr wrap="square" rtlCol="0" anchor="ctr"/>
          <a:lstStyle/>
          <a:p>
            <a:pPr marL="0" indent="0" algn="ctr">
              <a:buNone/>
            </a:pPr>
            <a:r>
              <a:rPr lang="en-US" sz="2800" b="1" dirty="0">
                <a:solidFill>
                  <a:srgbClr val="7FFFD4"/>
                </a:solidFill>
                <a:latin typeface="Impact" pitchFamily="34" charset="0"/>
                <a:ea typeface="Impact" pitchFamily="34" charset="-122"/>
                <a:cs typeface="Impact" pitchFamily="34" charset="-120"/>
              </a:rPr>
              <a:t>GECHILLT</a:t>
            </a:r>
            <a:endParaRPr lang="en-US" sz="3600" dirty="0"/>
          </a:p>
        </p:txBody>
      </p:sp>
      <p:sp>
        <p:nvSpPr>
          <p:cNvPr id="19" name="Text 15"/>
          <p:cNvSpPr/>
          <p:nvPr/>
        </p:nvSpPr>
        <p:spPr>
          <a:xfrm>
            <a:off x="3227832" y="3895344"/>
            <a:ext cx="2779776"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Stosszeit ohne Nachproduktion: die Mengen stimmen</a:t>
            </a:r>
            <a:endParaRPr lang="en-US" sz="900" dirty="0"/>
          </a:p>
        </p:txBody>
      </p:sp>
      <p:pic>
        <p:nvPicPr>
          <p:cNvPr id="20" name="Image 2" descr="preencoded.png"/>
          <p:cNvPicPr>
            <a:picLocks noChangeAspect="1"/>
          </p:cNvPicPr>
          <p:nvPr/>
        </p:nvPicPr>
        <p:blipFill>
          <a:blip r:embed="rId5"/>
          <a:srcRect b="11030"/>
          <a:stretch/>
        </p:blipFill>
        <p:spPr>
          <a:xfrm>
            <a:off x="6135624" y="1148100"/>
            <a:ext cx="2907792" cy="3090672"/>
          </a:xfrm>
          <a:prstGeom prst="rect">
            <a:avLst/>
          </a:prstGeom>
        </p:spPr>
      </p:pic>
      <p:sp>
        <p:nvSpPr>
          <p:cNvPr id="21" name="Shape 16"/>
          <p:cNvSpPr/>
          <p:nvPr/>
        </p:nvSpPr>
        <p:spPr>
          <a:xfrm>
            <a:off x="6135624" y="3291840"/>
            <a:ext cx="2962656" cy="914400"/>
          </a:xfrm>
          <a:prstGeom prst="rect">
            <a:avLst/>
          </a:prstGeom>
          <a:solidFill>
            <a:srgbClr val="000000">
              <a:alpha val="80000"/>
            </a:srgbClr>
          </a:solidFill>
          <a:ln w="12700">
            <a:solidFill>
              <a:srgbClr val="000000"/>
            </a:solidFill>
            <a:prstDash val="solid"/>
          </a:ln>
        </p:spPr>
        <p:txBody>
          <a:bodyPr/>
          <a:lstStyle/>
          <a:p>
            <a:endParaRPr lang="de-CH"/>
          </a:p>
        </p:txBody>
      </p:sp>
      <p:sp>
        <p:nvSpPr>
          <p:cNvPr id="22" name="Shape 17"/>
          <p:cNvSpPr/>
          <p:nvPr/>
        </p:nvSpPr>
        <p:spPr>
          <a:xfrm>
            <a:off x="6986016" y="1203842"/>
            <a:ext cx="1188720" cy="274320"/>
          </a:xfrm>
          <a:prstGeom prst="roundRect">
            <a:avLst>
              <a:gd name="adj" fmla="val 16667"/>
            </a:avLst>
          </a:prstGeom>
          <a:solidFill>
            <a:srgbClr val="000000">
              <a:alpha val="80000"/>
            </a:srgbClr>
          </a:solidFill>
          <a:ln w="12700">
            <a:solidFill>
              <a:srgbClr val="FFFFFF"/>
            </a:solidFill>
            <a:prstDash val="solid"/>
          </a:ln>
        </p:spPr>
        <p:txBody>
          <a:bodyPr/>
          <a:lstStyle/>
          <a:p>
            <a:endParaRPr lang="de-CH"/>
          </a:p>
        </p:txBody>
      </p:sp>
      <p:sp>
        <p:nvSpPr>
          <p:cNvPr id="23" name="Text 18"/>
          <p:cNvSpPr/>
          <p:nvPr/>
        </p:nvSpPr>
        <p:spPr>
          <a:xfrm>
            <a:off x="6926580" y="1196281"/>
            <a:ext cx="118872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15:00 Uhr</a:t>
            </a:r>
            <a:endParaRPr lang="en-US" sz="900" dirty="0"/>
          </a:p>
        </p:txBody>
      </p:sp>
      <p:sp>
        <p:nvSpPr>
          <p:cNvPr id="24" name="Shape 19"/>
          <p:cNvSpPr/>
          <p:nvPr/>
        </p:nvSpPr>
        <p:spPr>
          <a:xfrm>
            <a:off x="6135624" y="3401568"/>
            <a:ext cx="2916936" cy="493776"/>
          </a:xfrm>
          <a:prstGeom prst="rect">
            <a:avLst/>
          </a:prstGeom>
          <a:solidFill>
            <a:srgbClr val="1A7040">
              <a:alpha val="90000"/>
            </a:srgbClr>
          </a:solidFill>
          <a:ln w="12700">
            <a:solidFill>
              <a:srgbClr val="1A7040"/>
            </a:solidFill>
            <a:prstDash val="solid"/>
          </a:ln>
        </p:spPr>
        <p:txBody>
          <a:bodyPr/>
          <a:lstStyle/>
          <a:p>
            <a:endParaRPr lang="de-CH"/>
          </a:p>
        </p:txBody>
      </p:sp>
      <p:sp>
        <p:nvSpPr>
          <p:cNvPr id="25" name="Text 20"/>
          <p:cNvSpPr/>
          <p:nvPr/>
        </p:nvSpPr>
        <p:spPr>
          <a:xfrm>
            <a:off x="6172200" y="3401568"/>
            <a:ext cx="2926080" cy="493776"/>
          </a:xfrm>
          <a:prstGeom prst="rect">
            <a:avLst/>
          </a:prstGeom>
          <a:noFill/>
          <a:ln/>
        </p:spPr>
        <p:txBody>
          <a:bodyPr wrap="square" rtlCol="0" anchor="ctr"/>
          <a:lstStyle/>
          <a:p>
            <a:pPr marL="0" indent="0" algn="ctr">
              <a:buNone/>
            </a:pPr>
            <a:r>
              <a:rPr lang="en-US" sz="2800" b="1" dirty="0">
                <a:solidFill>
                  <a:srgbClr val="7FFFD4"/>
                </a:solidFill>
                <a:latin typeface="Impact" pitchFamily="34" charset="0"/>
                <a:ea typeface="Impact" pitchFamily="34" charset="-122"/>
                <a:cs typeface="Impact" pitchFamily="34" charset="-120"/>
              </a:rPr>
              <a:t>GECHILLT</a:t>
            </a:r>
            <a:endParaRPr lang="en-US" sz="3600" dirty="0"/>
          </a:p>
        </p:txBody>
      </p:sp>
      <p:sp>
        <p:nvSpPr>
          <p:cNvPr id="26" name="Text 21"/>
          <p:cNvSpPr/>
          <p:nvPr/>
        </p:nvSpPr>
        <p:spPr>
          <a:xfrm>
            <a:off x="6245352" y="3895344"/>
            <a:ext cx="2779776"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Feierabend ohne Food Waste: zufriedenes Team</a:t>
            </a:r>
            <a:endParaRPr lang="en-US" sz="900" dirty="0"/>
          </a:p>
        </p:txBody>
      </p:sp>
      <p:sp>
        <p:nvSpPr>
          <p:cNvPr id="27" name="Shape 22"/>
          <p:cNvSpPr/>
          <p:nvPr/>
        </p:nvSpPr>
        <p:spPr>
          <a:xfrm>
            <a:off x="0" y="4245279"/>
            <a:ext cx="9144000" cy="914400"/>
          </a:xfrm>
          <a:prstGeom prst="rect">
            <a:avLst/>
          </a:prstGeom>
          <a:solidFill>
            <a:srgbClr val="080808"/>
          </a:solidFill>
          <a:ln w="12700">
            <a:solidFill>
              <a:srgbClr val="080808"/>
            </a:solidFill>
            <a:prstDash val="solid"/>
          </a:ln>
        </p:spPr>
        <p:txBody>
          <a:bodyPr/>
          <a:lstStyle/>
          <a:p>
            <a:endParaRPr lang="de-CH"/>
          </a:p>
        </p:txBody>
      </p:sp>
      <p:sp>
        <p:nvSpPr>
          <p:cNvPr id="28" name="Shape 23"/>
          <p:cNvSpPr/>
          <p:nvPr/>
        </p:nvSpPr>
        <p:spPr>
          <a:xfrm>
            <a:off x="0" y="4224528"/>
            <a:ext cx="3044952" cy="45720"/>
          </a:xfrm>
          <a:prstGeom prst="rect">
            <a:avLst/>
          </a:prstGeom>
          <a:solidFill>
            <a:srgbClr val="1A7040"/>
          </a:solidFill>
          <a:ln w="12700">
            <a:solidFill>
              <a:srgbClr val="1A7040"/>
            </a:solidFill>
            <a:prstDash val="solid"/>
          </a:ln>
        </p:spPr>
        <p:txBody>
          <a:bodyPr/>
          <a:lstStyle/>
          <a:p>
            <a:endParaRPr lang="de-CH"/>
          </a:p>
        </p:txBody>
      </p:sp>
      <p:sp>
        <p:nvSpPr>
          <p:cNvPr id="29" name="Shape 24"/>
          <p:cNvSpPr/>
          <p:nvPr/>
        </p:nvSpPr>
        <p:spPr>
          <a:xfrm>
            <a:off x="3063240" y="4218021"/>
            <a:ext cx="3054096" cy="45720"/>
          </a:xfrm>
          <a:prstGeom prst="rect">
            <a:avLst/>
          </a:prstGeom>
          <a:solidFill>
            <a:srgbClr val="1A7040"/>
          </a:solidFill>
          <a:ln w="12700">
            <a:solidFill>
              <a:srgbClr val="1A7040"/>
            </a:solidFill>
            <a:prstDash val="solid"/>
          </a:ln>
        </p:spPr>
        <p:txBody>
          <a:bodyPr/>
          <a:lstStyle/>
          <a:p>
            <a:endParaRPr lang="de-CH"/>
          </a:p>
        </p:txBody>
      </p:sp>
      <p:sp>
        <p:nvSpPr>
          <p:cNvPr id="30" name="Shape 25"/>
          <p:cNvSpPr/>
          <p:nvPr/>
        </p:nvSpPr>
        <p:spPr>
          <a:xfrm>
            <a:off x="6099048" y="4224528"/>
            <a:ext cx="3044952" cy="45720"/>
          </a:xfrm>
          <a:prstGeom prst="rect">
            <a:avLst/>
          </a:prstGeom>
          <a:solidFill>
            <a:srgbClr val="1A7040"/>
          </a:solidFill>
          <a:ln w="12700">
            <a:solidFill>
              <a:srgbClr val="1A7040"/>
            </a:solidFill>
            <a:prstDash val="solid"/>
          </a:ln>
        </p:spPr>
        <p:txBody>
          <a:bodyPr/>
          <a:lstStyle/>
          <a:p>
            <a:endParaRPr lang="de-CH"/>
          </a:p>
        </p:txBody>
      </p:sp>
      <p:sp>
        <p:nvSpPr>
          <p:cNvPr id="31" name="Text 26"/>
          <p:cNvSpPr/>
          <p:nvPr/>
        </p:nvSpPr>
        <p:spPr>
          <a:xfrm>
            <a:off x="182880" y="4270248"/>
            <a:ext cx="8778240" cy="804672"/>
          </a:xfrm>
          <a:prstGeom prst="rect">
            <a:avLst/>
          </a:prstGeom>
          <a:noFill/>
          <a:ln/>
        </p:spPr>
        <p:txBody>
          <a:bodyPr wrap="square" rtlCol="0" anchor="ctr"/>
          <a:lstStyle/>
          <a:p>
            <a:pPr algn="ctr"/>
            <a:r>
              <a:rPr lang="en-US" sz="1400" b="1" dirty="0">
                <a:solidFill>
                  <a:srgbClr val="FFFFFF"/>
                </a:solidFill>
                <a:latin typeface="Calibri" pitchFamily="34" charset="0"/>
                <a:ea typeface="Calibri" pitchFamily="34" charset="-122"/>
                <a:cs typeface="Calibri" pitchFamily="34" charset="-120"/>
              </a:rPr>
              <a:t>Vom Bauchgefühl über die Erfahrung zu den </a:t>
            </a:r>
            <a:r>
              <a:rPr lang="en-US" sz="1400" b="1" dirty="0" err="1">
                <a:solidFill>
                  <a:srgbClr val="FFFFFF"/>
                </a:solidFill>
                <a:latin typeface="Calibri" pitchFamily="34" charset="0"/>
                <a:ea typeface="Calibri" pitchFamily="34" charset="-122"/>
                <a:cs typeface="Calibri" pitchFamily="34" charset="-120"/>
              </a:rPr>
              <a:t>Daten</a:t>
            </a:r>
            <a:endParaRPr lang="en-US" sz="1400" dirty="0"/>
          </a:p>
        </p:txBody>
      </p:sp>
      <p:sp>
        <p:nvSpPr>
          <p:cNvPr id="32" name="Text 27"/>
          <p:cNvSpPr/>
          <p:nvPr/>
        </p:nvSpPr>
        <p:spPr>
          <a:xfrm>
            <a:off x="8247185" y="4892040"/>
            <a:ext cx="805375" cy="201168"/>
          </a:xfrm>
          <a:prstGeom prst="rect">
            <a:avLst/>
          </a:prstGeom>
          <a:noFill/>
          <a:ln/>
        </p:spPr>
        <p:txBody>
          <a:bodyPr wrap="square" rtlCol="0" anchor="ctr"/>
          <a:lstStyle/>
          <a:p>
            <a:pPr marL="0" indent="0" algn="ctr">
              <a:buNone/>
            </a:pPr>
            <a:r>
              <a:rPr lang="en-US" sz="1600" b="1" dirty="0">
                <a:solidFill>
                  <a:srgbClr val="9AA3B2"/>
                </a:solidFill>
              </a:rPr>
              <a:t>11 / 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600" b="1" i="0">
                <a:solidFill>
                  <a:srgbClr val="FFFFFF"/>
                </a:solidFill>
                <a:latin typeface="Calibri"/>
              </a:rPr>
              <a:t>Demo-Ablauf · fiktiver Beispieltag Samstag, 31.10.2026</a:t>
            </a:r>
          </a:p>
        </p:txBody>
      </p:sp>
      <p:sp>
        <p:nvSpPr>
          <p:cNvPr id="3" name="Rounded Rectangle 2"/>
          <p:cNvSpPr/>
          <p:nvPr/>
        </p:nvSpPr>
        <p:spPr>
          <a:xfrm>
            <a:off x="540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20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1 · Aufbau</a:t>
            </a:r>
          </a:p>
        </p:txBody>
      </p:sp>
      <p:sp>
        <p:nvSpPr>
          <p:cNvPr id="5" name="Rounded Rectangle 4"/>
          <p:cNvSpPr/>
          <p:nvPr/>
        </p:nvSpPr>
        <p:spPr>
          <a:xfrm>
            <a:off x="540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0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Anmeldung als Küche: Speisen und Salate, keine Umsätze</a:t>
            </a:r>
          </a:p>
        </p:txBody>
      </p:sp>
      <p:sp>
        <p:nvSpPr>
          <p:cNvPr id="7" name="Rounded Rectangle 6"/>
          <p:cNvSpPr/>
          <p:nvPr/>
        </p:nvSpPr>
        <p:spPr>
          <a:xfrm>
            <a:off x="540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20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Mise-en-Place-Liste je Artikel für den gewählten Tag</a:t>
            </a:r>
          </a:p>
        </p:txBody>
      </p:sp>
      <p:sp>
        <p:nvSpPr>
          <p:cNvPr id="9" name="Rounded Rectangle 8"/>
          <p:cNvSpPr/>
          <p:nvPr/>
        </p:nvSpPr>
        <p:spPr>
          <a:xfrm>
            <a:off x="540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20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Prognose, Ist, Delta und Genauigkeit in einer Zeile</a:t>
            </a:r>
          </a:p>
        </p:txBody>
      </p:sp>
      <p:sp>
        <p:nvSpPr>
          <p:cNvPr id="11" name="Rounded Rectangle 10"/>
          <p:cNvSpPr/>
          <p:nvPr/>
        </p:nvSpPr>
        <p:spPr>
          <a:xfrm>
            <a:off x="540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0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Rollenwechsel auf Service: andere Warengruppen</a:t>
            </a:r>
          </a:p>
        </p:txBody>
      </p:sp>
      <p:sp>
        <p:nvSpPr>
          <p:cNvPr id="13" name="Rounded Rectangle 12"/>
          <p:cNvSpPr/>
          <p:nvPr/>
        </p:nvSpPr>
        <p:spPr>
          <a:xfrm>
            <a:off x="3288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468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2 · Wirkung eines Anlasses</a:t>
            </a:r>
          </a:p>
        </p:txBody>
      </p:sp>
      <p:sp>
        <p:nvSpPr>
          <p:cNvPr id="15" name="Rounded Rectangle 14"/>
          <p:cNvSpPr/>
          <p:nvPr/>
        </p:nvSpPr>
        <p:spPr>
          <a:xfrm>
            <a:off x="3288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468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Anlass «Fest in Lienz» — automatisch erkannt</a:t>
            </a:r>
          </a:p>
        </p:txBody>
      </p:sp>
      <p:sp>
        <p:nvSpPr>
          <p:cNvPr id="17" name="Rounded Rectangle 16"/>
          <p:cNvSpPr/>
          <p:nvPr/>
        </p:nvSpPr>
        <p:spPr>
          <a:xfrm>
            <a:off x="3288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468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Von Hand freigegeben: KI schlägt vor, Mensch entscheidet</a:t>
            </a:r>
          </a:p>
        </p:txBody>
      </p:sp>
      <p:sp>
        <p:nvSpPr>
          <p:cNvPr id="19" name="Rounded Rectangle 18"/>
          <p:cNvSpPr/>
          <p:nvPr/>
        </p:nvSpPr>
        <p:spPr>
          <a:xfrm>
            <a:off x="3288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468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Wirkung auf die Prognose: + 62 % Nachfrage</a:t>
            </a:r>
          </a:p>
        </p:txBody>
      </p:sp>
      <p:sp>
        <p:nvSpPr>
          <p:cNvPr id="21" name="Rounded Rectangle 20"/>
          <p:cNvSpPr/>
          <p:nvPr/>
        </p:nvSpPr>
        <p:spPr>
          <a:xfrm>
            <a:off x="3288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68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«Warum diese Zahl?» zeigt Wetter, Wochentag und Anlass</a:t>
            </a:r>
          </a:p>
        </p:txBody>
      </p:sp>
      <p:sp>
        <p:nvSpPr>
          <p:cNvPr id="23" name="Rounded Rectangle 22"/>
          <p:cNvSpPr/>
          <p:nvPr/>
        </p:nvSpPr>
        <p:spPr>
          <a:xfrm>
            <a:off x="6036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16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3 · Forecast gegen Ist</a:t>
            </a:r>
          </a:p>
        </p:txBody>
      </p:sp>
      <p:sp>
        <p:nvSpPr>
          <p:cNvPr id="25" name="Rounded Rectangle 24"/>
          <p:cNvSpPr/>
          <p:nvPr/>
        </p:nvSpPr>
        <p:spPr>
          <a:xfrm>
            <a:off x="6036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16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Gäste: Prognose 392, Ist 378 — Abweichung 3.7 %</a:t>
            </a:r>
          </a:p>
        </p:txBody>
      </p:sp>
      <p:sp>
        <p:nvSpPr>
          <p:cNvPr id="27" name="Rounded Rectangle 26"/>
          <p:cNvSpPr/>
          <p:nvPr/>
        </p:nvSpPr>
        <p:spPr>
          <a:xfrm>
            <a:off x="6036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216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Schnitzel: Prognose 97, Ist 91 — Delta − 6</a:t>
            </a:r>
          </a:p>
        </p:txBody>
      </p:sp>
      <p:sp>
        <p:nvSpPr>
          <p:cNvPr id="29" name="Rounded Rectangle 28"/>
          <p:cNvSpPr/>
          <p:nvPr/>
        </p:nvSpPr>
        <p:spPr>
          <a:xfrm>
            <a:off x="6036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216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Ist-Wert eintippen — Delta rechnet sofort nach</a:t>
            </a:r>
          </a:p>
        </p:txBody>
      </p:sp>
      <p:sp>
        <p:nvSpPr>
          <p:cNvPr id="31" name="Rounded Rectangle 30"/>
          <p:cNvSpPr/>
          <p:nvPr/>
        </p:nvSpPr>
        <p:spPr>
          <a:xfrm>
            <a:off x="6036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216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Analysen: Abweichung je Woche, Artikel-Genauigkeit</a:t>
            </a:r>
          </a:p>
        </p:txBody>
      </p:sp>
      <p:sp>
        <p:nvSpPr>
          <p:cNvPr id="33" name="TextBox 32"/>
          <p:cNvSpPr txBox="1"/>
          <p:nvPr/>
        </p:nvSpPr>
        <p:spPr>
          <a:xfrm>
            <a:off x="540000" y="4356000"/>
            <a:ext cx="8063999" cy="324000"/>
          </a:xfrm>
          <a:prstGeom prst="rect">
            <a:avLst/>
          </a:prstGeom>
          <a:noFill/>
        </p:spPr>
        <p:txBody>
          <a:bodyPr wrap="square" lIns="0" tIns="0" rIns="0" bIns="0" anchor="t">
            <a:spAutoFit/>
          </a:bodyPr>
          <a:lstStyle/>
          <a:p>
            <a:pPr algn="l"/>
            <a:r>
              <a:rPr sz="1200" b="0" i="0">
                <a:solidFill>
                  <a:srgbClr val="B9BEC8"/>
                </a:solidFill>
                <a:latin typeface="Calibri"/>
              </a:rPr>
              <a:t>Fiktiver Beispieltag im Testsystem. Auf echten Verkaufsdaten rückgerechnete Werte: Folie 7 und Anhang C.</a:t>
            </a:r>
          </a:p>
        </p:txBody>
      </p:sp>
      <p:sp>
        <p:nvSpPr>
          <p:cNvPr id="34" name="TextBox 33"/>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35" name="TextBox 34">
            <a:hlinkClick r:id="rId3" action="ppaction://hlinksldjump"/>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A  ·  LIVE-DEMO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Die fünf Use Cases mit Nutzwert</a:t>
            </a:r>
          </a:p>
        </p:txBody>
      </p:sp>
      <p:sp>
        <p:nvSpPr>
          <p:cNvPr id="3" name="Rounded Rectangle 2"/>
          <p:cNvSpPr/>
          <p:nvPr/>
        </p:nvSpPr>
        <p:spPr>
          <a:xfrm>
            <a:off x="540000" y="1332000"/>
            <a:ext cx="1497599" cy="2592000"/>
          </a:xfrm>
          <a:prstGeom prst="roundRect">
            <a:avLst>
              <a:gd name="adj" fmla="val 6000"/>
            </a:avLst>
          </a:prstGeom>
          <a:solidFill>
            <a:srgbClr val="12241A"/>
          </a:solidFill>
          <a:ln w="1778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684000" y="1475999"/>
            <a:ext cx="1209599" cy="251999"/>
          </a:xfrm>
          <a:prstGeom prst="rect">
            <a:avLst/>
          </a:prstGeom>
          <a:noFill/>
        </p:spPr>
        <p:txBody>
          <a:bodyPr wrap="square" lIns="0" tIns="0" rIns="0" bIns="0" anchor="t">
            <a:spAutoFit/>
          </a:bodyPr>
          <a:lstStyle/>
          <a:p>
            <a:pPr algn="ctr"/>
            <a:r>
              <a:rPr sz="1300" b="1" i="0">
                <a:solidFill>
                  <a:srgbClr val="22C55E"/>
                </a:solidFill>
                <a:latin typeface="Calibri"/>
              </a:rPr>
              <a:t>UC01</a:t>
            </a:r>
          </a:p>
        </p:txBody>
      </p:sp>
      <p:sp>
        <p:nvSpPr>
          <p:cNvPr id="5" name="TextBox 4"/>
          <p:cNvSpPr txBox="1"/>
          <p:nvPr/>
        </p:nvSpPr>
        <p:spPr>
          <a:xfrm>
            <a:off x="684000" y="1800000"/>
            <a:ext cx="1209599" cy="576000"/>
          </a:xfrm>
          <a:prstGeom prst="rect">
            <a:avLst/>
          </a:prstGeom>
          <a:noFill/>
        </p:spPr>
        <p:txBody>
          <a:bodyPr wrap="square" lIns="0" tIns="0" rIns="0" bIns="0" anchor="t">
            <a:spAutoFit/>
          </a:bodyPr>
          <a:lstStyle/>
          <a:p>
            <a:pPr algn="ctr">
              <a:lnSpc>
                <a:spcPct val="115000"/>
              </a:lnSpc>
            </a:pPr>
            <a:r>
              <a:rPr sz="1400" b="1" i="0">
                <a:solidFill>
                  <a:srgbClr val="FFFFFF"/>
                </a:solidFill>
                <a:latin typeface="Calibri"/>
              </a:rPr>
              <a:t>Nachfrage-prognose</a:t>
            </a:r>
          </a:p>
        </p:txBody>
      </p:sp>
      <p:sp>
        <p:nvSpPr>
          <p:cNvPr id="6" name="TextBox 5"/>
          <p:cNvSpPr txBox="1"/>
          <p:nvPr/>
        </p:nvSpPr>
        <p:spPr>
          <a:xfrm>
            <a:off x="684000" y="2484000"/>
            <a:ext cx="1209599" cy="576000"/>
          </a:xfrm>
          <a:prstGeom prst="rect">
            <a:avLst/>
          </a:prstGeom>
          <a:noFill/>
        </p:spPr>
        <p:txBody>
          <a:bodyPr wrap="square" lIns="0" tIns="0" rIns="0" bIns="0" anchor="t">
            <a:spAutoFit/>
          </a:bodyPr>
          <a:lstStyle/>
          <a:p>
            <a:pPr algn="ctr"/>
            <a:r>
              <a:rPr sz="3200" b="1" i="0">
                <a:solidFill>
                  <a:srgbClr val="22C55E"/>
                </a:solidFill>
                <a:latin typeface="Calibri"/>
              </a:rPr>
              <a:t>4.55</a:t>
            </a:r>
          </a:p>
        </p:txBody>
      </p:sp>
      <p:sp>
        <p:nvSpPr>
          <p:cNvPr id="7" name="TextBox 6"/>
          <p:cNvSpPr txBox="1"/>
          <p:nvPr/>
        </p:nvSpPr>
        <p:spPr>
          <a:xfrm>
            <a:off x="684000" y="3204000"/>
            <a:ext cx="1209599" cy="612000"/>
          </a:xfrm>
          <a:prstGeom prst="rect">
            <a:avLst/>
          </a:prstGeom>
          <a:noFill/>
        </p:spPr>
        <p:txBody>
          <a:bodyPr wrap="square" lIns="0" tIns="0" rIns="0" bIns="0" anchor="t">
            <a:spAutoFit/>
          </a:bodyPr>
          <a:lstStyle/>
          <a:p>
            <a:pPr algn="ctr">
              <a:lnSpc>
                <a:spcPct val="120000"/>
              </a:lnSpc>
            </a:pPr>
            <a:r>
              <a:rPr sz="1200" b="0" i="0">
                <a:solidFill>
                  <a:srgbClr val="B9BEC8"/>
                </a:solidFill>
                <a:latin typeface="Calibri"/>
              </a:rPr>
              <a:t>Priorität 1 · Pilotbetrieb seit Mai 2026</a:t>
            </a:r>
          </a:p>
        </p:txBody>
      </p:sp>
      <p:sp>
        <p:nvSpPr>
          <p:cNvPr id="8" name="Rounded Rectangle 7"/>
          <p:cNvSpPr/>
          <p:nvPr/>
        </p:nvSpPr>
        <p:spPr>
          <a:xfrm>
            <a:off x="2181600" y="1332000"/>
            <a:ext cx="1497599" cy="2592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325600" y="1475999"/>
            <a:ext cx="1209599" cy="251999"/>
          </a:xfrm>
          <a:prstGeom prst="rect">
            <a:avLst/>
          </a:prstGeom>
          <a:noFill/>
        </p:spPr>
        <p:txBody>
          <a:bodyPr wrap="square" lIns="0" tIns="0" rIns="0" bIns="0" anchor="t">
            <a:spAutoFit/>
          </a:bodyPr>
          <a:lstStyle/>
          <a:p>
            <a:pPr algn="ctr"/>
            <a:r>
              <a:rPr sz="1300" b="1" i="0">
                <a:solidFill>
                  <a:srgbClr val="7C828D"/>
                </a:solidFill>
                <a:latin typeface="Calibri"/>
              </a:rPr>
              <a:t>UC02</a:t>
            </a:r>
          </a:p>
        </p:txBody>
      </p:sp>
      <p:sp>
        <p:nvSpPr>
          <p:cNvPr id="10" name="TextBox 9"/>
          <p:cNvSpPr txBox="1"/>
          <p:nvPr/>
        </p:nvSpPr>
        <p:spPr>
          <a:xfrm>
            <a:off x="2325600" y="1800000"/>
            <a:ext cx="1209599" cy="576000"/>
          </a:xfrm>
          <a:prstGeom prst="rect">
            <a:avLst/>
          </a:prstGeom>
          <a:noFill/>
        </p:spPr>
        <p:txBody>
          <a:bodyPr wrap="square" lIns="0" tIns="0" rIns="0" bIns="0" anchor="t">
            <a:spAutoFit/>
          </a:bodyPr>
          <a:lstStyle/>
          <a:p>
            <a:pPr algn="ctr">
              <a:lnSpc>
                <a:spcPct val="115000"/>
              </a:lnSpc>
            </a:pPr>
            <a:r>
              <a:rPr sz="1400" b="1" i="0">
                <a:solidFill>
                  <a:srgbClr val="FFFFFF"/>
                </a:solidFill>
                <a:latin typeface="Calibri"/>
              </a:rPr>
              <a:t>Bestell-optimierung</a:t>
            </a:r>
          </a:p>
        </p:txBody>
      </p:sp>
      <p:sp>
        <p:nvSpPr>
          <p:cNvPr id="11" name="TextBox 10"/>
          <p:cNvSpPr txBox="1"/>
          <p:nvPr/>
        </p:nvSpPr>
        <p:spPr>
          <a:xfrm>
            <a:off x="2325600" y="2484000"/>
            <a:ext cx="1209599" cy="576000"/>
          </a:xfrm>
          <a:prstGeom prst="rect">
            <a:avLst/>
          </a:prstGeom>
          <a:noFill/>
        </p:spPr>
        <p:txBody>
          <a:bodyPr wrap="square" lIns="0" tIns="0" rIns="0" bIns="0" anchor="t">
            <a:spAutoFit/>
          </a:bodyPr>
          <a:lstStyle/>
          <a:p>
            <a:pPr algn="ctr"/>
            <a:r>
              <a:rPr sz="3200" b="1" i="0">
                <a:solidFill>
                  <a:srgbClr val="B9BEC8"/>
                </a:solidFill>
                <a:latin typeface="Calibri"/>
              </a:rPr>
              <a:t>4.15</a:t>
            </a:r>
          </a:p>
        </p:txBody>
      </p:sp>
      <p:sp>
        <p:nvSpPr>
          <p:cNvPr id="12" name="TextBox 11"/>
          <p:cNvSpPr txBox="1"/>
          <p:nvPr/>
        </p:nvSpPr>
        <p:spPr>
          <a:xfrm>
            <a:off x="2325600" y="3204000"/>
            <a:ext cx="1209599" cy="612000"/>
          </a:xfrm>
          <a:prstGeom prst="rect">
            <a:avLst/>
          </a:prstGeom>
          <a:noFill/>
        </p:spPr>
        <p:txBody>
          <a:bodyPr wrap="square" lIns="0" tIns="0" rIns="0" bIns="0" anchor="t">
            <a:spAutoFit/>
          </a:bodyPr>
          <a:lstStyle/>
          <a:p>
            <a:pPr algn="ctr">
              <a:lnSpc>
                <a:spcPct val="120000"/>
              </a:lnSpc>
            </a:pPr>
            <a:r>
              <a:rPr sz="1200" b="0" i="0">
                <a:solidFill>
                  <a:srgbClr val="B9BEC8"/>
                </a:solidFill>
                <a:latin typeface="Calibri"/>
              </a:rPr>
              <a:t>Entscheid nach dem Quartalsreview</a:t>
            </a:r>
          </a:p>
        </p:txBody>
      </p:sp>
      <p:sp>
        <p:nvSpPr>
          <p:cNvPr id="13" name="Rounded Rectangle 12"/>
          <p:cNvSpPr/>
          <p:nvPr/>
        </p:nvSpPr>
        <p:spPr>
          <a:xfrm>
            <a:off x="3823199" y="1332000"/>
            <a:ext cx="1497599" cy="2592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967200" y="1475999"/>
            <a:ext cx="1209599" cy="251999"/>
          </a:xfrm>
          <a:prstGeom prst="rect">
            <a:avLst/>
          </a:prstGeom>
          <a:noFill/>
        </p:spPr>
        <p:txBody>
          <a:bodyPr wrap="square" lIns="0" tIns="0" rIns="0" bIns="0" anchor="t">
            <a:spAutoFit/>
          </a:bodyPr>
          <a:lstStyle/>
          <a:p>
            <a:pPr algn="ctr"/>
            <a:r>
              <a:rPr sz="1300" b="1" i="0">
                <a:solidFill>
                  <a:srgbClr val="7C828D"/>
                </a:solidFill>
                <a:latin typeface="Calibri"/>
              </a:rPr>
              <a:t>UC03</a:t>
            </a:r>
          </a:p>
        </p:txBody>
      </p:sp>
      <p:sp>
        <p:nvSpPr>
          <p:cNvPr id="15" name="TextBox 14"/>
          <p:cNvSpPr txBox="1"/>
          <p:nvPr/>
        </p:nvSpPr>
        <p:spPr>
          <a:xfrm>
            <a:off x="3967200" y="1800000"/>
            <a:ext cx="1209599" cy="576000"/>
          </a:xfrm>
          <a:prstGeom prst="rect">
            <a:avLst/>
          </a:prstGeom>
          <a:noFill/>
        </p:spPr>
        <p:txBody>
          <a:bodyPr wrap="square" lIns="0" tIns="0" rIns="0" bIns="0" anchor="t">
            <a:spAutoFit/>
          </a:bodyPr>
          <a:lstStyle/>
          <a:p>
            <a:pPr algn="ctr">
              <a:lnSpc>
                <a:spcPct val="115000"/>
              </a:lnSpc>
            </a:pPr>
            <a:r>
              <a:rPr sz="1400" b="1" i="0">
                <a:solidFill>
                  <a:srgbClr val="FFFFFF"/>
                </a:solidFill>
                <a:latin typeface="Calibri"/>
              </a:rPr>
              <a:t>Personal-einsatzplanung</a:t>
            </a:r>
          </a:p>
        </p:txBody>
      </p:sp>
      <p:sp>
        <p:nvSpPr>
          <p:cNvPr id="16" name="TextBox 15"/>
          <p:cNvSpPr txBox="1"/>
          <p:nvPr/>
        </p:nvSpPr>
        <p:spPr>
          <a:xfrm>
            <a:off x="3967200" y="2484000"/>
            <a:ext cx="1209599" cy="576000"/>
          </a:xfrm>
          <a:prstGeom prst="rect">
            <a:avLst/>
          </a:prstGeom>
          <a:noFill/>
        </p:spPr>
        <p:txBody>
          <a:bodyPr wrap="square" lIns="0" tIns="0" rIns="0" bIns="0" anchor="t">
            <a:spAutoFit/>
          </a:bodyPr>
          <a:lstStyle/>
          <a:p>
            <a:pPr algn="ctr"/>
            <a:r>
              <a:rPr sz="3200" b="1" i="0">
                <a:solidFill>
                  <a:srgbClr val="B9BEC8"/>
                </a:solidFill>
                <a:latin typeface="Calibri"/>
              </a:rPr>
              <a:t>3.85</a:t>
            </a:r>
          </a:p>
        </p:txBody>
      </p:sp>
      <p:sp>
        <p:nvSpPr>
          <p:cNvPr id="17" name="TextBox 16"/>
          <p:cNvSpPr txBox="1"/>
          <p:nvPr/>
        </p:nvSpPr>
        <p:spPr>
          <a:xfrm>
            <a:off x="3967200" y="3204000"/>
            <a:ext cx="1209599" cy="612000"/>
          </a:xfrm>
          <a:prstGeom prst="rect">
            <a:avLst/>
          </a:prstGeom>
          <a:noFill/>
        </p:spPr>
        <p:txBody>
          <a:bodyPr wrap="square" lIns="0" tIns="0" rIns="0" bIns="0" anchor="t">
            <a:spAutoFit/>
          </a:bodyPr>
          <a:lstStyle/>
          <a:p>
            <a:pPr algn="ctr">
              <a:lnSpc>
                <a:spcPct val="120000"/>
              </a:lnSpc>
            </a:pPr>
            <a:r>
              <a:rPr sz="1200" b="0" i="0">
                <a:solidFill>
                  <a:srgbClr val="B9BEC8"/>
                </a:solidFill>
                <a:latin typeface="Calibri"/>
              </a:rPr>
              <a:t>skalierbar aus UC01</a:t>
            </a:r>
          </a:p>
        </p:txBody>
      </p:sp>
      <p:sp>
        <p:nvSpPr>
          <p:cNvPr id="18" name="Rounded Rectangle 17"/>
          <p:cNvSpPr/>
          <p:nvPr/>
        </p:nvSpPr>
        <p:spPr>
          <a:xfrm>
            <a:off x="5464800" y="1332000"/>
            <a:ext cx="1497599" cy="2592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08800" y="1475999"/>
            <a:ext cx="1209599" cy="251999"/>
          </a:xfrm>
          <a:prstGeom prst="rect">
            <a:avLst/>
          </a:prstGeom>
          <a:noFill/>
        </p:spPr>
        <p:txBody>
          <a:bodyPr wrap="square" lIns="0" tIns="0" rIns="0" bIns="0" anchor="t">
            <a:spAutoFit/>
          </a:bodyPr>
          <a:lstStyle/>
          <a:p>
            <a:pPr algn="ctr"/>
            <a:r>
              <a:rPr sz="1300" b="1" i="0">
                <a:solidFill>
                  <a:srgbClr val="7C828D"/>
                </a:solidFill>
                <a:latin typeface="Calibri"/>
              </a:rPr>
              <a:t>UC04</a:t>
            </a:r>
          </a:p>
        </p:txBody>
      </p:sp>
      <p:sp>
        <p:nvSpPr>
          <p:cNvPr id="20" name="TextBox 19"/>
          <p:cNvSpPr txBox="1"/>
          <p:nvPr/>
        </p:nvSpPr>
        <p:spPr>
          <a:xfrm>
            <a:off x="5608800" y="1800000"/>
            <a:ext cx="1209599" cy="576000"/>
          </a:xfrm>
          <a:prstGeom prst="rect">
            <a:avLst/>
          </a:prstGeom>
          <a:noFill/>
        </p:spPr>
        <p:txBody>
          <a:bodyPr wrap="square" lIns="0" tIns="0" rIns="0" bIns="0" anchor="t">
            <a:spAutoFit/>
          </a:bodyPr>
          <a:lstStyle/>
          <a:p>
            <a:pPr algn="ctr">
              <a:lnSpc>
                <a:spcPct val="115000"/>
              </a:lnSpc>
            </a:pPr>
            <a:r>
              <a:rPr sz="1400" b="1" i="0">
                <a:solidFill>
                  <a:srgbClr val="FFFFFF"/>
                </a:solidFill>
                <a:latin typeface="Calibri"/>
              </a:rPr>
              <a:t>Anomalie-Erkennung</a:t>
            </a:r>
          </a:p>
        </p:txBody>
      </p:sp>
      <p:sp>
        <p:nvSpPr>
          <p:cNvPr id="21" name="TextBox 20"/>
          <p:cNvSpPr txBox="1"/>
          <p:nvPr/>
        </p:nvSpPr>
        <p:spPr>
          <a:xfrm>
            <a:off x="5608800" y="2484000"/>
            <a:ext cx="1209599" cy="576000"/>
          </a:xfrm>
          <a:prstGeom prst="rect">
            <a:avLst/>
          </a:prstGeom>
          <a:noFill/>
        </p:spPr>
        <p:txBody>
          <a:bodyPr wrap="square" lIns="0" tIns="0" rIns="0" bIns="0" anchor="t">
            <a:spAutoFit/>
          </a:bodyPr>
          <a:lstStyle/>
          <a:p>
            <a:pPr algn="ctr"/>
            <a:r>
              <a:rPr sz="3200" b="1" i="0">
                <a:solidFill>
                  <a:srgbClr val="B9BEC8"/>
                </a:solidFill>
                <a:latin typeface="Calibri"/>
              </a:rPr>
              <a:t>3.20</a:t>
            </a:r>
          </a:p>
        </p:txBody>
      </p:sp>
      <p:sp>
        <p:nvSpPr>
          <p:cNvPr id="22" name="TextBox 21"/>
          <p:cNvSpPr txBox="1"/>
          <p:nvPr/>
        </p:nvSpPr>
        <p:spPr>
          <a:xfrm>
            <a:off x="5608800" y="3204000"/>
            <a:ext cx="1209599" cy="612000"/>
          </a:xfrm>
          <a:prstGeom prst="rect">
            <a:avLst/>
          </a:prstGeom>
          <a:noFill/>
        </p:spPr>
        <p:txBody>
          <a:bodyPr wrap="square" lIns="0" tIns="0" rIns="0" bIns="0" anchor="t">
            <a:spAutoFit/>
          </a:bodyPr>
          <a:lstStyle/>
          <a:p>
            <a:pPr algn="ctr">
              <a:lnSpc>
                <a:spcPct val="120000"/>
              </a:lnSpc>
            </a:pPr>
            <a:r>
              <a:rPr sz="1200" b="0" i="0">
                <a:solidFill>
                  <a:srgbClr val="B9BEC8"/>
                </a:solidFill>
                <a:latin typeface="Calibri"/>
              </a:rPr>
              <a:t>zurückgestellt</a:t>
            </a:r>
          </a:p>
        </p:txBody>
      </p:sp>
      <p:sp>
        <p:nvSpPr>
          <p:cNvPr id="23" name="Rounded Rectangle 22"/>
          <p:cNvSpPr/>
          <p:nvPr/>
        </p:nvSpPr>
        <p:spPr>
          <a:xfrm>
            <a:off x="7106399" y="1332000"/>
            <a:ext cx="1497599" cy="2592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250399" y="1475999"/>
            <a:ext cx="1209599" cy="251999"/>
          </a:xfrm>
          <a:prstGeom prst="rect">
            <a:avLst/>
          </a:prstGeom>
          <a:noFill/>
        </p:spPr>
        <p:txBody>
          <a:bodyPr wrap="square" lIns="0" tIns="0" rIns="0" bIns="0" anchor="t">
            <a:spAutoFit/>
          </a:bodyPr>
          <a:lstStyle/>
          <a:p>
            <a:pPr algn="ctr"/>
            <a:r>
              <a:rPr sz="1300" b="1" i="0">
                <a:solidFill>
                  <a:srgbClr val="7C828D"/>
                </a:solidFill>
                <a:latin typeface="Calibri"/>
              </a:rPr>
              <a:t>UC05</a:t>
            </a:r>
          </a:p>
        </p:txBody>
      </p:sp>
      <p:sp>
        <p:nvSpPr>
          <p:cNvPr id="25" name="TextBox 24"/>
          <p:cNvSpPr txBox="1"/>
          <p:nvPr/>
        </p:nvSpPr>
        <p:spPr>
          <a:xfrm>
            <a:off x="7250399" y="1800000"/>
            <a:ext cx="1209599" cy="576000"/>
          </a:xfrm>
          <a:prstGeom prst="rect">
            <a:avLst/>
          </a:prstGeom>
          <a:noFill/>
        </p:spPr>
        <p:txBody>
          <a:bodyPr wrap="square" lIns="0" tIns="0" rIns="0" bIns="0" anchor="t">
            <a:spAutoFit/>
          </a:bodyPr>
          <a:lstStyle/>
          <a:p>
            <a:pPr algn="ctr">
              <a:lnSpc>
                <a:spcPct val="115000"/>
              </a:lnSpc>
            </a:pPr>
            <a:r>
              <a:rPr sz="1400" b="1" i="0">
                <a:solidFill>
                  <a:srgbClr val="FFFFFF"/>
                </a:solidFill>
                <a:latin typeface="Calibri"/>
              </a:rPr>
              <a:t>Tagesmenü-Optimierung</a:t>
            </a:r>
          </a:p>
        </p:txBody>
      </p:sp>
      <p:sp>
        <p:nvSpPr>
          <p:cNvPr id="26" name="TextBox 25"/>
          <p:cNvSpPr txBox="1"/>
          <p:nvPr/>
        </p:nvSpPr>
        <p:spPr>
          <a:xfrm>
            <a:off x="7250399" y="2484000"/>
            <a:ext cx="1209599" cy="576000"/>
          </a:xfrm>
          <a:prstGeom prst="rect">
            <a:avLst/>
          </a:prstGeom>
          <a:noFill/>
        </p:spPr>
        <p:txBody>
          <a:bodyPr wrap="square" lIns="0" tIns="0" rIns="0" bIns="0" anchor="t">
            <a:spAutoFit/>
          </a:bodyPr>
          <a:lstStyle/>
          <a:p>
            <a:pPr algn="ctr"/>
            <a:r>
              <a:rPr sz="3200" b="1" i="0">
                <a:solidFill>
                  <a:srgbClr val="B9BEC8"/>
                </a:solidFill>
                <a:latin typeface="Calibri"/>
              </a:rPr>
              <a:t>2.90</a:t>
            </a:r>
          </a:p>
        </p:txBody>
      </p:sp>
      <p:sp>
        <p:nvSpPr>
          <p:cNvPr id="27" name="TextBox 26"/>
          <p:cNvSpPr txBox="1"/>
          <p:nvPr/>
        </p:nvSpPr>
        <p:spPr>
          <a:xfrm>
            <a:off x="7250399" y="3204000"/>
            <a:ext cx="1209599" cy="612000"/>
          </a:xfrm>
          <a:prstGeom prst="rect">
            <a:avLst/>
          </a:prstGeom>
          <a:noFill/>
        </p:spPr>
        <p:txBody>
          <a:bodyPr wrap="square" lIns="0" tIns="0" rIns="0" bIns="0" anchor="t">
            <a:spAutoFit/>
          </a:bodyPr>
          <a:lstStyle/>
          <a:p>
            <a:pPr algn="ctr">
              <a:lnSpc>
                <a:spcPct val="120000"/>
              </a:lnSpc>
            </a:pPr>
            <a:r>
              <a:rPr sz="1200" b="0" i="0">
                <a:solidFill>
                  <a:srgbClr val="B9BEC8"/>
                </a:solidFill>
                <a:latin typeface="Calibri"/>
              </a:rPr>
              <a:t>Tagesmenü-Import seit 09/2026</a:t>
            </a:r>
          </a:p>
        </p:txBody>
      </p:sp>
      <p:sp>
        <p:nvSpPr>
          <p:cNvPr id="28" name="TextBox 27"/>
          <p:cNvSpPr txBox="1"/>
          <p:nvPr/>
        </p:nvSpPr>
        <p:spPr>
          <a:xfrm>
            <a:off x="540000" y="4140000"/>
            <a:ext cx="8063999" cy="432000"/>
          </a:xfrm>
          <a:prstGeom prst="rect">
            <a:avLst/>
          </a:prstGeom>
          <a:noFill/>
        </p:spPr>
        <p:txBody>
          <a:bodyPr wrap="square" lIns="0" tIns="0" rIns="0" bIns="0" anchor="t">
            <a:spAutoFit/>
          </a:bodyPr>
          <a:lstStyle/>
          <a:p>
            <a:pPr algn="l"/>
            <a:r>
              <a:rPr sz="1300" b="0" i="0">
                <a:solidFill>
                  <a:srgbClr val="B9BEC8"/>
                </a:solidFill>
                <a:latin typeface="Calibri"/>
              </a:rPr>
              <a:t>Gewichtung: Datenverfügbarkeit 30 % · Wirtschaftlichkeit 20 % · strategische Passung 20 % · Machbarkeit 15 % · Akzeptanz 15 %</a:t>
            </a:r>
          </a:p>
        </p:txBody>
      </p:sp>
      <p:sp>
        <p:nvSpPr>
          <p:cNvPr id="29" name="TextBox 28"/>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30" name="TextBox 29">
            <a:hlinkClick r:id="rId3" action="ppaction://hlinksldjump"/>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B  ·  USE CASES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Walk-Forward-Backtest, August 2026</a:t>
            </a:r>
          </a:p>
        </p:txBody>
      </p:sp>
      <p:sp>
        <p:nvSpPr>
          <p:cNvPr id="3" name="Rounded Rectangle 2"/>
          <p:cNvSpPr/>
          <p:nvPr/>
        </p:nvSpPr>
        <p:spPr>
          <a:xfrm>
            <a:off x="540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20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Aufbau</a:t>
            </a:r>
          </a:p>
        </p:txBody>
      </p:sp>
      <p:sp>
        <p:nvSpPr>
          <p:cNvPr id="5" name="Rounded Rectangle 4"/>
          <p:cNvSpPr/>
          <p:nvPr/>
        </p:nvSpPr>
        <p:spPr>
          <a:xfrm>
            <a:off x="540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0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Walk-Forward: jeder Testtag lernt nur aus Tagen davor</a:t>
            </a:r>
          </a:p>
        </p:txBody>
      </p:sp>
      <p:sp>
        <p:nvSpPr>
          <p:cNvPr id="7" name="Rounded Rectangle 6"/>
          <p:cNvSpPr/>
          <p:nvPr/>
        </p:nvSpPr>
        <p:spPr>
          <a:xfrm>
            <a:off x="540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20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Rückgerechnet — Backtest, kein Live-MAPE</a:t>
            </a:r>
          </a:p>
        </p:txBody>
      </p:sp>
      <p:sp>
        <p:nvSpPr>
          <p:cNvPr id="9" name="Rounded Rectangle 8"/>
          <p:cNvSpPr/>
          <p:nvPr/>
        </p:nvSpPr>
        <p:spPr>
          <a:xfrm>
            <a:off x="540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20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Baseline: gleicher Wochentag der Vorwoche</a:t>
            </a:r>
          </a:p>
        </p:txBody>
      </p:sp>
      <p:sp>
        <p:nvSpPr>
          <p:cNvPr id="11" name="Rounded Rectangle 10"/>
          <p:cNvSpPr/>
          <p:nvPr/>
        </p:nvSpPr>
        <p:spPr>
          <a:xfrm>
            <a:off x="540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0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Messgrösse: Speisen in Summe pro Tag</a:t>
            </a:r>
          </a:p>
        </p:txBody>
      </p:sp>
      <p:sp>
        <p:nvSpPr>
          <p:cNvPr id="13" name="Rounded Rectangle 12"/>
          <p:cNvSpPr/>
          <p:nvPr/>
        </p:nvSpPr>
        <p:spPr>
          <a:xfrm>
            <a:off x="3288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468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Datenbasis</a:t>
            </a:r>
          </a:p>
        </p:txBody>
      </p:sp>
      <p:sp>
        <p:nvSpPr>
          <p:cNvPr id="15" name="Rounded Rectangle 14"/>
          <p:cNvSpPr/>
          <p:nvPr/>
        </p:nvSpPr>
        <p:spPr>
          <a:xfrm>
            <a:off x="3288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468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17 Betriebstage 01.–23.08.2026 (Mi bis So)</a:t>
            </a:r>
          </a:p>
        </p:txBody>
      </p:sp>
      <p:sp>
        <p:nvSpPr>
          <p:cNvPr id="17" name="Rounded Rectangle 16"/>
          <p:cNvSpPr/>
          <p:nvPr/>
        </p:nvSpPr>
        <p:spPr>
          <a:xfrm>
            <a:off x="3288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468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106 Speisenartikel von 232 Artikeln insgesamt</a:t>
            </a:r>
          </a:p>
        </p:txBody>
      </p:sp>
      <p:sp>
        <p:nvSpPr>
          <p:cNvPr id="19" name="Rounded Rectangle 18"/>
          <p:cNvSpPr/>
          <p:nvPr/>
        </p:nvSpPr>
        <p:spPr>
          <a:xfrm>
            <a:off x="3288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468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801 Verkaufstage seit 02/2023, davon 698 mit Kassenzeilen</a:t>
            </a:r>
          </a:p>
        </p:txBody>
      </p:sp>
      <p:sp>
        <p:nvSpPr>
          <p:cNvPr id="21" name="Rounded Rectangle 20"/>
          <p:cNvSpPr/>
          <p:nvPr/>
        </p:nvSpPr>
        <p:spPr>
          <a:xfrm>
            <a:off x="3288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68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Ist aus zwei Quellen abgeglichen</a:t>
            </a:r>
          </a:p>
        </p:txBody>
      </p:sp>
      <p:sp>
        <p:nvSpPr>
          <p:cNvPr id="23" name="Rounded Rectangle 22"/>
          <p:cNvSpPr/>
          <p:nvPr/>
        </p:nvSpPr>
        <p:spPr>
          <a:xfrm>
            <a:off x="6036000" y="1332000"/>
            <a:ext cx="2568000" cy="342000"/>
          </a:xfrm>
          <a:prstGeom prst="roundRect">
            <a:avLst>
              <a:gd name="adj" fmla="val 600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16000" y="1332000"/>
            <a:ext cx="2208000" cy="342000"/>
          </a:xfrm>
          <a:prstGeom prst="rect">
            <a:avLst/>
          </a:prstGeom>
          <a:noFill/>
        </p:spPr>
        <p:txBody>
          <a:bodyPr wrap="square" lIns="0" tIns="0" rIns="0" bIns="0" anchor="ctr">
            <a:spAutoFit/>
          </a:bodyPr>
          <a:lstStyle/>
          <a:p>
            <a:pPr algn="l"/>
            <a:r>
              <a:rPr sz="1500" b="1" i="0">
                <a:solidFill>
                  <a:srgbClr val="FFFFFF"/>
                </a:solidFill>
                <a:latin typeface="Calibri"/>
              </a:rPr>
              <a:t>Ergebnis</a:t>
            </a:r>
          </a:p>
        </p:txBody>
      </p:sp>
      <p:sp>
        <p:nvSpPr>
          <p:cNvPr id="25" name="Rounded Rectangle 24"/>
          <p:cNvSpPr/>
          <p:nvPr/>
        </p:nvSpPr>
        <p:spPr>
          <a:xfrm>
            <a:off x="6036000" y="17820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16000" y="17820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MAPE 43.2 % gegen Baseline 81.4 % — halber Fehler</a:t>
            </a:r>
          </a:p>
        </p:txBody>
      </p:sp>
      <p:sp>
        <p:nvSpPr>
          <p:cNvPr id="27" name="Rounded Rectangle 26"/>
          <p:cNvSpPr/>
          <p:nvPr/>
        </p:nvSpPr>
        <p:spPr>
          <a:xfrm>
            <a:off x="6036000" y="24228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216000" y="24228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Nur August: 06.04.2025–02.08.2026 doppelt gezählt, im Test nur der 02.08.</a:t>
            </a:r>
          </a:p>
        </p:txBody>
      </p:sp>
      <p:sp>
        <p:nvSpPr>
          <p:cNvPr id="29" name="Rounded Rectangle 28"/>
          <p:cNvSpPr/>
          <p:nvPr/>
        </p:nvSpPr>
        <p:spPr>
          <a:xfrm>
            <a:off x="6036000" y="3063600"/>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216000" y="3063600"/>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Je Artikel gewichtet (WMAPE) 63.0 % · Verzerrung − 18.5 %</a:t>
            </a:r>
          </a:p>
        </p:txBody>
      </p:sp>
      <p:sp>
        <p:nvSpPr>
          <p:cNvPr id="31" name="Rounded Rectangle 30"/>
          <p:cNvSpPr/>
          <p:nvPr/>
        </p:nvSpPr>
        <p:spPr>
          <a:xfrm>
            <a:off x="6036000" y="3704399"/>
            <a:ext cx="2568000" cy="5832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216000" y="3704399"/>
            <a:ext cx="2208000" cy="583200"/>
          </a:xfrm>
          <a:prstGeom prst="rect">
            <a:avLst/>
          </a:prstGeom>
          <a:noFill/>
        </p:spPr>
        <p:txBody>
          <a:bodyPr wrap="square" lIns="0" tIns="0" rIns="0" bIns="0" anchor="ctr">
            <a:spAutoFit/>
          </a:bodyPr>
          <a:lstStyle/>
          <a:p>
            <a:pPr algn="l">
              <a:lnSpc>
                <a:spcPct val="120000"/>
              </a:lnSpc>
            </a:pPr>
            <a:r>
              <a:rPr sz="1250" b="0" i="0">
                <a:solidFill>
                  <a:srgbClr val="FFFFFF"/>
                </a:solidFill>
                <a:latin typeface="Calibri"/>
              </a:rPr>
              <a:t>Ziel &lt; 15 % gilt für die Top 10 Gerichte</a:t>
            </a:r>
          </a:p>
        </p:txBody>
      </p:sp>
      <p:sp>
        <p:nvSpPr>
          <p:cNvPr id="33" name="TextBox 32"/>
          <p:cNvSpPr txBox="1"/>
          <p:nvPr/>
        </p:nvSpPr>
        <p:spPr>
          <a:xfrm>
            <a:off x="540000" y="4356000"/>
            <a:ext cx="8063999" cy="324000"/>
          </a:xfrm>
          <a:prstGeom prst="rect">
            <a:avLst/>
          </a:prstGeom>
          <a:noFill/>
        </p:spPr>
        <p:txBody>
          <a:bodyPr wrap="square" lIns="0" tIns="0" rIns="0" bIns="0" anchor="t">
            <a:spAutoFit/>
          </a:bodyPr>
          <a:lstStyle/>
          <a:p>
            <a:pPr algn="l"/>
            <a:r>
              <a:rPr sz="1200" b="0" i="0">
                <a:solidFill>
                  <a:srgbClr val="B9BEC8"/>
                </a:solidFill>
                <a:latin typeface="Calibri"/>
              </a:rPr>
              <a:t>Pilotbetrieb: heute Regelbasis mit 3’242 gelernten Korrekturwerten (Stand 24.09.2026). Zielwert an zwei volle Saisonzyklen und Gradient Boosting geknüpft. Datenstand 23.09.2026, gleiche Zahlen wie Anhang F.</a:t>
            </a:r>
          </a:p>
        </p:txBody>
      </p:sp>
      <p:sp>
        <p:nvSpPr>
          <p:cNvPr id="34" name="TextBox 33"/>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35" name="TextBox 34">
            <a:hlinkClick r:id="rId3" action="ppaction://hlinksldjump"/>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C  ·  BACKTEST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600" b="1" i="0">
                <a:solidFill>
                  <a:srgbClr val="FFFFFF"/>
                </a:solidFill>
                <a:latin typeface="Calibri"/>
              </a:rPr>
              <a:t>Beispielcode: die Genauigkeitsmessung im Dashboard</a:t>
            </a:r>
          </a:p>
        </p:txBody>
      </p:sp>
      <p:sp>
        <p:nvSpPr>
          <p:cNvPr id="3" name="TextBox 2"/>
          <p:cNvSpPr txBox="1"/>
          <p:nvPr/>
        </p:nvSpPr>
        <p:spPr>
          <a:xfrm>
            <a:off x="540000" y="1087200"/>
            <a:ext cx="8063999" cy="216000"/>
          </a:xfrm>
          <a:prstGeom prst="rect">
            <a:avLst/>
          </a:prstGeom>
          <a:noFill/>
        </p:spPr>
        <p:txBody>
          <a:bodyPr wrap="square" lIns="0" tIns="0" rIns="0" bIns="0" anchor="t">
            <a:spAutoFit/>
          </a:bodyPr>
          <a:lstStyle/>
          <a:p>
            <a:pPr algn="l"/>
            <a:r>
              <a:rPr sz="1300" b="0" i="0">
                <a:solidFill>
                  <a:srgbClr val="B9BEC8"/>
                </a:solidFill>
                <a:latin typeface="Calibri"/>
              </a:rPr>
              <a:t>Auszug aus dem Demo-Dashboard  ·  JavaScript  ·  Funktion wmape() und ihre Vergleichsbasis</a:t>
            </a:r>
          </a:p>
        </p:txBody>
      </p:sp>
      <p:sp>
        <p:nvSpPr>
          <p:cNvPr id="4" name="Rounded Rectangle 3"/>
          <p:cNvSpPr/>
          <p:nvPr/>
        </p:nvSpPr>
        <p:spPr>
          <a:xfrm>
            <a:off x="540000" y="1339200"/>
            <a:ext cx="4752000" cy="309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7999" y="1422000"/>
            <a:ext cx="4356000" cy="198000"/>
          </a:xfrm>
          <a:prstGeom prst="rect">
            <a:avLst/>
          </a:prstGeom>
          <a:noFill/>
        </p:spPr>
        <p:txBody>
          <a:bodyPr wrap="square" lIns="0" tIns="0" rIns="0" bIns="0" anchor="t">
            <a:spAutoFit/>
          </a:bodyPr>
          <a:lstStyle/>
          <a:p>
            <a:pPr algn="l"/>
            <a:r>
              <a:rPr sz="1050" b="1" i="0">
                <a:solidFill>
                  <a:srgbClr val="7C828D"/>
                </a:solidFill>
                <a:latin typeface="Calibri"/>
              </a:rPr>
              <a:t>index.html  ·  Kennzahlen</a:t>
            </a:r>
          </a:p>
        </p:txBody>
      </p:sp>
      <p:sp>
        <p:nvSpPr>
          <p:cNvPr id="6" name="TextBox 5"/>
          <p:cNvSpPr txBox="1"/>
          <p:nvPr/>
        </p:nvSpPr>
        <p:spPr>
          <a:xfrm>
            <a:off x="737999" y="1663200"/>
            <a:ext cx="4356000" cy="2664000"/>
          </a:xfrm>
          <a:prstGeom prst="rect">
            <a:avLst/>
          </a:prstGeom>
          <a:noFill/>
        </p:spPr>
        <p:txBody>
          <a:bodyPr wrap="square" lIns="0" tIns="0" rIns="0" bIns="0" anchor="t">
            <a:spAutoFit/>
          </a:bodyPr>
          <a:lstStyle/>
          <a:p>
            <a:pPr algn="l">
              <a:lnSpc>
                <a:spcPct val="122000"/>
              </a:lnSpc>
            </a:pPr>
            <a:r>
              <a:rPr sz="1100" b="0" i="0">
                <a:solidFill>
                  <a:srgbClr val="FFFFFF"/>
                </a:solidFill>
                <a:latin typeface="Consolas"/>
              </a:rPr>
              <a:t>function wmape(items){</a:t>
            </a:r>
          </a:p>
          <a:p>
            <a:pPr algn="l">
              <a:lnSpc>
                <a:spcPct val="122000"/>
              </a:lnSpc>
            </a:pPr>
            <a:r>
              <a:rPr sz="1100" b="0" i="0">
                <a:solidFill>
                  <a:srgbClr val="FFFFFF"/>
                </a:solidFill>
                <a:latin typeface="Consolas"/>
              </a:rPr>
              <a:t>  let num=0, den=0;</a:t>
            </a:r>
          </a:p>
          <a:p>
            <a:pPr algn="l">
              <a:lnSpc>
                <a:spcPct val="122000"/>
              </a:lnSpc>
            </a:pPr>
            <a:r>
              <a:rPr sz="1100" b="0" i="0">
                <a:solidFill>
                  <a:srgbClr val="FFFFFF"/>
                </a:solidFill>
                <a:latin typeface="Consolas"/>
              </a:rPr>
              <a:t>  for(const it of erfasst(items)){</a:t>
            </a:r>
          </a:p>
          <a:p>
            <a:pPr algn="l">
              <a:lnSpc>
                <a:spcPct val="122000"/>
              </a:lnSpc>
            </a:pPr>
            <a:r>
              <a:rPr sz="1100" b="0" i="0">
                <a:solidFill>
                  <a:srgbClr val="FFFFFF"/>
                </a:solidFill>
                <a:latin typeface="Consolas"/>
              </a:rPr>
              <a:t>    num += Math.abs(it.ist - it.fc);</a:t>
            </a:r>
          </a:p>
          <a:p>
            <a:pPr algn="l">
              <a:lnSpc>
                <a:spcPct val="122000"/>
              </a:lnSpc>
            </a:pPr>
            <a:r>
              <a:rPr sz="1100" b="0" i="0">
                <a:solidFill>
                  <a:srgbClr val="FFFFFF"/>
                </a:solidFill>
                <a:latin typeface="Consolas"/>
              </a:rPr>
              <a:t>    den += it.ist;</a:t>
            </a:r>
          </a:p>
          <a:p>
            <a:pPr algn="l">
              <a:lnSpc>
                <a:spcPct val="122000"/>
              </a:lnSpc>
            </a:pPr>
            <a:r>
              <a:rPr sz="1100" b="0" i="0">
                <a:solidFill>
                  <a:srgbClr val="FFFFFF"/>
                </a:solidFill>
                <a:latin typeface="Consolas"/>
              </a:rPr>
              <a:t>  }</a:t>
            </a:r>
          </a:p>
          <a:p>
            <a:pPr algn="l">
              <a:lnSpc>
                <a:spcPct val="122000"/>
              </a:lnSpc>
            </a:pPr>
            <a:r>
              <a:rPr sz="1100" b="0" i="0">
                <a:solidFill>
                  <a:srgbClr val="FFFFFF"/>
                </a:solidFill>
                <a:latin typeface="Consolas"/>
              </a:rPr>
              <a:t>  return den ? num/den*100 : null;</a:t>
            </a:r>
          </a:p>
          <a:p>
            <a:pPr algn="l">
              <a:lnSpc>
                <a:spcPct val="122000"/>
              </a:lnSpc>
            </a:pPr>
            <a:r>
              <a:rPr sz="1100" b="0" i="0">
                <a:solidFill>
                  <a:srgbClr val="FFFFFF"/>
                </a:solidFill>
                <a:latin typeface="Consolas"/>
              </a:rPr>
              <a:t>}</a:t>
            </a:r>
          </a:p>
          <a:p>
            <a:pPr algn="l">
              <a:lnSpc>
                <a:spcPct val="122000"/>
              </a:lnSpc>
            </a:pPr>
            <a:endParaRPr sz="1100" b="0" i="0">
              <a:solidFill>
                <a:srgbClr val="FFFFFF"/>
              </a:solidFill>
              <a:latin typeface="Consolas"/>
            </a:endParaRPr>
          </a:p>
          <a:p>
            <a:pPr algn="l">
              <a:lnSpc>
                <a:spcPct val="122000"/>
              </a:lnSpc>
            </a:pPr>
            <a:r>
              <a:rPr sz="1100" b="0" i="1">
                <a:solidFill>
                  <a:srgbClr val="B9BEC8"/>
                </a:solidFill>
                <a:latin typeface="Consolas"/>
              </a:rPr>
              <a:t>// Vergleichsbasis — dieselbe Schleife,</a:t>
            </a:r>
          </a:p>
          <a:p>
            <a:pPr algn="l">
              <a:lnSpc>
                <a:spcPct val="122000"/>
              </a:lnSpc>
            </a:pPr>
            <a:r>
              <a:rPr sz="1100" b="0" i="1">
                <a:solidFill>
                  <a:srgbClr val="B9BEC8"/>
                </a:solidFill>
                <a:latin typeface="Consolas"/>
              </a:rPr>
              <a:t>// Erfahrungswert statt Prognose:</a:t>
            </a:r>
          </a:p>
          <a:p>
            <a:pPr algn="l">
              <a:lnSpc>
                <a:spcPct val="122000"/>
              </a:lnSpc>
            </a:pPr>
            <a:r>
              <a:rPr sz="1100" b="0" i="0">
                <a:solidFill>
                  <a:srgbClr val="FFFFFF"/>
                </a:solidFill>
                <a:latin typeface="Consolas"/>
              </a:rPr>
              <a:t>num += Math.abs(it.ist - erfahrungswert(it,day));</a:t>
            </a:r>
          </a:p>
        </p:txBody>
      </p:sp>
      <p:sp>
        <p:nvSpPr>
          <p:cNvPr id="7" name="Rounded Rectangle 6"/>
          <p:cNvSpPr/>
          <p:nvPr/>
        </p:nvSpPr>
        <p:spPr>
          <a:xfrm>
            <a:off x="5543999" y="13392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742000" y="1418400"/>
            <a:ext cx="2664000" cy="198000"/>
          </a:xfrm>
          <a:prstGeom prst="rect">
            <a:avLst/>
          </a:prstGeom>
          <a:noFill/>
        </p:spPr>
        <p:txBody>
          <a:bodyPr wrap="square" lIns="0" tIns="0" rIns="0" bIns="0" anchor="t">
            <a:spAutoFit/>
          </a:bodyPr>
          <a:lstStyle/>
          <a:p>
            <a:pPr algn="l"/>
            <a:r>
              <a:rPr sz="1250" b="1" i="0">
                <a:solidFill>
                  <a:srgbClr val="FFFFFF"/>
                </a:solidFill>
                <a:latin typeface="Calibri"/>
              </a:rPr>
              <a:t>Was sie rechnet</a:t>
            </a:r>
          </a:p>
        </p:txBody>
      </p:sp>
      <p:sp>
        <p:nvSpPr>
          <p:cNvPr id="9" name="TextBox 8"/>
          <p:cNvSpPr txBox="1"/>
          <p:nvPr/>
        </p:nvSpPr>
        <p:spPr>
          <a:xfrm>
            <a:off x="5742000" y="16200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Summe der absoluten Abweichungen zwischen Ist und Prognose, geteilt durch die Ist-Menge.</a:t>
            </a:r>
          </a:p>
        </p:txBody>
      </p:sp>
      <p:sp>
        <p:nvSpPr>
          <p:cNvPr id="10" name="Rounded Rectangle 9"/>
          <p:cNvSpPr/>
          <p:nvPr/>
        </p:nvSpPr>
        <p:spPr>
          <a:xfrm>
            <a:off x="5543999" y="21456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742000" y="2224800"/>
            <a:ext cx="2664000" cy="198000"/>
          </a:xfrm>
          <a:prstGeom prst="rect">
            <a:avLst/>
          </a:prstGeom>
          <a:noFill/>
        </p:spPr>
        <p:txBody>
          <a:bodyPr wrap="square" lIns="0" tIns="0" rIns="0" bIns="0" anchor="t">
            <a:spAutoFit/>
          </a:bodyPr>
          <a:lstStyle/>
          <a:p>
            <a:pPr algn="l"/>
            <a:r>
              <a:rPr sz="1250" b="1" i="0">
                <a:solidFill>
                  <a:srgbClr val="FFFFFF"/>
                </a:solidFill>
                <a:latin typeface="Calibri"/>
              </a:rPr>
              <a:t>Warum gewichtet</a:t>
            </a:r>
          </a:p>
        </p:txBody>
      </p:sp>
      <p:sp>
        <p:nvSpPr>
          <p:cNvPr id="12" name="TextBox 11"/>
          <p:cNvSpPr txBox="1"/>
          <p:nvPr/>
        </p:nvSpPr>
        <p:spPr>
          <a:xfrm>
            <a:off x="5742000" y="24264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Ein Fehler von zehn Stück wiegt beim Tagesgericht schwerer als beim Randartikel.</a:t>
            </a:r>
          </a:p>
        </p:txBody>
      </p:sp>
      <p:sp>
        <p:nvSpPr>
          <p:cNvPr id="13" name="Rounded Rectangle 12"/>
          <p:cNvSpPr/>
          <p:nvPr/>
        </p:nvSpPr>
        <p:spPr>
          <a:xfrm>
            <a:off x="5543999" y="29520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742000" y="3031200"/>
            <a:ext cx="2664000" cy="198000"/>
          </a:xfrm>
          <a:prstGeom prst="rect">
            <a:avLst/>
          </a:prstGeom>
          <a:noFill/>
        </p:spPr>
        <p:txBody>
          <a:bodyPr wrap="square" lIns="0" tIns="0" rIns="0" bIns="0" anchor="t">
            <a:spAutoFit/>
          </a:bodyPr>
          <a:lstStyle/>
          <a:p>
            <a:pPr algn="l"/>
            <a:r>
              <a:rPr sz="1250" b="1" i="0">
                <a:solidFill>
                  <a:srgbClr val="FFFFFF"/>
                </a:solidFill>
                <a:latin typeface="Calibri"/>
              </a:rPr>
              <a:t>Wo sie sichtbar wird</a:t>
            </a:r>
          </a:p>
        </p:txBody>
      </p:sp>
      <p:sp>
        <p:nvSpPr>
          <p:cNvPr id="15" name="TextBox 14"/>
          <p:cNvSpPr txBox="1"/>
          <p:nvPr/>
        </p:nvSpPr>
        <p:spPr>
          <a:xfrm>
            <a:off x="5742000" y="32328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Kennzahl «Genauigkeit» im Tages-KPI. Auf echten Daten im Pilotsystem: 63.0 % (Anhang C).</a:t>
            </a:r>
          </a:p>
        </p:txBody>
      </p:sp>
      <p:sp>
        <p:nvSpPr>
          <p:cNvPr id="16" name="Rounded Rectangle 15"/>
          <p:cNvSpPr/>
          <p:nvPr/>
        </p:nvSpPr>
        <p:spPr>
          <a:xfrm>
            <a:off x="5543999" y="3758400"/>
            <a:ext cx="3060000" cy="741600"/>
          </a:xfrm>
          <a:prstGeom prst="roundRect">
            <a:avLst>
              <a:gd name="adj" fmla="val 6000"/>
            </a:avLst>
          </a:prstGeom>
          <a:solidFill>
            <a:srgbClr val="2B1810"/>
          </a:solidFill>
          <a:ln w="1651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42000" y="3837600"/>
            <a:ext cx="2664000" cy="198000"/>
          </a:xfrm>
          <a:prstGeom prst="rect">
            <a:avLst/>
          </a:prstGeom>
          <a:noFill/>
        </p:spPr>
        <p:txBody>
          <a:bodyPr wrap="square" lIns="0" tIns="0" rIns="0" bIns="0" anchor="t">
            <a:spAutoFit/>
          </a:bodyPr>
          <a:lstStyle/>
          <a:p>
            <a:pPr algn="l"/>
            <a:r>
              <a:rPr sz="1250" b="1" i="0">
                <a:solidFill>
                  <a:srgbClr val="FF6B35"/>
                </a:solidFill>
                <a:latin typeface="Calibri"/>
              </a:rPr>
              <a:t>Der Kniff</a:t>
            </a:r>
          </a:p>
        </p:txBody>
      </p:sp>
      <p:sp>
        <p:nvSpPr>
          <p:cNvPr id="18" name="TextBox 17"/>
          <p:cNvSpPr txBox="1"/>
          <p:nvPr/>
        </p:nvSpPr>
        <p:spPr>
          <a:xfrm>
            <a:off x="5742000" y="4039200"/>
            <a:ext cx="2768954" cy="335476"/>
          </a:xfrm>
          <a:prstGeom prst="rect">
            <a:avLst/>
          </a:prstGeom>
          <a:noFill/>
        </p:spPr>
        <p:txBody>
          <a:bodyPr wrap="square" lIns="0" tIns="0" rIns="0" bIns="0" anchor="t">
            <a:spAutoFit/>
          </a:bodyPr>
          <a:lstStyle/>
          <a:p>
            <a:pPr algn="l">
              <a:lnSpc>
                <a:spcPct val="112000"/>
              </a:lnSpc>
            </a:pPr>
            <a:r>
              <a:rPr sz="1000" b="0" i="0" dirty="0" err="1">
                <a:solidFill>
                  <a:srgbClr val="FFFFFF"/>
                </a:solidFill>
                <a:latin typeface="Calibri"/>
              </a:rPr>
              <a:t>Dieselbe</a:t>
            </a:r>
            <a:r>
              <a:rPr sz="1000" b="0" i="0" dirty="0">
                <a:solidFill>
                  <a:srgbClr val="FFFFFF"/>
                </a:solidFill>
                <a:latin typeface="Calibri"/>
              </a:rPr>
              <a:t> </a:t>
            </a:r>
            <a:r>
              <a:rPr sz="1000" b="0" i="0" dirty="0" err="1">
                <a:solidFill>
                  <a:srgbClr val="FFFFFF"/>
                </a:solidFill>
                <a:latin typeface="Calibri"/>
              </a:rPr>
              <a:t>Schleife</a:t>
            </a:r>
            <a:r>
              <a:rPr sz="1000" b="0" i="0" dirty="0">
                <a:solidFill>
                  <a:srgbClr val="FFFFFF"/>
                </a:solidFill>
                <a:latin typeface="Calibri"/>
              </a:rPr>
              <a:t> </a:t>
            </a:r>
            <a:r>
              <a:rPr sz="1000" b="0" i="0" dirty="0" err="1">
                <a:solidFill>
                  <a:srgbClr val="FFFFFF"/>
                </a:solidFill>
                <a:latin typeface="Calibri"/>
              </a:rPr>
              <a:t>mit</a:t>
            </a:r>
            <a:r>
              <a:rPr sz="1000" b="0" i="0" dirty="0">
                <a:solidFill>
                  <a:srgbClr val="FFFFFF"/>
                </a:solidFill>
                <a:latin typeface="Calibri"/>
              </a:rPr>
              <a:t> dem </a:t>
            </a:r>
            <a:r>
              <a:rPr sz="1000" b="0" i="0" dirty="0" err="1">
                <a:solidFill>
                  <a:srgbClr val="FFFFFF"/>
                </a:solidFill>
                <a:latin typeface="Calibri"/>
              </a:rPr>
              <a:t>Erfahrungswert</a:t>
            </a:r>
            <a:r>
              <a:rPr sz="1000" b="0" i="0" dirty="0">
                <a:solidFill>
                  <a:srgbClr val="FFFFFF"/>
                </a:solidFill>
                <a:latin typeface="Calibri"/>
              </a:rPr>
              <a:t> </a:t>
            </a:r>
            <a:r>
              <a:rPr sz="1000" b="0" i="0" dirty="0" err="1">
                <a:solidFill>
                  <a:srgbClr val="FFFFFF"/>
                </a:solidFill>
                <a:latin typeface="Calibri"/>
              </a:rPr>
              <a:t>statt</a:t>
            </a:r>
            <a:r>
              <a:rPr sz="1000" b="0" i="0" dirty="0">
                <a:solidFill>
                  <a:srgbClr val="FFFFFF"/>
                </a:solidFill>
                <a:latin typeface="Calibri"/>
              </a:rPr>
              <a:t> der Prognose. Die </a:t>
            </a:r>
            <a:r>
              <a:rPr sz="1000" b="0" i="0" dirty="0" err="1">
                <a:solidFill>
                  <a:srgbClr val="FFFFFF"/>
                </a:solidFill>
                <a:latin typeface="Calibri"/>
              </a:rPr>
              <a:t>Differenz</a:t>
            </a:r>
            <a:r>
              <a:rPr sz="1000" b="0" i="0" dirty="0">
                <a:solidFill>
                  <a:srgbClr val="FFFFFF"/>
                </a:solidFill>
                <a:latin typeface="Calibri"/>
              </a:rPr>
              <a:t> </a:t>
            </a:r>
            <a:r>
              <a:rPr sz="1000" b="0" i="0" dirty="0" err="1">
                <a:solidFill>
                  <a:srgbClr val="FFFFFF"/>
                </a:solidFill>
                <a:latin typeface="Calibri"/>
              </a:rPr>
              <a:t>ist</a:t>
            </a:r>
            <a:r>
              <a:rPr sz="1000" b="0" i="0" dirty="0">
                <a:solidFill>
                  <a:srgbClr val="FFFFFF"/>
                </a:solidFill>
                <a:latin typeface="Calibri"/>
              </a:rPr>
              <a:t> der </a:t>
            </a:r>
            <a:r>
              <a:rPr sz="1000" b="0" i="0" dirty="0" err="1">
                <a:solidFill>
                  <a:srgbClr val="FFFFFF"/>
                </a:solidFill>
                <a:latin typeface="Calibri"/>
              </a:rPr>
              <a:t>Genauigkeitsgewinn</a:t>
            </a:r>
            <a:r>
              <a:rPr sz="1000" b="0" i="0" dirty="0">
                <a:solidFill>
                  <a:srgbClr val="FFFFFF"/>
                </a:solidFill>
                <a:latin typeface="Calibri"/>
              </a:rPr>
              <a:t>.</a:t>
            </a:r>
          </a:p>
        </p:txBody>
      </p:sp>
      <p:sp>
        <p:nvSpPr>
          <p:cNvPr id="19" name="TextBox 18"/>
          <p:cNvSpPr txBox="1"/>
          <p:nvPr/>
        </p:nvSpPr>
        <p:spPr>
          <a:xfrm>
            <a:off x="540000" y="4518000"/>
            <a:ext cx="8063999" cy="251999"/>
          </a:xfrm>
          <a:prstGeom prst="rect">
            <a:avLst/>
          </a:prstGeom>
          <a:noFill/>
        </p:spPr>
        <p:txBody>
          <a:bodyPr wrap="square" lIns="0" tIns="0" rIns="0" bIns="0" anchor="t">
            <a:spAutoFit/>
          </a:bodyPr>
          <a:lstStyle/>
          <a:p>
            <a:pPr algn="l"/>
            <a:r>
              <a:rPr sz="1150" b="0" i="0">
                <a:solidFill>
                  <a:srgbClr val="B9BEC8"/>
                </a:solidFill>
                <a:latin typeface="Calibri"/>
              </a:rPr>
              <a:t>WMAPE = weighted mean absolute percentage error.   erfasst() filtert auf Artikel mit erfasstem Ist-Wert.</a:t>
            </a:r>
          </a:p>
        </p:txBody>
      </p:sp>
      <p:sp>
        <p:nvSpPr>
          <p:cNvPr id="20" name="TextBox 19"/>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1" name="TextBox 20">
            <a:hlinkClick r:id="" action="ppaction://noaction"/>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D  ·  CODE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600" b="1" i="0">
                <a:solidFill>
                  <a:srgbClr val="FFFFFF"/>
                </a:solidFill>
                <a:latin typeface="Calibri"/>
              </a:rPr>
              <a:t>Beispielcode: das KI-Delta – so lernt die Prognose</a:t>
            </a:r>
          </a:p>
        </p:txBody>
      </p:sp>
      <p:sp>
        <p:nvSpPr>
          <p:cNvPr id="3" name="TextBox 2"/>
          <p:cNvSpPr txBox="1"/>
          <p:nvPr/>
        </p:nvSpPr>
        <p:spPr>
          <a:xfrm>
            <a:off x="540000" y="1087200"/>
            <a:ext cx="8063999" cy="216000"/>
          </a:xfrm>
          <a:prstGeom prst="rect">
            <a:avLst/>
          </a:prstGeom>
          <a:noFill/>
        </p:spPr>
        <p:txBody>
          <a:bodyPr wrap="square" lIns="0" tIns="0" rIns="0" bIns="0" anchor="t">
            <a:spAutoFit/>
          </a:bodyPr>
          <a:lstStyle/>
          <a:p>
            <a:pPr algn="l"/>
            <a:r>
              <a:rPr sz="1300" b="0" i="0">
                <a:solidFill>
                  <a:srgbClr val="B9BEC8"/>
                </a:solidFill>
                <a:latin typeface="Calibri"/>
              </a:rPr>
              <a:t>Auszug aus dem Prototyp V3.5 (Pilotbetrieb)  ·  Python  ·  gekürzt, Kommentare ergänzt</a:t>
            </a:r>
          </a:p>
        </p:txBody>
      </p:sp>
      <p:sp>
        <p:nvSpPr>
          <p:cNvPr id="4" name="Rounded Rectangle 3"/>
          <p:cNvSpPr/>
          <p:nvPr/>
        </p:nvSpPr>
        <p:spPr>
          <a:xfrm>
            <a:off x="540000" y="1339200"/>
            <a:ext cx="4752000" cy="3096000"/>
          </a:xfrm>
          <a:prstGeom prst="roundRect">
            <a:avLst>
              <a:gd name="adj" fmla="val 6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7999" y="1422000"/>
            <a:ext cx="4356000" cy="198000"/>
          </a:xfrm>
          <a:prstGeom prst="rect">
            <a:avLst/>
          </a:prstGeom>
          <a:noFill/>
        </p:spPr>
        <p:txBody>
          <a:bodyPr wrap="square" lIns="0" tIns="0" rIns="0" bIns="0" anchor="t">
            <a:spAutoFit/>
          </a:bodyPr>
          <a:lstStyle/>
          <a:p>
            <a:pPr algn="l"/>
            <a:r>
              <a:rPr sz="1050" b="1" i="0">
                <a:solidFill>
                  <a:srgbClr val="7C828D"/>
                </a:solidFill>
                <a:latin typeface="Calibri"/>
              </a:rPr>
              <a:t>backend/app/services/delta_learning.py</a:t>
            </a:r>
          </a:p>
        </p:txBody>
      </p:sp>
      <p:sp>
        <p:nvSpPr>
          <p:cNvPr id="6" name="TextBox 5"/>
          <p:cNvSpPr txBox="1"/>
          <p:nvPr/>
        </p:nvSpPr>
        <p:spPr>
          <a:xfrm>
            <a:off x="737999" y="1663200"/>
            <a:ext cx="4356000" cy="2664000"/>
          </a:xfrm>
          <a:prstGeom prst="rect">
            <a:avLst/>
          </a:prstGeom>
          <a:noFill/>
        </p:spPr>
        <p:txBody>
          <a:bodyPr wrap="square" lIns="0" tIns="0" rIns="0" bIns="0" anchor="t">
            <a:spAutoFit/>
          </a:bodyPr>
          <a:lstStyle/>
          <a:p>
            <a:pPr algn="l">
              <a:lnSpc>
                <a:spcPct val="112000"/>
              </a:lnSpc>
            </a:pPr>
            <a:r>
              <a:rPr sz="1050" b="0" i="0">
                <a:solidFill>
                  <a:srgbClr val="FFFFFF"/>
                </a:solidFill>
                <a:latin typeface="Consolas"/>
              </a:rPr>
              <a:t>DELTA_EMA_ALPHA = 0.35</a:t>
            </a:r>
            <a:r>
              <a:rPr sz="1050" b="0" i="1">
                <a:solidFill>
                  <a:srgbClr val="B9BEC8"/>
                </a:solidFill>
                <a:latin typeface="Consolas"/>
              </a:rPr>
              <a:t>  # Gewicht des neuen Tages</a:t>
            </a:r>
          </a:p>
          <a:p>
            <a:pPr algn="l">
              <a:lnSpc>
                <a:spcPct val="112000"/>
              </a:lnSpc>
            </a:pPr>
            <a:r>
              <a:rPr sz="1050" b="0" i="0">
                <a:solidFill>
                  <a:srgbClr val="FFFFFF"/>
                </a:solidFill>
                <a:latin typeface="Consolas"/>
              </a:rPr>
              <a:t>DELTA_CLAMP = 20.0</a:t>
            </a:r>
            <a:r>
              <a:rPr sz="1050" b="0" i="1">
                <a:solidFill>
                  <a:srgbClr val="B9BEC8"/>
                </a:solidFill>
                <a:latin typeface="Consolas"/>
              </a:rPr>
              <a:t>      # max. ± Portionen</a:t>
            </a:r>
          </a:p>
          <a:p>
            <a:pPr algn="l">
              <a:lnSpc>
                <a:spcPct val="112000"/>
              </a:lnSpc>
            </a:pPr>
            <a:endParaRPr sz="1050" b="0" i="0">
              <a:solidFill>
                <a:srgbClr val="FFFFFF"/>
              </a:solidFill>
              <a:latin typeface="Consolas"/>
            </a:endParaRPr>
          </a:p>
          <a:p>
            <a:pPr algn="l">
              <a:lnSpc>
                <a:spcPct val="112000"/>
              </a:lnSpc>
            </a:pPr>
            <a:r>
              <a:rPr sz="1050" b="0" i="1">
                <a:solidFill>
                  <a:srgbClr val="B9BEC8"/>
                </a:solidFill>
                <a:latin typeface="Consolas"/>
              </a:rPr>
              <a:t># 1 · Lernen – nach jedem Kassenimport</a:t>
            </a:r>
          </a:p>
          <a:p>
            <a:pPr algn="l">
              <a:lnSpc>
                <a:spcPct val="112000"/>
              </a:lnSpc>
            </a:pPr>
            <a:r>
              <a:rPr sz="1050" b="0" i="0">
                <a:solidFill>
                  <a:srgbClr val="FFFFFF"/>
                </a:solidFill>
                <a:latin typeface="Consolas"/>
              </a:rPr>
              <a:t>raw = float(ist - pred)</a:t>
            </a:r>
            <a:r>
              <a:rPr sz="1050" b="0" i="1">
                <a:solidFill>
                  <a:srgbClr val="B9BEC8"/>
                </a:solidFill>
                <a:latin typeface="Consolas"/>
              </a:rPr>
              <a:t>  # Restfehler</a:t>
            </a:r>
          </a:p>
          <a:p>
            <a:pPr algn="l">
              <a:lnSpc>
                <a:spcPct val="112000"/>
              </a:lnSpc>
            </a:pPr>
            <a:r>
              <a:rPr sz="1050" b="0" i="0">
                <a:solidFill>
                  <a:srgbClr val="FFFFFF"/>
                </a:solidFill>
                <a:latin typeface="Consolas"/>
              </a:rPr>
              <a:t>if pid in censored and raw &lt; 0:</a:t>
            </a:r>
          </a:p>
          <a:p>
            <a:pPr algn="l">
              <a:lnSpc>
                <a:spcPct val="112000"/>
              </a:lnSpc>
            </a:pPr>
            <a:r>
              <a:rPr sz="1050" b="0" i="0">
                <a:solidFill>
                  <a:srgbClr val="FFFFFF"/>
                </a:solidFill>
                <a:latin typeface="Consolas"/>
              </a:rPr>
              <a:t>    raw = 0.0</a:t>
            </a:r>
            <a:r>
              <a:rPr sz="1050" b="0" i="1">
                <a:solidFill>
                  <a:srgbClr val="B9BEC8"/>
                </a:solidFill>
                <a:latin typeface="Consolas"/>
              </a:rPr>
              <a:t>  # ausverkauft: nicht nach unten</a:t>
            </a:r>
          </a:p>
          <a:p>
            <a:pPr algn="l">
              <a:lnSpc>
                <a:spcPct val="112000"/>
              </a:lnSpc>
            </a:pPr>
            <a:r>
              <a:rPr sz="1050" b="0" i="0">
                <a:solidFill>
                  <a:srgbClr val="FFFFFF"/>
                </a:solidFill>
                <a:latin typeface="Consolas"/>
              </a:rPr>
              <a:t>raw = max(-40, min(40, raw))</a:t>
            </a:r>
            <a:r>
              <a:rPr sz="1050" b="0" i="1">
                <a:solidFill>
                  <a:srgbClr val="B9BEC8"/>
                </a:solidFill>
                <a:latin typeface="Consolas"/>
              </a:rPr>
              <a:t>  # Ausreisser begrenzen</a:t>
            </a:r>
          </a:p>
          <a:p>
            <a:pPr algn="l">
              <a:lnSpc>
                <a:spcPct val="112000"/>
              </a:lnSpc>
            </a:pPr>
            <a:r>
              <a:rPr sz="1050" b="0" i="0">
                <a:solidFill>
                  <a:srgbClr val="FFFFFF"/>
                </a:solidFill>
                <a:latin typeface="Consolas"/>
              </a:rPr>
              <a:t>row.ema_delta = DELTA_EMA_ALPHA * raw \</a:t>
            </a:r>
          </a:p>
          <a:p>
            <a:pPr algn="l">
              <a:lnSpc>
                <a:spcPct val="112000"/>
              </a:lnSpc>
            </a:pPr>
            <a:r>
              <a:rPr sz="1050" b="0" i="0">
                <a:solidFill>
                  <a:srgbClr val="FFFFFF"/>
                </a:solidFill>
                <a:latin typeface="Consolas"/>
              </a:rPr>
              <a:t>    + (1.0 - DELTA_EMA_ALPHA) * old</a:t>
            </a:r>
          </a:p>
          <a:p>
            <a:pPr algn="l">
              <a:lnSpc>
                <a:spcPct val="112000"/>
              </a:lnSpc>
            </a:pPr>
            <a:r>
              <a:rPr sz="1050" b="0" i="1">
                <a:solidFill>
                  <a:srgbClr val="B9BEC8"/>
                </a:solidFill>
                <a:latin typeface="Consolas"/>
              </a:rPr>
              <a:t># 2 · Anwenden – auf die nächste Prognose</a:t>
            </a:r>
          </a:p>
          <a:p>
            <a:pPr algn="l">
              <a:lnSpc>
                <a:spcPct val="112000"/>
              </a:lnSpc>
            </a:pPr>
            <a:r>
              <a:rPr sz="1050" b="0" i="0">
                <a:solidFill>
                  <a:srgbClr val="FFFFFF"/>
                </a:solidFill>
                <a:latin typeface="Consolas"/>
              </a:rPr>
              <a:t>clamped = max(-DELTA_CLAMP,</a:t>
            </a:r>
          </a:p>
          <a:p>
            <a:pPr algn="l">
              <a:lnSpc>
                <a:spcPct val="112000"/>
              </a:lnSpc>
            </a:pPr>
            <a:r>
              <a:rPr sz="1050" b="0" i="0">
                <a:solidFill>
                  <a:srgbClr val="FFFFFF"/>
                </a:solidFill>
                <a:latin typeface="Consolas"/>
              </a:rPr>
              <a:t>    min(DELTA_CLAMP, float(ema_delta)))</a:t>
            </a:r>
          </a:p>
          <a:p>
            <a:pPr algn="l">
              <a:lnSpc>
                <a:spcPct val="112000"/>
              </a:lnSpc>
            </a:pPr>
            <a:r>
              <a:rPr sz="1050" b="0" i="0">
                <a:solidFill>
                  <a:srgbClr val="FFFFFF"/>
                </a:solidFill>
                <a:latin typeface="Consolas"/>
              </a:rPr>
              <a:t>return max(0, round(qty + clamped))</a:t>
            </a:r>
          </a:p>
        </p:txBody>
      </p:sp>
      <p:sp>
        <p:nvSpPr>
          <p:cNvPr id="7" name="Rounded Rectangle 6"/>
          <p:cNvSpPr/>
          <p:nvPr/>
        </p:nvSpPr>
        <p:spPr>
          <a:xfrm>
            <a:off x="5543999" y="13392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742000" y="1418400"/>
            <a:ext cx="2664000" cy="198000"/>
          </a:xfrm>
          <a:prstGeom prst="rect">
            <a:avLst/>
          </a:prstGeom>
          <a:noFill/>
        </p:spPr>
        <p:txBody>
          <a:bodyPr wrap="square" lIns="0" tIns="0" rIns="0" bIns="0" anchor="t">
            <a:spAutoFit/>
          </a:bodyPr>
          <a:lstStyle/>
          <a:p>
            <a:pPr algn="l"/>
            <a:r>
              <a:rPr sz="1250" b="1" i="0">
                <a:solidFill>
                  <a:srgbClr val="FFFFFF"/>
                </a:solidFill>
                <a:latin typeface="Calibri"/>
              </a:rPr>
              <a:t>Was sie lernt</a:t>
            </a:r>
          </a:p>
        </p:txBody>
      </p:sp>
      <p:sp>
        <p:nvSpPr>
          <p:cNvPr id="9" name="TextBox 8"/>
          <p:cNvSpPr txBox="1"/>
          <p:nvPr/>
        </p:nvSpPr>
        <p:spPr>
          <a:xfrm>
            <a:off x="5742000" y="16200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Je Gericht, Wochentag und Wetterlage einen Korrekturwert aus dem Restfehler der Prognose.</a:t>
            </a:r>
          </a:p>
        </p:txBody>
      </p:sp>
      <p:sp>
        <p:nvSpPr>
          <p:cNvPr id="10" name="Rounded Rectangle 9"/>
          <p:cNvSpPr/>
          <p:nvPr/>
        </p:nvSpPr>
        <p:spPr>
          <a:xfrm>
            <a:off x="5543999" y="21456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742000" y="2224800"/>
            <a:ext cx="2664000" cy="198000"/>
          </a:xfrm>
          <a:prstGeom prst="rect">
            <a:avLst/>
          </a:prstGeom>
          <a:noFill/>
        </p:spPr>
        <p:txBody>
          <a:bodyPr wrap="square" lIns="0" tIns="0" rIns="0" bIns="0" anchor="t">
            <a:spAutoFit/>
          </a:bodyPr>
          <a:lstStyle/>
          <a:p>
            <a:pPr algn="l"/>
            <a:r>
              <a:rPr sz="1250" b="1" i="0">
                <a:solidFill>
                  <a:srgbClr val="FFFFFF"/>
                </a:solidFill>
                <a:latin typeface="Calibri"/>
              </a:rPr>
              <a:t>Wie sie lernt</a:t>
            </a:r>
          </a:p>
        </p:txBody>
      </p:sp>
      <p:sp>
        <p:nvSpPr>
          <p:cNvPr id="12" name="TextBox 11"/>
          <p:cNvSpPr txBox="1"/>
          <p:nvPr/>
        </p:nvSpPr>
        <p:spPr>
          <a:xfrm>
            <a:off x="5742000" y="24264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Nach jedem Tag: 35 % heutiger Fehler plus 65 % bisheriger Wert. Chronologisch, jeder Tag einmal.</a:t>
            </a:r>
          </a:p>
        </p:txBody>
      </p:sp>
      <p:sp>
        <p:nvSpPr>
          <p:cNvPr id="13" name="Rounded Rectangle 12"/>
          <p:cNvSpPr/>
          <p:nvPr/>
        </p:nvSpPr>
        <p:spPr>
          <a:xfrm>
            <a:off x="5543999" y="2952000"/>
            <a:ext cx="3060000" cy="74160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742000" y="3031200"/>
            <a:ext cx="2664000" cy="198000"/>
          </a:xfrm>
          <a:prstGeom prst="rect">
            <a:avLst/>
          </a:prstGeom>
          <a:noFill/>
        </p:spPr>
        <p:txBody>
          <a:bodyPr wrap="square" lIns="0" tIns="0" rIns="0" bIns="0" anchor="t">
            <a:spAutoFit/>
          </a:bodyPr>
          <a:lstStyle/>
          <a:p>
            <a:pPr algn="l"/>
            <a:r>
              <a:rPr sz="1250" b="1" i="0">
                <a:solidFill>
                  <a:srgbClr val="FFFFFF"/>
                </a:solidFill>
                <a:latin typeface="Calibri"/>
              </a:rPr>
              <a:t>Wo sie wirkt</a:t>
            </a:r>
          </a:p>
        </p:txBody>
      </p:sp>
      <p:sp>
        <p:nvSpPr>
          <p:cNvPr id="15" name="TextBox 14"/>
          <p:cNvSpPr txBox="1"/>
          <p:nvPr/>
        </p:nvSpPr>
        <p:spPr>
          <a:xfrm>
            <a:off x="5742000" y="3232800"/>
            <a:ext cx="2664000" cy="460800"/>
          </a:xfrm>
          <a:prstGeom prst="rect">
            <a:avLst/>
          </a:prstGeom>
          <a:noFill/>
        </p:spPr>
        <p:txBody>
          <a:bodyPr wrap="square" lIns="0" tIns="0" rIns="0" bIns="0" anchor="t">
            <a:spAutoFit/>
          </a:bodyPr>
          <a:lstStyle/>
          <a:p>
            <a:pPr algn="l">
              <a:lnSpc>
                <a:spcPct val="112000"/>
              </a:lnSpc>
            </a:pPr>
            <a:r>
              <a:rPr sz="1000" b="0" i="0">
                <a:solidFill>
                  <a:srgbClr val="B9BEC8"/>
                </a:solidFill>
                <a:latin typeface="Calibri"/>
              </a:rPr>
              <a:t>Regel + Korrektur, max. ±20 Portionen. Schweinsschnitzel paniert, Sa, mild: +7.1</a:t>
            </a:r>
          </a:p>
        </p:txBody>
      </p:sp>
      <p:sp>
        <p:nvSpPr>
          <p:cNvPr id="16" name="Rounded Rectangle 15"/>
          <p:cNvSpPr/>
          <p:nvPr/>
        </p:nvSpPr>
        <p:spPr>
          <a:xfrm>
            <a:off x="5543999" y="3758400"/>
            <a:ext cx="3060000" cy="741600"/>
          </a:xfrm>
          <a:prstGeom prst="roundRect">
            <a:avLst>
              <a:gd name="adj" fmla="val 6000"/>
            </a:avLst>
          </a:prstGeom>
          <a:solidFill>
            <a:srgbClr val="2B1810"/>
          </a:solidFill>
          <a:ln w="1651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42000" y="3837600"/>
            <a:ext cx="2664000" cy="198000"/>
          </a:xfrm>
          <a:prstGeom prst="rect">
            <a:avLst/>
          </a:prstGeom>
          <a:noFill/>
        </p:spPr>
        <p:txBody>
          <a:bodyPr wrap="square" lIns="0" tIns="0" rIns="0" bIns="0" anchor="t">
            <a:spAutoFit/>
          </a:bodyPr>
          <a:lstStyle/>
          <a:p>
            <a:pPr algn="l"/>
            <a:r>
              <a:rPr sz="1250" b="1" i="0">
                <a:solidFill>
                  <a:srgbClr val="FF6B35"/>
                </a:solidFill>
                <a:latin typeface="Calibri"/>
              </a:rPr>
              <a:t>Der Kniff</a:t>
            </a:r>
          </a:p>
        </p:txBody>
      </p:sp>
      <p:sp>
        <p:nvSpPr>
          <p:cNvPr id="18" name="TextBox 17"/>
          <p:cNvSpPr txBox="1"/>
          <p:nvPr/>
        </p:nvSpPr>
        <p:spPr>
          <a:xfrm>
            <a:off x="5742000" y="4039200"/>
            <a:ext cx="2664000" cy="460800"/>
          </a:xfrm>
          <a:prstGeom prst="rect">
            <a:avLst/>
          </a:prstGeom>
          <a:noFill/>
        </p:spPr>
        <p:txBody>
          <a:bodyPr wrap="square" lIns="0" tIns="0" rIns="0" bIns="0" anchor="t">
            <a:spAutoFit/>
          </a:bodyPr>
          <a:lstStyle/>
          <a:p>
            <a:pPr algn="l">
              <a:lnSpc>
                <a:spcPct val="112000"/>
              </a:lnSpc>
            </a:pPr>
            <a:r>
              <a:rPr sz="1000" b="0" i="0">
                <a:solidFill>
                  <a:srgbClr val="FFFFFF"/>
                </a:solidFill>
                <a:latin typeface="Calibri"/>
              </a:rPr>
              <a:t>Ausverkauft markiert: nur nach oben lernen. Die Kasse zeigt den Verkauf, nicht die Nachfrage.</a:t>
            </a:r>
          </a:p>
        </p:txBody>
      </p:sp>
      <p:sp>
        <p:nvSpPr>
          <p:cNvPr id="19" name="TextBox 18"/>
          <p:cNvSpPr txBox="1"/>
          <p:nvPr/>
        </p:nvSpPr>
        <p:spPr>
          <a:xfrm>
            <a:off x="540000" y="4518000"/>
            <a:ext cx="8063999" cy="251999"/>
          </a:xfrm>
          <a:prstGeom prst="rect">
            <a:avLst/>
          </a:prstGeom>
          <a:noFill/>
        </p:spPr>
        <p:txBody>
          <a:bodyPr wrap="square" lIns="0" tIns="0" rIns="0" bIns="0" anchor="t">
            <a:spAutoFit/>
          </a:bodyPr>
          <a:lstStyle/>
          <a:p>
            <a:pPr algn="l"/>
            <a:r>
              <a:rPr sz="1150" b="1" i="0">
                <a:solidFill>
                  <a:srgbClr val="B9BEC8"/>
                </a:solidFill>
                <a:latin typeface="Calibri"/>
              </a:rPr>
              <a:t>Bekannte Grenze: </a:t>
            </a:r>
            <a:r>
              <a:rPr sz="1150" b="0" i="0">
                <a:solidFill>
                  <a:srgbClr val="B9BEC8"/>
                </a:solidFill>
                <a:latin typeface="Calibri"/>
              </a:rPr>
              <a:t>Lernt aus dem Restfehler, gleicht konstante Abweichungen nur zur Hälfte aus. Korrektur nach der Prüfung.</a:t>
            </a:r>
          </a:p>
        </p:txBody>
      </p:sp>
      <p:sp>
        <p:nvSpPr>
          <p:cNvPr id="20" name="TextBox 19"/>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1" name="TextBox 20">
            <a:hlinkClick r:id="" action="ppaction://noaction"/>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E  ·  KI-DELTA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400" b="1" i="0">
                <a:solidFill>
                  <a:srgbClr val="FFFFFF"/>
                </a:solidFill>
                <a:latin typeface="Calibri"/>
              </a:rPr>
              <a:t>Weg zu Gradient Boosting – nach Beleg, nicht nach Kalender</a:t>
            </a:r>
          </a:p>
        </p:txBody>
      </p:sp>
      <p:sp>
        <p:nvSpPr>
          <p:cNvPr id="199" name="Subtitle"/>
          <p:cNvSpPr txBox="1"/>
          <p:nvPr/>
        </p:nvSpPr>
        <p:spPr>
          <a:xfrm>
            <a:off x="540000" y="1087200"/>
            <a:ext cx="8063999" cy="216000"/>
          </a:xfrm>
          <a:prstGeom prst="rect">
            <a:avLst/>
          </a:prstGeom>
          <a:noFill/>
        </p:spPr>
        <p:txBody>
          <a:bodyPr wrap="square" lIns="0" tIns="0" rIns="0" bIns="0" anchor="t">
            <a:spAutoFit/>
          </a:bodyPr>
          <a:lstStyle/>
          <a:p>
            <a:pPr algn="l"/>
            <a:r>
              <a:rPr lang="de-CH" sz="1300" b="0" i="0">
                <a:solidFill>
                  <a:srgbClr val="B9BEC8"/>
                </a:solidFill>
                <a:latin typeface="Calibri"/>
              </a:rPr>
              <a:t>Ein Saisonzyklus = zwölf Monate mit Garten- und Wintersaison  ·  Zyklus 1 lernt, Zyklus 2 prüft</a:t>
            </a:r>
          </a:p>
        </p:txBody>
      </p:sp>
      <p:sp>
        <p:nvSpPr>
          <p:cNvPr id="101" name="Shape 101"/>
          <p:cNvSpPr/>
          <p:nvPr/>
        </p:nvSpPr>
        <p:spPr>
          <a:xfrm>
            <a:off x="540000" y="1520475"/>
            <a:ext cx="8064000" cy="19050"/>
          </a:xfrm>
          <a:prstGeom prst="rect">
            <a:avLst/>
          </a:prstGeom>
          <a:solidFill>
            <a:srgbClr val="3A3E47"/>
          </a:solidFill>
          <a:ln>
            <a:noFill/>
          </a:ln>
        </p:spPr>
        <p:txBody>
          <a:bodyPr/>
          <a:lstStyle/>
          <a:p>
            <a:endParaRPr lang="de-CH"/>
          </a:p>
        </p:txBody>
      </p:sp>
      <p:sp>
        <p:nvSpPr>
          <p:cNvPr id="102" name="Shape 102"/>
          <p:cNvSpPr/>
          <p:nvPr/>
        </p:nvSpPr>
        <p:spPr>
          <a:xfrm>
            <a:off x="540000" y="1380000"/>
            <a:ext cx="1516800" cy="300000"/>
          </a:xfrm>
          <a:prstGeom prst="roundRect">
            <a:avLst>
              <a:gd name="adj" fmla="val 8000"/>
            </a:avLst>
          </a:prstGeom>
          <a:solidFill>
            <a:srgbClr val="FF6B35"/>
          </a:solidFill>
          <a:ln>
            <a:noFill/>
          </a:ln>
        </p:spPr>
        <p:txBody>
          <a:bodyPr/>
          <a:lstStyle/>
          <a:p>
            <a:endParaRPr lang="de-CH"/>
          </a:p>
        </p:txBody>
      </p:sp>
      <p:sp>
        <p:nvSpPr>
          <p:cNvPr id="103" name="Text 103"/>
          <p:cNvSpPr txBox="1"/>
          <p:nvPr/>
        </p:nvSpPr>
        <p:spPr>
          <a:xfrm>
            <a:off x="540000" y="1380000"/>
            <a:ext cx="1516800" cy="300000"/>
          </a:xfrm>
          <a:prstGeom prst="rect">
            <a:avLst/>
          </a:prstGeom>
          <a:noFill/>
        </p:spPr>
        <p:txBody>
          <a:bodyPr wrap="square" lIns="45720" tIns="0" rIns="45720" bIns="0" anchor="ctr">
            <a:normAutofit/>
          </a:bodyPr>
          <a:lstStyle/>
          <a:p>
            <a:pPr algn="ctr">
              <a:lnSpc>
                <a:spcPct val="100000"/>
              </a:lnSpc>
              <a:spcAft>
                <a:spcPts val="0"/>
              </a:spcAft>
              <a:buNone/>
            </a:pPr>
            <a:r>
              <a:rPr lang="de-CH" sz="1150" b="1" i="0">
                <a:solidFill>
                  <a:srgbClr val="FFFFFF"/>
                </a:solidFill>
                <a:latin typeface="Calibri"/>
              </a:rPr>
              <a:t>0 · Bereinigen</a:t>
            </a:r>
          </a:p>
        </p:txBody>
      </p:sp>
      <p:sp>
        <p:nvSpPr>
          <p:cNvPr id="104" name="Shape 104"/>
          <p:cNvSpPr/>
          <p:nvPr/>
        </p:nvSpPr>
        <p:spPr>
          <a:xfrm>
            <a:off x="540000" y="1750000"/>
            <a:ext cx="1516800" cy="980000"/>
          </a:xfrm>
          <a:prstGeom prst="roundRect">
            <a:avLst>
              <a:gd name="adj" fmla="val 8000"/>
            </a:avLst>
          </a:prstGeom>
          <a:solidFill>
            <a:srgbClr val="1B1D23"/>
          </a:solidFill>
          <a:ln>
            <a:noFill/>
          </a:ln>
        </p:spPr>
        <p:txBody>
          <a:bodyPr/>
          <a:lstStyle/>
          <a:p>
            <a:endParaRPr lang="de-CH"/>
          </a:p>
        </p:txBody>
      </p:sp>
      <p:sp>
        <p:nvSpPr>
          <p:cNvPr id="105" name="Text 105"/>
          <p:cNvSpPr txBox="1"/>
          <p:nvPr/>
        </p:nvSpPr>
        <p:spPr>
          <a:xfrm>
            <a:off x="630000" y="1830000"/>
            <a:ext cx="1336800" cy="860000"/>
          </a:xfrm>
          <a:prstGeom prst="rect">
            <a:avLst/>
          </a:prstGeom>
          <a:noFill/>
        </p:spPr>
        <p:txBody>
          <a:bodyPr wrap="square" lIns="0" tIns="0" rIns="0" bIns="0" anchor="t">
            <a:normAutofit/>
          </a:bodyPr>
          <a:lstStyle/>
          <a:p>
            <a:pPr algn="l">
              <a:lnSpc>
                <a:spcPct val="100000"/>
              </a:lnSpc>
              <a:spcAft>
                <a:spcPts val="300"/>
              </a:spcAft>
              <a:buNone/>
            </a:pPr>
            <a:r>
              <a:rPr lang="de-CH" sz="1050" b="1" i="0">
                <a:solidFill>
                  <a:srgbClr val="FF6B35"/>
                </a:solidFill>
                <a:latin typeface="Calibri"/>
              </a:rPr>
              <a:t>Herbst 2026</a:t>
            </a:r>
          </a:p>
          <a:p>
            <a:pPr algn="l">
              <a:lnSpc>
                <a:spcPct val="105000"/>
              </a:lnSpc>
              <a:spcAft>
                <a:spcPts val="0"/>
              </a:spcAft>
              <a:buNone/>
            </a:pPr>
            <a:r>
              <a:rPr lang="de-CH" sz="1050" b="0" i="0">
                <a:solidFill>
                  <a:srgbClr val="DDE1E8"/>
                </a:solidFill>
                <a:latin typeface="Calibri"/>
              </a:rPr>
              <a:t>Doppelzählung beheben: 53 → rund 390 saubere Tage</a:t>
            </a:r>
          </a:p>
        </p:txBody>
      </p:sp>
      <p:sp>
        <p:nvSpPr>
          <p:cNvPr id="106" name="Shape 106"/>
          <p:cNvSpPr/>
          <p:nvPr/>
        </p:nvSpPr>
        <p:spPr>
          <a:xfrm>
            <a:off x="2176800" y="1380000"/>
            <a:ext cx="1516800" cy="300000"/>
          </a:xfrm>
          <a:prstGeom prst="roundRect">
            <a:avLst>
              <a:gd name="adj" fmla="val 8000"/>
            </a:avLst>
          </a:prstGeom>
          <a:solidFill>
            <a:srgbClr val="FF6B35"/>
          </a:solidFill>
          <a:ln>
            <a:noFill/>
          </a:ln>
        </p:spPr>
        <p:txBody>
          <a:bodyPr/>
          <a:lstStyle/>
          <a:p>
            <a:endParaRPr lang="de-CH"/>
          </a:p>
        </p:txBody>
      </p:sp>
      <p:sp>
        <p:nvSpPr>
          <p:cNvPr id="107" name="Text 107"/>
          <p:cNvSpPr txBox="1"/>
          <p:nvPr/>
        </p:nvSpPr>
        <p:spPr>
          <a:xfrm>
            <a:off x="2176800" y="1380000"/>
            <a:ext cx="1516800" cy="300000"/>
          </a:xfrm>
          <a:prstGeom prst="rect">
            <a:avLst/>
          </a:prstGeom>
          <a:noFill/>
        </p:spPr>
        <p:txBody>
          <a:bodyPr wrap="square" lIns="45720" tIns="0" rIns="45720" bIns="0" anchor="ctr">
            <a:normAutofit/>
          </a:bodyPr>
          <a:lstStyle/>
          <a:p>
            <a:pPr algn="ctr">
              <a:lnSpc>
                <a:spcPct val="100000"/>
              </a:lnSpc>
              <a:spcAft>
                <a:spcPts val="0"/>
              </a:spcAft>
              <a:buNone/>
            </a:pPr>
            <a:r>
              <a:rPr lang="de-CH" sz="1150" b="1" i="0">
                <a:solidFill>
                  <a:srgbClr val="FFFFFF"/>
                </a:solidFill>
                <a:latin typeface="Calibri"/>
              </a:rPr>
              <a:t>1 · Lernen</a:t>
            </a:r>
          </a:p>
        </p:txBody>
      </p:sp>
      <p:sp>
        <p:nvSpPr>
          <p:cNvPr id="108" name="Shape 108"/>
          <p:cNvSpPr/>
          <p:nvPr/>
        </p:nvSpPr>
        <p:spPr>
          <a:xfrm>
            <a:off x="2176800" y="1750000"/>
            <a:ext cx="1516800" cy="980000"/>
          </a:xfrm>
          <a:prstGeom prst="roundRect">
            <a:avLst>
              <a:gd name="adj" fmla="val 8000"/>
            </a:avLst>
          </a:prstGeom>
          <a:solidFill>
            <a:srgbClr val="1B1D23"/>
          </a:solidFill>
          <a:ln>
            <a:noFill/>
          </a:ln>
        </p:spPr>
        <p:txBody>
          <a:bodyPr/>
          <a:lstStyle/>
          <a:p>
            <a:endParaRPr lang="de-CH"/>
          </a:p>
        </p:txBody>
      </p:sp>
      <p:sp>
        <p:nvSpPr>
          <p:cNvPr id="109" name="Text 109"/>
          <p:cNvSpPr txBox="1"/>
          <p:nvPr/>
        </p:nvSpPr>
        <p:spPr>
          <a:xfrm>
            <a:off x="2266800" y="1830000"/>
            <a:ext cx="1336800" cy="860000"/>
          </a:xfrm>
          <a:prstGeom prst="rect">
            <a:avLst/>
          </a:prstGeom>
          <a:noFill/>
        </p:spPr>
        <p:txBody>
          <a:bodyPr wrap="square" lIns="0" tIns="0" rIns="0" bIns="0" anchor="t">
            <a:normAutofit/>
          </a:bodyPr>
          <a:lstStyle/>
          <a:p>
            <a:pPr algn="l">
              <a:lnSpc>
                <a:spcPct val="100000"/>
              </a:lnSpc>
              <a:spcAft>
                <a:spcPts val="300"/>
              </a:spcAft>
              <a:buNone/>
            </a:pPr>
            <a:r>
              <a:rPr lang="de-CH" sz="1050" b="1" i="0">
                <a:solidFill>
                  <a:srgbClr val="FF6B35"/>
                </a:solidFill>
                <a:latin typeface="Calibri"/>
              </a:rPr>
              <a:t>05/2026 – 04/2027</a:t>
            </a:r>
          </a:p>
          <a:p>
            <a:pPr algn="l">
              <a:lnSpc>
                <a:spcPct val="105000"/>
              </a:lnSpc>
              <a:spcAft>
                <a:spcPts val="0"/>
              </a:spcAft>
              <a:buNone/>
            </a:pPr>
            <a:r>
              <a:rPr lang="de-CH" sz="1050" b="0" i="0">
                <a:solidFill>
                  <a:srgbClr val="DDE1E8"/>
                </a:solidFill>
                <a:latin typeface="Calibri"/>
              </a:rPr>
              <a:t>Anlässe, Tagesmenü und Reservationen sammeln Historie</a:t>
            </a:r>
          </a:p>
        </p:txBody>
      </p:sp>
      <p:sp>
        <p:nvSpPr>
          <p:cNvPr id="110" name="Shape 110"/>
          <p:cNvSpPr/>
          <p:nvPr/>
        </p:nvSpPr>
        <p:spPr>
          <a:xfrm>
            <a:off x="3813600" y="1380000"/>
            <a:ext cx="1516800" cy="300000"/>
          </a:xfrm>
          <a:prstGeom prst="roundRect">
            <a:avLst>
              <a:gd name="adj" fmla="val 8000"/>
            </a:avLst>
          </a:prstGeom>
          <a:solidFill>
            <a:srgbClr val="FF6B35"/>
          </a:solidFill>
          <a:ln>
            <a:noFill/>
          </a:ln>
        </p:spPr>
        <p:txBody>
          <a:bodyPr/>
          <a:lstStyle/>
          <a:p>
            <a:endParaRPr lang="de-CH"/>
          </a:p>
        </p:txBody>
      </p:sp>
      <p:sp>
        <p:nvSpPr>
          <p:cNvPr id="111" name="Text 111"/>
          <p:cNvSpPr txBox="1"/>
          <p:nvPr/>
        </p:nvSpPr>
        <p:spPr>
          <a:xfrm>
            <a:off x="3813600" y="1380000"/>
            <a:ext cx="1516800" cy="300000"/>
          </a:xfrm>
          <a:prstGeom prst="rect">
            <a:avLst/>
          </a:prstGeom>
          <a:noFill/>
        </p:spPr>
        <p:txBody>
          <a:bodyPr wrap="square" lIns="45720" tIns="0" rIns="45720" bIns="0" anchor="ctr">
            <a:normAutofit/>
          </a:bodyPr>
          <a:lstStyle/>
          <a:p>
            <a:pPr algn="ctr">
              <a:lnSpc>
                <a:spcPct val="100000"/>
              </a:lnSpc>
              <a:spcAft>
                <a:spcPts val="0"/>
              </a:spcAft>
              <a:buNone/>
            </a:pPr>
            <a:r>
              <a:rPr lang="de-CH" sz="1150" b="1" i="0">
                <a:solidFill>
                  <a:srgbClr val="FFFFFF"/>
                </a:solidFill>
                <a:latin typeface="Calibri"/>
              </a:rPr>
              <a:t>2 · Trainieren</a:t>
            </a:r>
          </a:p>
        </p:txBody>
      </p:sp>
      <p:sp>
        <p:nvSpPr>
          <p:cNvPr id="112" name="Shape 112"/>
          <p:cNvSpPr/>
          <p:nvPr/>
        </p:nvSpPr>
        <p:spPr>
          <a:xfrm>
            <a:off x="3813600" y="1750000"/>
            <a:ext cx="1516800" cy="980000"/>
          </a:xfrm>
          <a:prstGeom prst="roundRect">
            <a:avLst>
              <a:gd name="adj" fmla="val 8000"/>
            </a:avLst>
          </a:prstGeom>
          <a:solidFill>
            <a:srgbClr val="1B1D23"/>
          </a:solidFill>
          <a:ln>
            <a:noFill/>
          </a:ln>
        </p:spPr>
        <p:txBody>
          <a:bodyPr/>
          <a:lstStyle/>
          <a:p>
            <a:endParaRPr lang="de-CH"/>
          </a:p>
        </p:txBody>
      </p:sp>
      <p:sp>
        <p:nvSpPr>
          <p:cNvPr id="113" name="Text 113"/>
          <p:cNvSpPr txBox="1"/>
          <p:nvPr/>
        </p:nvSpPr>
        <p:spPr>
          <a:xfrm>
            <a:off x="3903600" y="1830000"/>
            <a:ext cx="1336800" cy="860000"/>
          </a:xfrm>
          <a:prstGeom prst="rect">
            <a:avLst/>
          </a:prstGeom>
          <a:noFill/>
        </p:spPr>
        <p:txBody>
          <a:bodyPr wrap="square" lIns="0" tIns="0" rIns="0" bIns="0" anchor="t">
            <a:normAutofit/>
          </a:bodyPr>
          <a:lstStyle/>
          <a:p>
            <a:pPr algn="l">
              <a:lnSpc>
                <a:spcPct val="100000"/>
              </a:lnSpc>
              <a:spcAft>
                <a:spcPts val="300"/>
              </a:spcAft>
              <a:buNone/>
            </a:pPr>
            <a:r>
              <a:rPr lang="de-CH" sz="1050" b="1" i="0">
                <a:solidFill>
                  <a:srgbClr val="FF6B35"/>
                </a:solidFill>
                <a:latin typeface="Calibri"/>
              </a:rPr>
              <a:t>05/2027</a:t>
            </a:r>
          </a:p>
          <a:p>
            <a:pPr algn="l">
              <a:lnSpc>
                <a:spcPct val="105000"/>
              </a:lnSpc>
              <a:spcAft>
                <a:spcPts val="0"/>
              </a:spcAft>
              <a:buNone/>
            </a:pPr>
            <a:r>
              <a:rPr lang="de-CH" sz="1050" b="0" i="0">
                <a:solidFill>
                  <a:srgbClr val="DDE1E8"/>
                </a:solidFill>
                <a:latin typeface="Calibri"/>
              </a:rPr>
              <a:t>Zeitlicher Split, Poisson-Ziel, keine Zukunftsinformation</a:t>
            </a:r>
          </a:p>
        </p:txBody>
      </p:sp>
      <p:sp>
        <p:nvSpPr>
          <p:cNvPr id="114" name="Shape 114"/>
          <p:cNvSpPr/>
          <p:nvPr/>
        </p:nvSpPr>
        <p:spPr>
          <a:xfrm>
            <a:off x="5450400" y="1380000"/>
            <a:ext cx="1516800" cy="300000"/>
          </a:xfrm>
          <a:prstGeom prst="roundRect">
            <a:avLst>
              <a:gd name="adj" fmla="val 8000"/>
            </a:avLst>
          </a:prstGeom>
          <a:solidFill>
            <a:srgbClr val="FF6B35"/>
          </a:solidFill>
          <a:ln>
            <a:noFill/>
          </a:ln>
        </p:spPr>
        <p:txBody>
          <a:bodyPr/>
          <a:lstStyle/>
          <a:p>
            <a:endParaRPr lang="de-CH"/>
          </a:p>
        </p:txBody>
      </p:sp>
      <p:sp>
        <p:nvSpPr>
          <p:cNvPr id="115" name="Text 115"/>
          <p:cNvSpPr txBox="1"/>
          <p:nvPr/>
        </p:nvSpPr>
        <p:spPr>
          <a:xfrm>
            <a:off x="5450400" y="1380000"/>
            <a:ext cx="1516800" cy="300000"/>
          </a:xfrm>
          <a:prstGeom prst="rect">
            <a:avLst/>
          </a:prstGeom>
          <a:noFill/>
        </p:spPr>
        <p:txBody>
          <a:bodyPr wrap="square" lIns="45720" tIns="0" rIns="45720" bIns="0" anchor="ctr">
            <a:normAutofit/>
          </a:bodyPr>
          <a:lstStyle/>
          <a:p>
            <a:pPr algn="ctr">
              <a:lnSpc>
                <a:spcPct val="100000"/>
              </a:lnSpc>
              <a:spcAft>
                <a:spcPts val="0"/>
              </a:spcAft>
              <a:buNone/>
            </a:pPr>
            <a:r>
              <a:rPr lang="de-CH" sz="1150" b="1" i="0">
                <a:solidFill>
                  <a:srgbClr val="FFFFFF"/>
                </a:solidFill>
                <a:latin typeface="Calibri"/>
              </a:rPr>
              <a:t>3 · Schattenbetrieb</a:t>
            </a:r>
          </a:p>
        </p:txBody>
      </p:sp>
      <p:sp>
        <p:nvSpPr>
          <p:cNvPr id="116" name="Shape 116"/>
          <p:cNvSpPr/>
          <p:nvPr/>
        </p:nvSpPr>
        <p:spPr>
          <a:xfrm>
            <a:off x="5450400" y="1750000"/>
            <a:ext cx="1516800" cy="980000"/>
          </a:xfrm>
          <a:prstGeom prst="roundRect">
            <a:avLst>
              <a:gd name="adj" fmla="val 8000"/>
            </a:avLst>
          </a:prstGeom>
          <a:solidFill>
            <a:srgbClr val="1B1D23"/>
          </a:solidFill>
          <a:ln>
            <a:noFill/>
          </a:ln>
        </p:spPr>
        <p:txBody>
          <a:bodyPr/>
          <a:lstStyle/>
          <a:p>
            <a:endParaRPr lang="de-CH"/>
          </a:p>
        </p:txBody>
      </p:sp>
      <p:sp>
        <p:nvSpPr>
          <p:cNvPr id="117" name="Text 117"/>
          <p:cNvSpPr txBox="1"/>
          <p:nvPr/>
        </p:nvSpPr>
        <p:spPr>
          <a:xfrm>
            <a:off x="5540400" y="1830000"/>
            <a:ext cx="1336800" cy="860000"/>
          </a:xfrm>
          <a:prstGeom prst="rect">
            <a:avLst/>
          </a:prstGeom>
          <a:noFill/>
        </p:spPr>
        <p:txBody>
          <a:bodyPr wrap="square" lIns="0" tIns="0" rIns="0" bIns="0" anchor="t">
            <a:normAutofit/>
          </a:bodyPr>
          <a:lstStyle/>
          <a:p>
            <a:pPr algn="l">
              <a:lnSpc>
                <a:spcPct val="100000"/>
              </a:lnSpc>
              <a:spcAft>
                <a:spcPts val="300"/>
              </a:spcAft>
              <a:buNone/>
            </a:pPr>
            <a:r>
              <a:rPr lang="de-CH" sz="1050" b="1" i="0">
                <a:solidFill>
                  <a:srgbClr val="FF6B35"/>
                </a:solidFill>
                <a:latin typeface="Calibri"/>
              </a:rPr>
              <a:t>05/2027 – 04/2028</a:t>
            </a:r>
          </a:p>
          <a:p>
            <a:pPr algn="l">
              <a:lnSpc>
                <a:spcPct val="105000"/>
              </a:lnSpc>
              <a:spcAft>
                <a:spcPts val="0"/>
              </a:spcAft>
              <a:buNone/>
            </a:pPr>
            <a:r>
              <a:rPr lang="de-CH" sz="1050" b="0" i="0">
                <a:solidFill>
                  <a:srgbClr val="DDE1E8"/>
                </a:solidFill>
                <a:latin typeface="Calibri"/>
              </a:rPr>
              <a:t>xgb_v1 rechnet parallel, die Küche sieht weiter rule_v3</a:t>
            </a:r>
          </a:p>
        </p:txBody>
      </p:sp>
      <p:sp>
        <p:nvSpPr>
          <p:cNvPr id="118" name="Shape 118"/>
          <p:cNvSpPr/>
          <p:nvPr/>
        </p:nvSpPr>
        <p:spPr>
          <a:xfrm>
            <a:off x="7087200" y="1380000"/>
            <a:ext cx="1516800" cy="300000"/>
          </a:xfrm>
          <a:prstGeom prst="roundRect">
            <a:avLst>
              <a:gd name="adj" fmla="val 8000"/>
            </a:avLst>
          </a:prstGeom>
          <a:solidFill>
            <a:srgbClr val="FF6B35"/>
          </a:solidFill>
          <a:ln>
            <a:noFill/>
          </a:ln>
        </p:spPr>
        <p:txBody>
          <a:bodyPr/>
          <a:lstStyle/>
          <a:p>
            <a:endParaRPr lang="de-CH"/>
          </a:p>
        </p:txBody>
      </p:sp>
      <p:sp>
        <p:nvSpPr>
          <p:cNvPr id="119" name="Text 119"/>
          <p:cNvSpPr txBox="1"/>
          <p:nvPr/>
        </p:nvSpPr>
        <p:spPr>
          <a:xfrm>
            <a:off x="7087200" y="1380000"/>
            <a:ext cx="1516800" cy="300000"/>
          </a:xfrm>
          <a:prstGeom prst="rect">
            <a:avLst/>
          </a:prstGeom>
          <a:noFill/>
        </p:spPr>
        <p:txBody>
          <a:bodyPr wrap="square" lIns="45720" tIns="0" rIns="45720" bIns="0" anchor="ctr">
            <a:normAutofit/>
          </a:bodyPr>
          <a:lstStyle/>
          <a:p>
            <a:pPr algn="ctr">
              <a:lnSpc>
                <a:spcPct val="100000"/>
              </a:lnSpc>
              <a:spcAft>
                <a:spcPts val="0"/>
              </a:spcAft>
              <a:buNone/>
            </a:pPr>
            <a:r>
              <a:rPr lang="de-CH" sz="1150" b="1" i="0">
                <a:solidFill>
                  <a:srgbClr val="FFFFFF"/>
                </a:solidFill>
                <a:latin typeface="Calibri"/>
              </a:rPr>
              <a:t>4 · Entscheid</a:t>
            </a:r>
          </a:p>
        </p:txBody>
      </p:sp>
      <p:sp>
        <p:nvSpPr>
          <p:cNvPr id="120" name="Shape 120"/>
          <p:cNvSpPr/>
          <p:nvPr/>
        </p:nvSpPr>
        <p:spPr>
          <a:xfrm>
            <a:off x="7087200" y="1750000"/>
            <a:ext cx="1516800" cy="980000"/>
          </a:xfrm>
          <a:prstGeom prst="roundRect">
            <a:avLst>
              <a:gd name="adj" fmla="val 8000"/>
            </a:avLst>
          </a:prstGeom>
          <a:solidFill>
            <a:srgbClr val="2A1A14"/>
          </a:solidFill>
          <a:ln w="19050">
            <a:solidFill>
              <a:srgbClr val="FF6B35"/>
            </a:solidFill>
          </a:ln>
        </p:spPr>
        <p:txBody>
          <a:bodyPr/>
          <a:lstStyle/>
          <a:p>
            <a:endParaRPr lang="de-CH"/>
          </a:p>
        </p:txBody>
      </p:sp>
      <p:sp>
        <p:nvSpPr>
          <p:cNvPr id="121" name="Text 121"/>
          <p:cNvSpPr txBox="1"/>
          <p:nvPr/>
        </p:nvSpPr>
        <p:spPr>
          <a:xfrm>
            <a:off x="7177200" y="1830000"/>
            <a:ext cx="1336800" cy="860000"/>
          </a:xfrm>
          <a:prstGeom prst="rect">
            <a:avLst/>
          </a:prstGeom>
          <a:noFill/>
        </p:spPr>
        <p:txBody>
          <a:bodyPr wrap="square" lIns="0" tIns="0" rIns="0" bIns="0" anchor="t">
            <a:normAutofit/>
          </a:bodyPr>
          <a:lstStyle/>
          <a:p>
            <a:pPr algn="l">
              <a:lnSpc>
                <a:spcPct val="100000"/>
              </a:lnSpc>
              <a:spcAft>
                <a:spcPts val="300"/>
              </a:spcAft>
              <a:buNone/>
            </a:pPr>
            <a:r>
              <a:rPr lang="de-CH" sz="1050" b="1" i="0">
                <a:solidFill>
                  <a:srgbClr val="FF6B35"/>
                </a:solidFill>
                <a:latin typeface="Calibri"/>
              </a:rPr>
              <a:t>frühestens 05/2028</a:t>
            </a:r>
          </a:p>
          <a:p>
            <a:pPr algn="l">
              <a:lnSpc>
                <a:spcPct val="105000"/>
              </a:lnSpc>
              <a:spcAft>
                <a:spcPts val="0"/>
              </a:spcAft>
              <a:buNone/>
            </a:pPr>
            <a:r>
              <a:rPr lang="de-CH" sz="1050" b="0" i="0">
                <a:solidFill>
                  <a:srgbClr val="DDE1E8"/>
                </a:solidFill>
                <a:latin typeface="Calibri"/>
              </a:rPr>
              <a:t>Alle vier Kriterien erfüllt: umstellen. Sonst bleibt die Regelbasis</a:t>
            </a:r>
          </a:p>
        </p:txBody>
      </p:sp>
      <p:sp>
        <p:nvSpPr>
          <p:cNvPr id="122" name="Shape 122"/>
          <p:cNvSpPr/>
          <p:nvPr/>
        </p:nvSpPr>
        <p:spPr>
          <a:xfrm>
            <a:off x="540000" y="2880000"/>
            <a:ext cx="3972000" cy="1330000"/>
          </a:xfrm>
          <a:prstGeom prst="roundRect">
            <a:avLst>
              <a:gd name="adj" fmla="val 8000"/>
            </a:avLst>
          </a:prstGeom>
          <a:solidFill>
            <a:srgbClr val="1B1D23"/>
          </a:solidFill>
          <a:ln>
            <a:noFill/>
          </a:ln>
        </p:spPr>
        <p:txBody>
          <a:bodyPr/>
          <a:lstStyle/>
          <a:p>
            <a:endParaRPr lang="de-CH"/>
          </a:p>
        </p:txBody>
      </p:sp>
      <p:sp>
        <p:nvSpPr>
          <p:cNvPr id="123" name="Text 123"/>
          <p:cNvSpPr txBox="1"/>
          <p:nvPr/>
        </p:nvSpPr>
        <p:spPr>
          <a:xfrm>
            <a:off x="690000" y="2980000"/>
            <a:ext cx="3672000" cy="1170000"/>
          </a:xfrm>
          <a:prstGeom prst="rect">
            <a:avLst/>
          </a:prstGeom>
          <a:noFill/>
        </p:spPr>
        <p:txBody>
          <a:bodyPr wrap="square" lIns="0" tIns="0" rIns="0" bIns="0" anchor="t">
            <a:normAutofit/>
          </a:bodyPr>
          <a:lstStyle/>
          <a:p>
            <a:pPr algn="l">
              <a:lnSpc>
                <a:spcPct val="100000"/>
              </a:lnSpc>
              <a:spcAft>
                <a:spcPts val="500"/>
              </a:spcAft>
              <a:buNone/>
            </a:pPr>
            <a:r>
              <a:rPr lang="de-CH" sz="1300" b="1" i="0">
                <a:solidFill>
                  <a:srgbClr val="FFFFFF"/>
                </a:solidFill>
                <a:latin typeface="Calibri"/>
              </a:rPr>
              <a:t>Warum nicht heute</a:t>
            </a:r>
          </a:p>
          <a:p>
            <a:pPr marL="171450" indent="-171450" algn="l">
              <a:lnSpc>
                <a:spcPct val="100000"/>
              </a:lnSpc>
              <a:spcAft>
                <a:spcPts val="300"/>
              </a:spcAft>
              <a:buFont typeface="Arial"/>
              <a:buChar char="•"/>
            </a:pPr>
            <a:r>
              <a:rPr lang="de-CH" sz="1150" b="0" i="0">
                <a:solidFill>
                  <a:srgbClr val="DDE1E8"/>
                </a:solidFill>
                <a:latin typeface="Calibri"/>
              </a:rPr>
              <a:t>Erst 53 von 698 Kassentagen sauber, 339 doppelt, 306 ohne Uhrzeit</a:t>
            </a:r>
          </a:p>
          <a:p>
            <a:pPr marL="171450" indent="-171450" algn="l">
              <a:lnSpc>
                <a:spcPct val="100000"/>
              </a:lnSpc>
              <a:spcAft>
                <a:spcPts val="300"/>
              </a:spcAft>
              <a:buFont typeface="Arial"/>
              <a:buChar char="•"/>
            </a:pPr>
            <a:r>
              <a:rPr lang="de-CH" sz="1150" b="0" i="0">
                <a:solidFill>
                  <a:srgbClr val="DDE1E8"/>
                </a:solidFill>
                <a:latin typeface="Calibri"/>
              </a:rPr>
              <a:t>Anlässe erst seit 25.08.2026, Tagesmenü seit 11.09.2026</a:t>
            </a:r>
          </a:p>
          <a:p>
            <a:pPr marL="171450" indent="-171450" algn="l">
              <a:lnSpc>
                <a:spcPct val="100000"/>
              </a:lnSpc>
              <a:spcAft>
                <a:spcPts val="0"/>
              </a:spcAft>
              <a:buFont typeface="Arial"/>
              <a:buChar char="•"/>
            </a:pPr>
            <a:r>
              <a:rPr lang="de-CH" sz="1150" b="0" i="0">
                <a:solidFill>
                  <a:srgbClr val="DDE1E8"/>
                </a:solidFill>
                <a:latin typeface="Calibri"/>
              </a:rPr>
              <a:t>Ø 3 Beobachtungen je Gericht × Wochentag × Wetter</a:t>
            </a:r>
          </a:p>
        </p:txBody>
      </p:sp>
      <p:sp>
        <p:nvSpPr>
          <p:cNvPr id="124" name="Shape 124"/>
          <p:cNvSpPr/>
          <p:nvPr/>
        </p:nvSpPr>
        <p:spPr>
          <a:xfrm>
            <a:off x="4632000" y="2880000"/>
            <a:ext cx="3972000" cy="1330000"/>
          </a:xfrm>
          <a:prstGeom prst="roundRect">
            <a:avLst>
              <a:gd name="adj" fmla="val 8000"/>
            </a:avLst>
          </a:prstGeom>
          <a:solidFill>
            <a:srgbClr val="2A1A14"/>
          </a:solidFill>
          <a:ln w="19050">
            <a:solidFill>
              <a:srgbClr val="FF6B35"/>
            </a:solidFill>
          </a:ln>
        </p:spPr>
        <p:txBody>
          <a:bodyPr/>
          <a:lstStyle/>
          <a:p>
            <a:endParaRPr lang="de-CH"/>
          </a:p>
        </p:txBody>
      </p:sp>
      <p:sp>
        <p:nvSpPr>
          <p:cNvPr id="125" name="Text 125"/>
          <p:cNvSpPr txBox="1"/>
          <p:nvPr/>
        </p:nvSpPr>
        <p:spPr>
          <a:xfrm>
            <a:off x="4782000" y="2980000"/>
            <a:ext cx="3672000" cy="1170000"/>
          </a:xfrm>
          <a:prstGeom prst="rect">
            <a:avLst/>
          </a:prstGeom>
          <a:noFill/>
        </p:spPr>
        <p:txBody>
          <a:bodyPr wrap="square" lIns="0" tIns="0" rIns="0" bIns="0" anchor="t">
            <a:normAutofit/>
          </a:bodyPr>
          <a:lstStyle/>
          <a:p>
            <a:pPr algn="l">
              <a:lnSpc>
                <a:spcPct val="100000"/>
              </a:lnSpc>
              <a:spcAft>
                <a:spcPts val="500"/>
              </a:spcAft>
              <a:buNone/>
            </a:pPr>
            <a:r>
              <a:rPr lang="de-CH" sz="1300" b="1" i="0">
                <a:solidFill>
                  <a:srgbClr val="FF6B35"/>
                </a:solidFill>
                <a:latin typeface="Calibri"/>
              </a:rPr>
              <a:t>Wechsel nur, wenn alle vier erfüllt sind</a:t>
            </a:r>
          </a:p>
          <a:p>
            <a:pPr marL="171450" indent="-171450" algn="l">
              <a:lnSpc>
                <a:spcPct val="100000"/>
              </a:lnSpc>
              <a:spcAft>
                <a:spcPts val="300"/>
              </a:spcAft>
              <a:buFont typeface="Arial"/>
              <a:buChar char="•"/>
            </a:pPr>
            <a:r>
              <a:rPr lang="de-CH" sz="1150" b="0" i="0">
                <a:solidFill>
                  <a:srgbClr val="DDE1E8"/>
                </a:solidFill>
                <a:latin typeface="Calibri"/>
              </a:rPr>
              <a:t>WMAPE mind. 10 % relativ tiefer, über eine volle Saison</a:t>
            </a:r>
          </a:p>
          <a:p>
            <a:pPr marL="171450" indent="-171450" algn="l">
              <a:lnSpc>
                <a:spcPct val="100000"/>
              </a:lnSpc>
              <a:spcAft>
                <a:spcPts val="300"/>
              </a:spcAft>
              <a:buFont typeface="Arial"/>
              <a:buChar char="•"/>
            </a:pPr>
            <a:r>
              <a:rPr lang="de-CH" sz="1150" b="0" i="0">
                <a:solidFill>
                  <a:srgbClr val="DDE1E8"/>
                </a:solidFill>
                <a:latin typeface="Calibri"/>
              </a:rPr>
              <a:t>Unterprognose wird nicht grösser</a:t>
            </a:r>
          </a:p>
          <a:p>
            <a:pPr marL="171450" indent="-171450" algn="l">
              <a:lnSpc>
                <a:spcPct val="100000"/>
              </a:lnSpc>
              <a:spcAft>
                <a:spcPts val="300"/>
              </a:spcAft>
              <a:buFont typeface="Arial"/>
              <a:buChar char="•"/>
            </a:pPr>
            <a:r>
              <a:rPr lang="de-CH" sz="1150" b="0" i="0">
                <a:solidFill>
                  <a:srgbClr val="DDE1E8"/>
                </a:solidFill>
                <a:latin typeface="Calibri"/>
              </a:rPr>
              <a:t>«Warum diese Zahl?» bleibt erklärbar (SHAP)</a:t>
            </a:r>
          </a:p>
          <a:p>
            <a:pPr marL="171450" indent="-171450" algn="l">
              <a:lnSpc>
                <a:spcPct val="100000"/>
              </a:lnSpc>
              <a:spcAft>
                <a:spcPts val="0"/>
              </a:spcAft>
              <a:buFont typeface="Arial"/>
              <a:buChar char="•"/>
            </a:pPr>
            <a:r>
              <a:rPr lang="de-CH" sz="1150" b="0" i="0">
                <a:solidFill>
                  <a:srgbClr val="DDE1E8"/>
                </a:solidFill>
                <a:latin typeface="Calibri"/>
              </a:rPr>
              <a:t>Betriebsaufwand bleibt tragbar</a:t>
            </a:r>
          </a:p>
        </p:txBody>
      </p:sp>
      <p:sp>
        <p:nvSpPr>
          <p:cNvPr id="19" name="TextBox 18"/>
          <p:cNvSpPr txBox="1"/>
          <p:nvPr/>
        </p:nvSpPr>
        <p:spPr>
          <a:xfrm>
            <a:off x="540000" y="4300000"/>
            <a:ext cx="8063999" cy="251999"/>
          </a:xfrm>
          <a:prstGeom prst="rect">
            <a:avLst/>
          </a:prstGeom>
          <a:noFill/>
        </p:spPr>
        <p:txBody>
          <a:bodyPr wrap="square" lIns="0" tIns="0" rIns="0" bIns="0" anchor="t">
            <a:spAutoFit/>
          </a:bodyPr>
          <a:lstStyle/>
          <a:p>
            <a:pPr algn="l"/>
            <a:r>
              <a:rPr sz="1150" b="0" i="0">
                <a:solidFill>
                  <a:srgbClr val="B9BEC8"/>
                </a:solidFill>
                <a:latin typeface="Calibri"/>
              </a:rPr>
              <a:t>Ziel ist ein Hybrid: XGBoost für die Gästezahl, Regelbasis mit Deltas für die Gerichte. Umschalten und zurück: eine Zeile im Code.</a:t>
            </a:r>
          </a:p>
        </p:txBody>
      </p:sp>
      <p:sp>
        <p:nvSpPr>
          <p:cNvPr id="20" name="TextBox 19"/>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1" name="TextBox 20">
            <a:hlinkClick r:id="" action="ppaction://noaction"/>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F  ·  GRADIENT BOOSTING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400" b="1" i="0">
                <a:solidFill>
                  <a:srgbClr val="FFFFFF"/>
                </a:solidFill>
                <a:latin typeface="Calibri"/>
              </a:rPr>
              <a:t>Nutzen CHF 18’750 – Rechenweg und externe Belege</a:t>
            </a:r>
          </a:p>
        </p:txBody>
      </p:sp>
      <p:sp>
        <p:nvSpPr>
          <p:cNvPr id="199" name="Subtitle"/>
          <p:cNvSpPr txBox="1"/>
          <p:nvPr/>
        </p:nvSpPr>
        <p:spPr>
          <a:xfrm>
            <a:off x="540000" y="1087200"/>
            <a:ext cx="8063999" cy="216000"/>
          </a:xfrm>
          <a:prstGeom prst="rect">
            <a:avLst/>
          </a:prstGeom>
          <a:noFill/>
        </p:spPr>
        <p:txBody>
          <a:bodyPr wrap="square" lIns="0" tIns="0" rIns="0" bIns="0" anchor="t">
            <a:spAutoFit/>
          </a:bodyPr>
          <a:lstStyle/>
          <a:p>
            <a:pPr algn="l"/>
            <a:r>
              <a:rPr lang="de-CH" sz="1300" b="0" i="0">
                <a:solidFill>
                  <a:srgbClr val="B9BEC8"/>
                </a:solidFill>
                <a:latin typeface="Calibri"/>
              </a:rPr>
              <a:t>Vier Positionen, je Rechenweg, Beleg und Einordnung  ·  kein Betrag ist bereits als Einsparung gemessen</a:t>
            </a:r>
          </a:p>
        </p:txBody>
      </p:sp>
      <p:sp>
        <p:nvSpPr>
          <p:cNvPr id="301" name="Shape 301"/>
          <p:cNvSpPr/>
          <p:nvPr/>
        </p:nvSpPr>
        <p:spPr>
          <a:xfrm>
            <a:off x="540000" y="1400000"/>
            <a:ext cx="1933500" cy="420000"/>
          </a:xfrm>
          <a:prstGeom prst="roundRect">
            <a:avLst>
              <a:gd name="adj" fmla="val 8000"/>
            </a:avLst>
          </a:prstGeom>
          <a:solidFill>
            <a:srgbClr val="FF6B35"/>
          </a:solidFill>
          <a:ln>
            <a:noFill/>
          </a:ln>
        </p:spPr>
        <p:txBody>
          <a:bodyPr/>
          <a:lstStyle/>
          <a:p>
            <a:endParaRPr lang="de-CH"/>
          </a:p>
        </p:txBody>
      </p:sp>
      <p:sp>
        <p:nvSpPr>
          <p:cNvPr id="302" name="Text 302"/>
          <p:cNvSpPr txBox="1"/>
          <p:nvPr/>
        </p:nvSpPr>
        <p:spPr>
          <a:xfrm>
            <a:off x="630000" y="1440000"/>
            <a:ext cx="1753500" cy="340000"/>
          </a:xfrm>
          <a:prstGeom prst="rect">
            <a:avLst/>
          </a:prstGeom>
          <a:noFill/>
        </p:spPr>
        <p:txBody>
          <a:bodyPr wrap="square" lIns="0" tIns="0" rIns="0" bIns="0" anchor="ctr">
            <a:normAutofit/>
          </a:bodyPr>
          <a:lstStyle/>
          <a:p>
            <a:pPr algn="l">
              <a:lnSpc>
                <a:spcPct val="100000"/>
              </a:lnSpc>
              <a:spcAft>
                <a:spcPts val="0"/>
              </a:spcAft>
              <a:buNone/>
            </a:pPr>
            <a:r>
              <a:rPr lang="de-CH" sz="1100" b="1" i="0">
                <a:solidFill>
                  <a:srgbClr val="FFFFFF"/>
                </a:solidFill>
                <a:latin typeface="Calibri"/>
              </a:rPr>
              <a:t>Food Waste</a:t>
            </a:r>
          </a:p>
          <a:p>
            <a:pPr algn="l">
              <a:lnSpc>
                <a:spcPct val="100000"/>
              </a:lnSpc>
              <a:spcAft>
                <a:spcPts val="0"/>
              </a:spcAft>
              <a:buNone/>
            </a:pPr>
            <a:r>
              <a:rPr lang="de-CH" sz="1400" b="1" i="0">
                <a:solidFill>
                  <a:srgbClr val="FFFFFF"/>
                </a:solidFill>
                <a:latin typeface="Calibri"/>
              </a:rPr>
              <a:t>CHF 9’000</a:t>
            </a:r>
          </a:p>
        </p:txBody>
      </p:sp>
      <p:sp>
        <p:nvSpPr>
          <p:cNvPr id="303" name="Shape 303"/>
          <p:cNvSpPr/>
          <p:nvPr/>
        </p:nvSpPr>
        <p:spPr>
          <a:xfrm>
            <a:off x="540000" y="1880000"/>
            <a:ext cx="1933500" cy="760000"/>
          </a:xfrm>
          <a:prstGeom prst="roundRect">
            <a:avLst>
              <a:gd name="adj" fmla="val 8000"/>
            </a:avLst>
          </a:prstGeom>
          <a:solidFill>
            <a:srgbClr val="1B1D23"/>
          </a:solidFill>
          <a:ln>
            <a:noFill/>
          </a:ln>
        </p:spPr>
        <p:txBody>
          <a:bodyPr/>
          <a:lstStyle/>
          <a:p>
            <a:endParaRPr lang="de-CH"/>
          </a:p>
        </p:txBody>
      </p:sp>
      <p:sp>
        <p:nvSpPr>
          <p:cNvPr id="304" name="Text 304"/>
          <p:cNvSpPr txBox="1"/>
          <p:nvPr/>
        </p:nvSpPr>
        <p:spPr>
          <a:xfrm>
            <a:off x="620000" y="194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Rechenweg</a:t>
            </a:r>
          </a:p>
          <a:p>
            <a:pPr algn="l">
              <a:lnSpc>
                <a:spcPct val="100000"/>
              </a:lnSpc>
              <a:spcAft>
                <a:spcPts val="0"/>
              </a:spcAft>
              <a:buNone/>
            </a:pPr>
            <a:r>
              <a:rPr lang="de-CH" sz="1000" b="0" i="0">
                <a:solidFill>
                  <a:srgbClr val="DDE1E8"/>
                </a:solidFill>
                <a:latin typeface="Calibri"/>
              </a:rPr>
              <a:t>Mitte von 1’000–2’000/Mt.: 1’500 × 12 = CHF 18’000/Jahr × 50 % = 9’000</a:t>
            </a:r>
          </a:p>
        </p:txBody>
      </p:sp>
      <p:sp>
        <p:nvSpPr>
          <p:cNvPr id="305" name="Shape 305"/>
          <p:cNvSpPr/>
          <p:nvPr/>
        </p:nvSpPr>
        <p:spPr>
          <a:xfrm>
            <a:off x="540000" y="2695000"/>
            <a:ext cx="1933500" cy="760000"/>
          </a:xfrm>
          <a:prstGeom prst="roundRect">
            <a:avLst>
              <a:gd name="adj" fmla="val 8000"/>
            </a:avLst>
          </a:prstGeom>
          <a:solidFill>
            <a:srgbClr val="2A1A14"/>
          </a:solidFill>
          <a:ln w="19050">
            <a:solidFill>
              <a:srgbClr val="FF6B35"/>
            </a:solidFill>
          </a:ln>
        </p:spPr>
        <p:txBody>
          <a:bodyPr/>
          <a:lstStyle/>
          <a:p>
            <a:endParaRPr lang="de-CH"/>
          </a:p>
        </p:txBody>
      </p:sp>
      <p:sp>
        <p:nvSpPr>
          <p:cNvPr id="306" name="Text 306"/>
          <p:cNvSpPr txBox="1"/>
          <p:nvPr/>
        </p:nvSpPr>
        <p:spPr>
          <a:xfrm>
            <a:off x="620000" y="2755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GastroSuisse</a:t>
            </a:r>
          </a:p>
          <a:p>
            <a:pPr algn="l">
              <a:lnSpc>
                <a:spcPct val="100000"/>
              </a:lnSpc>
              <a:spcAft>
                <a:spcPts val="0"/>
              </a:spcAft>
              <a:buNone/>
            </a:pPr>
            <a:r>
              <a:rPr lang="de-CH" sz="1000" b="0" i="0">
                <a:solidFill>
                  <a:srgbClr val="DDE1E8"/>
                </a:solidFill>
                <a:latin typeface="Calibri"/>
              </a:rPr>
              <a:t>1 kg Food Waste kostet CHF 24. Rund die Hälfte ist vermeidbar = 2–6 % der Warenkosten</a:t>
            </a:r>
          </a:p>
        </p:txBody>
      </p:sp>
      <p:sp>
        <p:nvSpPr>
          <p:cNvPr id="307" name="Shape 307"/>
          <p:cNvSpPr/>
          <p:nvPr/>
        </p:nvSpPr>
        <p:spPr>
          <a:xfrm>
            <a:off x="540000" y="3510000"/>
            <a:ext cx="1933500" cy="760000"/>
          </a:xfrm>
          <a:prstGeom prst="roundRect">
            <a:avLst>
              <a:gd name="adj" fmla="val 8000"/>
            </a:avLst>
          </a:prstGeom>
          <a:solidFill>
            <a:srgbClr val="1B1D23"/>
          </a:solidFill>
          <a:ln>
            <a:noFill/>
          </a:ln>
        </p:spPr>
        <p:txBody>
          <a:bodyPr/>
          <a:lstStyle/>
          <a:p>
            <a:endParaRPr lang="de-CH"/>
          </a:p>
        </p:txBody>
      </p:sp>
      <p:sp>
        <p:nvSpPr>
          <p:cNvPr id="308" name="Text 308"/>
          <p:cNvSpPr txBox="1"/>
          <p:nvPr/>
        </p:nvSpPr>
        <p:spPr>
          <a:xfrm>
            <a:off x="620000" y="357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Einordnung</a:t>
            </a:r>
          </a:p>
          <a:p>
            <a:pPr algn="l">
              <a:lnSpc>
                <a:spcPct val="100000"/>
              </a:lnSpc>
              <a:spcAft>
                <a:spcPts val="0"/>
              </a:spcAft>
              <a:buNone/>
            </a:pPr>
            <a:r>
              <a:rPr lang="de-CH" sz="1000" b="0" i="0">
                <a:solidFill>
                  <a:srgbClr val="DDE1E8"/>
                </a:solidFill>
                <a:latin typeface="Calibri"/>
              </a:rPr>
              <a:t>9’000 = 3.4 % des Wareneinsatzes (264’000), mitten in 2–6 %; ≈ 375 kg/Jahr</a:t>
            </a:r>
          </a:p>
        </p:txBody>
      </p:sp>
      <p:sp>
        <p:nvSpPr>
          <p:cNvPr id="309" name="Shape 309"/>
          <p:cNvSpPr/>
          <p:nvPr/>
        </p:nvSpPr>
        <p:spPr>
          <a:xfrm>
            <a:off x="2583500" y="1400000"/>
            <a:ext cx="1933500" cy="420000"/>
          </a:xfrm>
          <a:prstGeom prst="roundRect">
            <a:avLst>
              <a:gd name="adj" fmla="val 8000"/>
            </a:avLst>
          </a:prstGeom>
          <a:solidFill>
            <a:srgbClr val="FF6B35"/>
          </a:solidFill>
          <a:ln>
            <a:noFill/>
          </a:ln>
        </p:spPr>
        <p:txBody>
          <a:bodyPr/>
          <a:lstStyle/>
          <a:p>
            <a:endParaRPr lang="de-CH"/>
          </a:p>
        </p:txBody>
      </p:sp>
      <p:sp>
        <p:nvSpPr>
          <p:cNvPr id="310" name="Text 310"/>
          <p:cNvSpPr txBox="1"/>
          <p:nvPr/>
        </p:nvSpPr>
        <p:spPr>
          <a:xfrm>
            <a:off x="2673500" y="1440000"/>
            <a:ext cx="1753500" cy="340000"/>
          </a:xfrm>
          <a:prstGeom prst="rect">
            <a:avLst/>
          </a:prstGeom>
          <a:noFill/>
        </p:spPr>
        <p:txBody>
          <a:bodyPr wrap="square" lIns="0" tIns="0" rIns="0" bIns="0" anchor="ctr">
            <a:normAutofit/>
          </a:bodyPr>
          <a:lstStyle/>
          <a:p>
            <a:pPr algn="l">
              <a:lnSpc>
                <a:spcPct val="100000"/>
              </a:lnSpc>
              <a:spcAft>
                <a:spcPts val="0"/>
              </a:spcAft>
              <a:buNone/>
            </a:pPr>
            <a:r>
              <a:rPr lang="de-CH" sz="1100" b="1" i="0">
                <a:solidFill>
                  <a:srgbClr val="FFFFFF"/>
                </a:solidFill>
                <a:latin typeface="Calibri"/>
              </a:rPr>
              <a:t>Menü-Optimierung</a:t>
            </a:r>
          </a:p>
          <a:p>
            <a:pPr algn="l">
              <a:lnSpc>
                <a:spcPct val="100000"/>
              </a:lnSpc>
              <a:spcAft>
                <a:spcPts val="0"/>
              </a:spcAft>
              <a:buNone/>
            </a:pPr>
            <a:r>
              <a:rPr lang="de-CH" sz="1400" b="1" i="0">
                <a:solidFill>
                  <a:srgbClr val="FFFFFF"/>
                </a:solidFill>
                <a:latin typeface="Calibri"/>
              </a:rPr>
              <a:t>CHF 3’750</a:t>
            </a:r>
          </a:p>
        </p:txBody>
      </p:sp>
      <p:sp>
        <p:nvSpPr>
          <p:cNvPr id="311" name="Shape 311"/>
          <p:cNvSpPr/>
          <p:nvPr/>
        </p:nvSpPr>
        <p:spPr>
          <a:xfrm>
            <a:off x="2583500" y="1880000"/>
            <a:ext cx="1933500" cy="760000"/>
          </a:xfrm>
          <a:prstGeom prst="roundRect">
            <a:avLst>
              <a:gd name="adj" fmla="val 8000"/>
            </a:avLst>
          </a:prstGeom>
          <a:solidFill>
            <a:srgbClr val="1B1D23"/>
          </a:solidFill>
          <a:ln>
            <a:noFill/>
          </a:ln>
        </p:spPr>
        <p:txBody>
          <a:bodyPr/>
          <a:lstStyle/>
          <a:p>
            <a:endParaRPr lang="de-CH"/>
          </a:p>
        </p:txBody>
      </p:sp>
      <p:sp>
        <p:nvSpPr>
          <p:cNvPr id="312" name="Text 312"/>
          <p:cNvSpPr txBox="1"/>
          <p:nvPr/>
        </p:nvSpPr>
        <p:spPr>
          <a:xfrm>
            <a:off x="2663500" y="194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dirty="0">
                <a:solidFill>
                  <a:srgbClr val="FF6B35"/>
                </a:solidFill>
                <a:latin typeface="Calibri"/>
              </a:rPr>
              <a:t>Rechenweg</a:t>
            </a:r>
          </a:p>
          <a:p>
            <a:pPr algn="l">
              <a:lnSpc>
                <a:spcPct val="100000"/>
              </a:lnSpc>
              <a:spcAft>
                <a:spcPts val="0"/>
              </a:spcAft>
              <a:buNone/>
            </a:pPr>
            <a:r>
              <a:rPr lang="de-CH" sz="1000" b="0" i="0" dirty="0">
                <a:solidFill>
                  <a:srgbClr val="DDE1E8"/>
                </a:solidFill>
                <a:latin typeface="Calibri"/>
              </a:rPr>
              <a:t>60 Tagesmenüs × </a:t>
            </a:r>
            <a:r>
              <a:rPr lang="de-CH" sz="1000" dirty="0">
                <a:solidFill>
                  <a:srgbClr val="DDE1E8"/>
                </a:solidFill>
                <a:latin typeface="Calibri"/>
              </a:rPr>
              <a:t>138</a:t>
            </a:r>
            <a:r>
              <a:rPr lang="de-CH" sz="1000" b="0" i="0" dirty="0">
                <a:solidFill>
                  <a:srgbClr val="DDE1E8"/>
                </a:solidFill>
                <a:latin typeface="Calibri"/>
              </a:rPr>
              <a:t> Tage ≈ </a:t>
            </a:r>
            <a:r>
              <a:rPr lang="de-CH" sz="1000" dirty="0">
                <a:solidFill>
                  <a:srgbClr val="DDE1E8"/>
                </a:solidFill>
                <a:latin typeface="Calibri"/>
              </a:rPr>
              <a:t>8’280</a:t>
            </a:r>
            <a:r>
              <a:rPr lang="de-CH" sz="1000" b="0" i="0" dirty="0">
                <a:solidFill>
                  <a:srgbClr val="DDE1E8"/>
                </a:solidFill>
                <a:latin typeface="Calibri"/>
              </a:rPr>
              <a:t> Menüs × CHF 0.45 mehr Deckungsbeitrag</a:t>
            </a:r>
          </a:p>
        </p:txBody>
      </p:sp>
      <p:sp>
        <p:nvSpPr>
          <p:cNvPr id="313" name="Shape 313"/>
          <p:cNvSpPr/>
          <p:nvPr/>
        </p:nvSpPr>
        <p:spPr>
          <a:xfrm>
            <a:off x="2583500" y="2695000"/>
            <a:ext cx="1933500" cy="760000"/>
          </a:xfrm>
          <a:prstGeom prst="roundRect">
            <a:avLst>
              <a:gd name="adj" fmla="val 8000"/>
            </a:avLst>
          </a:prstGeom>
          <a:solidFill>
            <a:srgbClr val="2A1A14"/>
          </a:solidFill>
          <a:ln w="19050">
            <a:solidFill>
              <a:srgbClr val="FF6B35"/>
            </a:solidFill>
          </a:ln>
        </p:spPr>
        <p:txBody>
          <a:bodyPr/>
          <a:lstStyle/>
          <a:p>
            <a:endParaRPr lang="de-CH"/>
          </a:p>
        </p:txBody>
      </p:sp>
      <p:sp>
        <p:nvSpPr>
          <p:cNvPr id="314" name="Text 314"/>
          <p:cNvSpPr txBox="1"/>
          <p:nvPr/>
        </p:nvSpPr>
        <p:spPr>
          <a:xfrm>
            <a:off x="2663500" y="2755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Methode</a:t>
            </a:r>
          </a:p>
          <a:p>
            <a:pPr algn="l">
              <a:lnSpc>
                <a:spcPct val="100000"/>
              </a:lnSpc>
              <a:spcAft>
                <a:spcPts val="0"/>
              </a:spcAft>
              <a:buNone/>
            </a:pPr>
            <a:r>
              <a:rPr lang="de-CH" sz="1000" b="0" i="0">
                <a:solidFill>
                  <a:srgbClr val="DDE1E8"/>
                </a:solidFill>
                <a:latin typeface="Calibri"/>
              </a:rPr>
              <a:t>Menu Engineering (Kasavana &amp; Smith): Gerichte mit hohem DB fördern, Ladenhüter streichen</a:t>
            </a:r>
          </a:p>
        </p:txBody>
      </p:sp>
      <p:sp>
        <p:nvSpPr>
          <p:cNvPr id="315" name="Shape 315"/>
          <p:cNvSpPr/>
          <p:nvPr/>
        </p:nvSpPr>
        <p:spPr>
          <a:xfrm>
            <a:off x="2583500" y="3510000"/>
            <a:ext cx="1933500" cy="760000"/>
          </a:xfrm>
          <a:prstGeom prst="roundRect">
            <a:avLst>
              <a:gd name="adj" fmla="val 8000"/>
            </a:avLst>
          </a:prstGeom>
          <a:solidFill>
            <a:srgbClr val="1B1D23"/>
          </a:solidFill>
          <a:ln>
            <a:noFill/>
          </a:ln>
        </p:spPr>
        <p:txBody>
          <a:bodyPr/>
          <a:lstStyle/>
          <a:p>
            <a:endParaRPr lang="de-CH"/>
          </a:p>
        </p:txBody>
      </p:sp>
      <p:sp>
        <p:nvSpPr>
          <p:cNvPr id="316" name="Text 316"/>
          <p:cNvSpPr txBox="1"/>
          <p:nvPr/>
        </p:nvSpPr>
        <p:spPr>
          <a:xfrm>
            <a:off x="2663500" y="357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Einordnung</a:t>
            </a:r>
          </a:p>
          <a:p>
            <a:pPr algn="l">
              <a:lnSpc>
                <a:spcPct val="100000"/>
              </a:lnSpc>
              <a:spcAft>
                <a:spcPts val="0"/>
              </a:spcAft>
              <a:buNone/>
            </a:pPr>
            <a:r>
              <a:rPr lang="de-CH" sz="1000" b="0" i="0">
                <a:solidFill>
                  <a:srgbClr val="DDE1E8"/>
                </a:solidFill>
                <a:latin typeface="Calibri"/>
              </a:rPr>
              <a:t>= 0.5 % des Umsatzes. Annahme – messbar erst seit dem Tagesmenü-Import 09/2026</a:t>
            </a:r>
          </a:p>
        </p:txBody>
      </p:sp>
      <p:sp>
        <p:nvSpPr>
          <p:cNvPr id="317" name="Shape 317"/>
          <p:cNvSpPr/>
          <p:nvPr/>
        </p:nvSpPr>
        <p:spPr>
          <a:xfrm>
            <a:off x="4627000" y="1400000"/>
            <a:ext cx="1933500" cy="420000"/>
          </a:xfrm>
          <a:prstGeom prst="roundRect">
            <a:avLst>
              <a:gd name="adj" fmla="val 8000"/>
            </a:avLst>
          </a:prstGeom>
          <a:solidFill>
            <a:srgbClr val="FF6B35"/>
          </a:solidFill>
          <a:ln>
            <a:noFill/>
          </a:ln>
        </p:spPr>
        <p:txBody>
          <a:bodyPr/>
          <a:lstStyle/>
          <a:p>
            <a:endParaRPr lang="de-CH"/>
          </a:p>
        </p:txBody>
      </p:sp>
      <p:sp>
        <p:nvSpPr>
          <p:cNvPr id="318" name="Text 318"/>
          <p:cNvSpPr txBox="1"/>
          <p:nvPr/>
        </p:nvSpPr>
        <p:spPr>
          <a:xfrm>
            <a:off x="4717000" y="1440000"/>
            <a:ext cx="1753500" cy="340000"/>
          </a:xfrm>
          <a:prstGeom prst="rect">
            <a:avLst/>
          </a:prstGeom>
          <a:noFill/>
        </p:spPr>
        <p:txBody>
          <a:bodyPr wrap="square" lIns="0" tIns="0" rIns="0" bIns="0" anchor="ctr">
            <a:normAutofit/>
          </a:bodyPr>
          <a:lstStyle/>
          <a:p>
            <a:pPr algn="l">
              <a:lnSpc>
                <a:spcPct val="100000"/>
              </a:lnSpc>
              <a:spcAft>
                <a:spcPts val="0"/>
              </a:spcAft>
              <a:buNone/>
            </a:pPr>
            <a:r>
              <a:rPr lang="de-CH" sz="1100" b="1" i="0">
                <a:solidFill>
                  <a:srgbClr val="FFFFFF"/>
                </a:solidFill>
                <a:latin typeface="Calibri"/>
              </a:rPr>
              <a:t>Zeitersparnis</a:t>
            </a:r>
          </a:p>
          <a:p>
            <a:pPr algn="l">
              <a:lnSpc>
                <a:spcPct val="100000"/>
              </a:lnSpc>
              <a:spcAft>
                <a:spcPts val="0"/>
              </a:spcAft>
              <a:buNone/>
            </a:pPr>
            <a:r>
              <a:rPr lang="de-CH" sz="1400" b="1" i="0">
                <a:solidFill>
                  <a:srgbClr val="FFFFFF"/>
                </a:solidFill>
                <a:latin typeface="Calibri"/>
              </a:rPr>
              <a:t>CHF 2’875</a:t>
            </a:r>
          </a:p>
        </p:txBody>
      </p:sp>
      <p:sp>
        <p:nvSpPr>
          <p:cNvPr id="319" name="Shape 319"/>
          <p:cNvSpPr/>
          <p:nvPr/>
        </p:nvSpPr>
        <p:spPr>
          <a:xfrm>
            <a:off x="4627000" y="1880000"/>
            <a:ext cx="1933500" cy="760000"/>
          </a:xfrm>
          <a:prstGeom prst="roundRect">
            <a:avLst>
              <a:gd name="adj" fmla="val 8000"/>
            </a:avLst>
          </a:prstGeom>
          <a:solidFill>
            <a:srgbClr val="1B1D23"/>
          </a:solidFill>
          <a:ln>
            <a:noFill/>
          </a:ln>
        </p:spPr>
        <p:txBody>
          <a:bodyPr/>
          <a:lstStyle/>
          <a:p>
            <a:endParaRPr lang="de-CH"/>
          </a:p>
        </p:txBody>
      </p:sp>
      <p:sp>
        <p:nvSpPr>
          <p:cNvPr id="320" name="Text 320"/>
          <p:cNvSpPr txBox="1"/>
          <p:nvPr/>
        </p:nvSpPr>
        <p:spPr>
          <a:xfrm>
            <a:off x="4707000" y="194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Rechenweg</a:t>
            </a:r>
          </a:p>
          <a:p>
            <a:pPr algn="l">
              <a:lnSpc>
                <a:spcPct val="100000"/>
              </a:lnSpc>
              <a:spcAft>
                <a:spcPts val="0"/>
              </a:spcAft>
              <a:buNone/>
            </a:pPr>
            <a:r>
              <a:rPr lang="de-CH" sz="1000" b="0" i="0">
                <a:solidFill>
                  <a:srgbClr val="DDE1E8"/>
                </a:solidFill>
                <a:latin typeface="Calibri"/>
              </a:rPr>
              <a:t>Planung 45 → 15 Min./Tag: 30 Min. × 230 Tage = 115 h × CHF 25</a:t>
            </a:r>
          </a:p>
        </p:txBody>
      </p:sp>
      <p:sp>
        <p:nvSpPr>
          <p:cNvPr id="321" name="Shape 321"/>
          <p:cNvSpPr/>
          <p:nvPr/>
        </p:nvSpPr>
        <p:spPr>
          <a:xfrm>
            <a:off x="4627000" y="2695000"/>
            <a:ext cx="1933500" cy="760000"/>
          </a:xfrm>
          <a:prstGeom prst="roundRect">
            <a:avLst>
              <a:gd name="adj" fmla="val 8000"/>
            </a:avLst>
          </a:prstGeom>
          <a:solidFill>
            <a:srgbClr val="2A1A14"/>
          </a:solidFill>
          <a:ln w="19050">
            <a:solidFill>
              <a:srgbClr val="FF6B35"/>
            </a:solidFill>
          </a:ln>
        </p:spPr>
        <p:txBody>
          <a:bodyPr/>
          <a:lstStyle/>
          <a:p>
            <a:endParaRPr lang="de-CH"/>
          </a:p>
        </p:txBody>
      </p:sp>
      <p:sp>
        <p:nvSpPr>
          <p:cNvPr id="322" name="Text 322"/>
          <p:cNvSpPr txBox="1"/>
          <p:nvPr/>
        </p:nvSpPr>
        <p:spPr>
          <a:xfrm>
            <a:off x="4707000" y="2755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L-GAV 2026</a:t>
            </a:r>
          </a:p>
          <a:p>
            <a:pPr algn="l">
              <a:lnSpc>
                <a:spcPct val="100000"/>
              </a:lnSpc>
              <a:spcAft>
                <a:spcPts val="0"/>
              </a:spcAft>
              <a:buNone/>
            </a:pPr>
            <a:r>
              <a:rPr lang="de-CH" sz="1000" b="0" i="0">
                <a:solidFill>
                  <a:srgbClr val="DDE1E8"/>
                </a:solidFill>
                <a:latin typeface="Calibri"/>
              </a:rPr>
              <a:t>Koch EFZ (IIIa): 4’528 × 13 ÷ (42 h × 52) = CHF 26.95/h. CHF 25 ist konservativ</a:t>
            </a:r>
          </a:p>
        </p:txBody>
      </p:sp>
      <p:sp>
        <p:nvSpPr>
          <p:cNvPr id="323" name="Shape 323"/>
          <p:cNvSpPr/>
          <p:nvPr/>
        </p:nvSpPr>
        <p:spPr>
          <a:xfrm>
            <a:off x="4627000" y="3510000"/>
            <a:ext cx="1933500" cy="760000"/>
          </a:xfrm>
          <a:prstGeom prst="roundRect">
            <a:avLst>
              <a:gd name="adj" fmla="val 8000"/>
            </a:avLst>
          </a:prstGeom>
          <a:solidFill>
            <a:srgbClr val="1B1D23"/>
          </a:solidFill>
          <a:ln>
            <a:noFill/>
          </a:ln>
        </p:spPr>
        <p:txBody>
          <a:bodyPr/>
          <a:lstStyle/>
          <a:p>
            <a:endParaRPr lang="de-CH"/>
          </a:p>
        </p:txBody>
      </p:sp>
      <p:sp>
        <p:nvSpPr>
          <p:cNvPr id="324" name="Text 324"/>
          <p:cNvSpPr txBox="1"/>
          <p:nvPr/>
        </p:nvSpPr>
        <p:spPr>
          <a:xfrm>
            <a:off x="4707000" y="357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Einordnung</a:t>
            </a:r>
          </a:p>
          <a:p>
            <a:pPr algn="l">
              <a:lnSpc>
                <a:spcPct val="100000"/>
              </a:lnSpc>
              <a:spcAft>
                <a:spcPts val="0"/>
              </a:spcAft>
              <a:buNone/>
            </a:pPr>
            <a:r>
              <a:rPr lang="de-CH" sz="1000" b="0" i="0">
                <a:solidFill>
                  <a:srgbClr val="DDE1E8"/>
                </a:solidFill>
                <a:latin typeface="Calibri"/>
              </a:rPr>
              <a:t>Zeit des Pächters: Opportunitätsnutzen, keine Auszahlung</a:t>
            </a:r>
          </a:p>
        </p:txBody>
      </p:sp>
      <p:sp>
        <p:nvSpPr>
          <p:cNvPr id="325" name="Shape 325"/>
          <p:cNvSpPr/>
          <p:nvPr/>
        </p:nvSpPr>
        <p:spPr>
          <a:xfrm>
            <a:off x="6670500" y="1400000"/>
            <a:ext cx="1933500" cy="420000"/>
          </a:xfrm>
          <a:prstGeom prst="roundRect">
            <a:avLst>
              <a:gd name="adj" fmla="val 8000"/>
            </a:avLst>
          </a:prstGeom>
          <a:solidFill>
            <a:srgbClr val="FF6B35"/>
          </a:solidFill>
          <a:ln>
            <a:noFill/>
          </a:ln>
        </p:spPr>
        <p:txBody>
          <a:bodyPr/>
          <a:lstStyle/>
          <a:p>
            <a:endParaRPr lang="de-CH"/>
          </a:p>
        </p:txBody>
      </p:sp>
      <p:sp>
        <p:nvSpPr>
          <p:cNvPr id="326" name="Text 326"/>
          <p:cNvSpPr txBox="1"/>
          <p:nvPr/>
        </p:nvSpPr>
        <p:spPr>
          <a:xfrm>
            <a:off x="6760500" y="1440000"/>
            <a:ext cx="1753500" cy="340000"/>
          </a:xfrm>
          <a:prstGeom prst="rect">
            <a:avLst/>
          </a:prstGeom>
          <a:noFill/>
        </p:spPr>
        <p:txBody>
          <a:bodyPr wrap="square" lIns="0" tIns="0" rIns="0" bIns="0" anchor="ctr">
            <a:normAutofit/>
          </a:bodyPr>
          <a:lstStyle/>
          <a:p>
            <a:pPr algn="l">
              <a:lnSpc>
                <a:spcPct val="100000"/>
              </a:lnSpc>
              <a:spcAft>
                <a:spcPts val="0"/>
              </a:spcAft>
              <a:buNone/>
            </a:pPr>
            <a:r>
              <a:rPr lang="de-CH" sz="1100" b="1" i="0">
                <a:solidFill>
                  <a:srgbClr val="FFFFFF"/>
                </a:solidFill>
                <a:latin typeface="Calibri"/>
              </a:rPr>
              <a:t>Überstunden-/Stress</a:t>
            </a:r>
          </a:p>
          <a:p>
            <a:pPr algn="l">
              <a:lnSpc>
                <a:spcPct val="100000"/>
              </a:lnSpc>
              <a:spcAft>
                <a:spcPts val="0"/>
              </a:spcAft>
              <a:buNone/>
            </a:pPr>
            <a:r>
              <a:rPr lang="de-CH" sz="1400" b="1" i="0">
                <a:solidFill>
                  <a:srgbClr val="FFFFFF"/>
                </a:solidFill>
                <a:latin typeface="Calibri"/>
              </a:rPr>
              <a:t>CHF 3’125</a:t>
            </a:r>
          </a:p>
        </p:txBody>
      </p:sp>
      <p:sp>
        <p:nvSpPr>
          <p:cNvPr id="327" name="Shape 327"/>
          <p:cNvSpPr/>
          <p:nvPr/>
        </p:nvSpPr>
        <p:spPr>
          <a:xfrm>
            <a:off x="6670500" y="1880000"/>
            <a:ext cx="1933500" cy="760000"/>
          </a:xfrm>
          <a:prstGeom prst="roundRect">
            <a:avLst>
              <a:gd name="adj" fmla="val 8000"/>
            </a:avLst>
          </a:prstGeom>
          <a:solidFill>
            <a:srgbClr val="1B1D23"/>
          </a:solidFill>
          <a:ln>
            <a:noFill/>
          </a:ln>
        </p:spPr>
        <p:txBody>
          <a:bodyPr/>
          <a:lstStyle/>
          <a:p>
            <a:endParaRPr lang="de-CH"/>
          </a:p>
        </p:txBody>
      </p:sp>
      <p:sp>
        <p:nvSpPr>
          <p:cNvPr id="328" name="Text 328"/>
          <p:cNvSpPr txBox="1"/>
          <p:nvPr/>
        </p:nvSpPr>
        <p:spPr>
          <a:xfrm>
            <a:off x="6750500" y="194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Rechenweg</a:t>
            </a:r>
          </a:p>
          <a:p>
            <a:pPr algn="l">
              <a:lnSpc>
                <a:spcPct val="100000"/>
              </a:lnSpc>
              <a:spcAft>
                <a:spcPts val="0"/>
              </a:spcAft>
              <a:buNone/>
            </a:pPr>
            <a:r>
              <a:rPr lang="de-CH" sz="1000" b="0" i="0">
                <a:solidFill>
                  <a:srgbClr val="DDE1E8"/>
                </a:solidFill>
                <a:latin typeface="Calibri"/>
              </a:rPr>
              <a:t>2.5 h/Woche pro Person, angerechnet für 1 Person: × 50 Wo. = 125 h × CHF 25</a:t>
            </a:r>
          </a:p>
        </p:txBody>
      </p:sp>
      <p:sp>
        <p:nvSpPr>
          <p:cNvPr id="329" name="Shape 329"/>
          <p:cNvSpPr/>
          <p:nvPr/>
        </p:nvSpPr>
        <p:spPr>
          <a:xfrm>
            <a:off x="6670500" y="2695000"/>
            <a:ext cx="1933500" cy="760000"/>
          </a:xfrm>
          <a:prstGeom prst="roundRect">
            <a:avLst>
              <a:gd name="adj" fmla="val 8000"/>
            </a:avLst>
          </a:prstGeom>
          <a:solidFill>
            <a:srgbClr val="2A1A14"/>
          </a:solidFill>
          <a:ln w="19050">
            <a:solidFill>
              <a:srgbClr val="FF6B35"/>
            </a:solidFill>
          </a:ln>
        </p:spPr>
        <p:txBody>
          <a:bodyPr/>
          <a:lstStyle/>
          <a:p>
            <a:endParaRPr lang="de-CH"/>
          </a:p>
        </p:txBody>
      </p:sp>
      <p:sp>
        <p:nvSpPr>
          <p:cNvPr id="330" name="Text 330"/>
          <p:cNvSpPr txBox="1"/>
          <p:nvPr/>
        </p:nvSpPr>
        <p:spPr>
          <a:xfrm>
            <a:off x="6750500" y="2755000"/>
            <a:ext cx="1822000" cy="660000"/>
          </a:xfrm>
          <a:prstGeom prst="rect">
            <a:avLst/>
          </a:prstGeom>
          <a:noFill/>
        </p:spPr>
        <p:txBody>
          <a:bodyPr wrap="square" lIns="0" tIns="0" rIns="0" bIns="0" anchor="t">
            <a:normAutofit fontScale="92500"/>
          </a:bodyPr>
          <a:lstStyle/>
          <a:p>
            <a:pPr algn="l">
              <a:lnSpc>
                <a:spcPct val="100000"/>
              </a:lnSpc>
              <a:spcAft>
                <a:spcPts val="200"/>
              </a:spcAft>
              <a:buNone/>
            </a:pPr>
            <a:r>
              <a:rPr lang="de-CH" sz="1000" b="1" i="0" dirty="0">
                <a:solidFill>
                  <a:srgbClr val="FF6B35"/>
                </a:solidFill>
                <a:latin typeface="Calibri"/>
              </a:rPr>
              <a:t>L-GAV Art. 15</a:t>
            </a:r>
          </a:p>
          <a:p>
            <a:pPr algn="l">
              <a:lnSpc>
                <a:spcPct val="100000"/>
              </a:lnSpc>
              <a:spcAft>
                <a:spcPts val="0"/>
              </a:spcAft>
              <a:buNone/>
            </a:pPr>
            <a:r>
              <a:rPr lang="de-CH" sz="1000" b="0" i="0" dirty="0">
                <a:solidFill>
                  <a:srgbClr val="DDE1E8"/>
                </a:solidFill>
                <a:latin typeface="Calibri"/>
              </a:rPr>
              <a:t>Kompensation durch Freizeit gleicher Dauer oder Auszahlung zu 100 % (125 %, wenn nicht korrekt erfasst)</a:t>
            </a:r>
          </a:p>
        </p:txBody>
      </p:sp>
      <p:sp>
        <p:nvSpPr>
          <p:cNvPr id="331" name="Shape 331"/>
          <p:cNvSpPr/>
          <p:nvPr/>
        </p:nvSpPr>
        <p:spPr>
          <a:xfrm>
            <a:off x="6670500" y="3510000"/>
            <a:ext cx="1933500" cy="760000"/>
          </a:xfrm>
          <a:prstGeom prst="roundRect">
            <a:avLst>
              <a:gd name="adj" fmla="val 8000"/>
            </a:avLst>
          </a:prstGeom>
          <a:solidFill>
            <a:srgbClr val="1B1D23"/>
          </a:solidFill>
          <a:ln>
            <a:noFill/>
          </a:ln>
        </p:spPr>
        <p:txBody>
          <a:bodyPr/>
          <a:lstStyle/>
          <a:p>
            <a:endParaRPr lang="de-CH"/>
          </a:p>
        </p:txBody>
      </p:sp>
      <p:sp>
        <p:nvSpPr>
          <p:cNvPr id="332" name="Text 332"/>
          <p:cNvSpPr txBox="1"/>
          <p:nvPr/>
        </p:nvSpPr>
        <p:spPr>
          <a:xfrm>
            <a:off x="6750500" y="3570000"/>
            <a:ext cx="1773500" cy="660000"/>
          </a:xfrm>
          <a:prstGeom prst="rect">
            <a:avLst/>
          </a:prstGeom>
          <a:noFill/>
        </p:spPr>
        <p:txBody>
          <a:bodyPr wrap="square" lIns="0" tIns="0" rIns="0" bIns="0" anchor="t">
            <a:normAutofit/>
          </a:bodyPr>
          <a:lstStyle/>
          <a:p>
            <a:pPr algn="l">
              <a:lnSpc>
                <a:spcPct val="100000"/>
              </a:lnSpc>
              <a:spcAft>
                <a:spcPts val="200"/>
              </a:spcAft>
              <a:buNone/>
            </a:pPr>
            <a:r>
              <a:rPr lang="de-CH" sz="1000" b="1" i="0">
                <a:solidFill>
                  <a:srgbClr val="FF6B35"/>
                </a:solidFill>
                <a:latin typeface="Calibri"/>
              </a:rPr>
              <a:t>Gegenprobe</a:t>
            </a:r>
          </a:p>
          <a:p>
            <a:pPr algn="l">
              <a:lnSpc>
                <a:spcPct val="100000"/>
              </a:lnSpc>
              <a:spcAft>
                <a:spcPts val="0"/>
              </a:spcAft>
              <a:buNone/>
            </a:pPr>
            <a:r>
              <a:rPr lang="de-CH" sz="1000" b="0" i="0">
                <a:solidFill>
                  <a:srgbClr val="DDE1E8"/>
                </a:solidFill>
                <a:latin typeface="Calibri"/>
              </a:rPr>
              <a:t>3’125 = 14 Absenztage; bei 8 Personen 1.7 je Kopf, 20 % der 8.5 Krankheitstage (BFS 2024)</a:t>
            </a:r>
          </a:p>
        </p:txBody>
      </p:sp>
      <p:sp>
        <p:nvSpPr>
          <p:cNvPr id="333" name="Text 333"/>
          <p:cNvSpPr txBox="1"/>
          <p:nvPr/>
        </p:nvSpPr>
        <p:spPr>
          <a:xfrm>
            <a:off x="540000" y="4335000"/>
            <a:ext cx="8064000" cy="300000"/>
          </a:xfrm>
          <a:prstGeom prst="rect">
            <a:avLst/>
          </a:prstGeom>
          <a:noFill/>
        </p:spPr>
        <p:txBody>
          <a:bodyPr wrap="square" lIns="0" tIns="0" rIns="0" bIns="0" anchor="t">
            <a:normAutofit/>
          </a:bodyPr>
          <a:lstStyle/>
          <a:p>
            <a:pPr algn="l">
              <a:lnSpc>
                <a:spcPct val="100000"/>
              </a:lnSpc>
              <a:spcAft>
                <a:spcPts val="0"/>
              </a:spcAft>
              <a:buNone/>
            </a:pPr>
            <a:r>
              <a:rPr lang="de-CH" sz="950" b="0" i="0">
                <a:solidFill>
                  <a:srgbClr val="B9BEC8"/>
                </a:solidFill>
                <a:latin typeface="Calibri"/>
              </a:rPr>
              <a:t>Stress selbst ist nicht zusätzlich bewertet, sonst zählt dieselbe Ursache doppelt. Quellen, Job-Stress-Index und Messmethode (BAFU) in den Notizen.</a:t>
            </a:r>
          </a:p>
        </p:txBody>
      </p:sp>
      <p:sp>
        <p:nvSpPr>
          <p:cNvPr id="20" name="TextBox 19"/>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1" name="TextBox 20">
            <a:hlinkClick r:id="" action="ppaction://noaction"/>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G  ·  NUTZENHERLEITUNG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2400" b="1" i="0">
                <a:solidFill>
                  <a:srgbClr val="FFFFFF"/>
                </a:solidFill>
                <a:latin typeface="Calibri"/>
              </a:rPr>
              <a:t>Benchmark: Prognose-Angebote im Vergleich</a:t>
            </a:r>
          </a:p>
        </p:txBody>
      </p:sp>
      <p:sp>
        <p:nvSpPr>
          <p:cNvPr id="199" name="Subtitle"/>
          <p:cNvSpPr txBox="1"/>
          <p:nvPr/>
        </p:nvSpPr>
        <p:spPr>
          <a:xfrm>
            <a:off x="540000" y="1087200"/>
            <a:ext cx="8063999" cy="216000"/>
          </a:xfrm>
          <a:prstGeom prst="rect">
            <a:avLst/>
          </a:prstGeom>
          <a:noFill/>
        </p:spPr>
        <p:txBody>
          <a:bodyPr wrap="square" lIns="0" tIns="0" rIns="0" bIns="0" anchor="t">
            <a:spAutoFit/>
          </a:bodyPr>
          <a:lstStyle/>
          <a:p>
            <a:pPr algn="l"/>
            <a:r>
              <a:rPr lang="de-CH" sz="1300" b="0" i="0">
                <a:solidFill>
                  <a:srgbClr val="B9BEC8"/>
                </a:solidFill>
                <a:latin typeface="Calibri"/>
              </a:rPr>
              <a:t>Anbieterangaben laut eigenen Websites und Fachpresse, Stand 09/2026  ·  Angaben sind nicht direkt vergleichbar</a:t>
            </a:r>
          </a:p>
        </p:txBody>
      </p:sp>
      <p:sp>
        <p:nvSpPr>
          <p:cNvPr id="501" name="Text 501"/>
          <p:cNvSpPr txBox="1"/>
          <p:nvPr/>
        </p:nvSpPr>
        <p:spPr>
          <a:xfrm>
            <a:off x="600000" y="1420000"/>
            <a:ext cx="920000" cy="220000"/>
          </a:xfrm>
          <a:prstGeom prst="rect">
            <a:avLst/>
          </a:prstGeom>
          <a:noFill/>
        </p:spPr>
        <p:txBody>
          <a:bodyPr wrap="square" lIns="0" tIns="0" rIns="0" bIns="0" anchor="t">
            <a:normAutofit/>
          </a:bodyPr>
          <a:lstStyle/>
          <a:p>
            <a:pPr algn="l">
              <a:lnSpc>
                <a:spcPct val="95000"/>
              </a:lnSpc>
              <a:spcAft>
                <a:spcPts val="0"/>
              </a:spcAft>
              <a:buNone/>
            </a:pPr>
            <a:r>
              <a:rPr lang="de-CH" sz="900" b="1" i="0">
                <a:solidFill>
                  <a:srgbClr val="FF6B35"/>
                </a:solidFill>
                <a:latin typeface="Calibri"/>
              </a:rPr>
              <a:t>Anbieter</a:t>
            </a:r>
          </a:p>
        </p:txBody>
      </p:sp>
      <p:sp>
        <p:nvSpPr>
          <p:cNvPr id="502" name="Text 502"/>
          <p:cNvSpPr txBox="1"/>
          <p:nvPr/>
        </p:nvSpPr>
        <p:spPr>
          <a:xfrm>
            <a:off x="1600000" y="1420000"/>
            <a:ext cx="1480000" cy="220000"/>
          </a:xfrm>
          <a:prstGeom prst="rect">
            <a:avLst/>
          </a:prstGeom>
          <a:noFill/>
        </p:spPr>
        <p:txBody>
          <a:bodyPr wrap="square" lIns="0" tIns="0" rIns="0" bIns="0" anchor="t">
            <a:normAutofit/>
          </a:bodyPr>
          <a:lstStyle/>
          <a:p>
            <a:pPr algn="l">
              <a:lnSpc>
                <a:spcPct val="95000"/>
              </a:lnSpc>
              <a:spcAft>
                <a:spcPts val="0"/>
              </a:spcAft>
              <a:buNone/>
            </a:pPr>
            <a:r>
              <a:rPr lang="de-CH" sz="900" b="1" i="0">
                <a:solidFill>
                  <a:srgbClr val="FF6B35"/>
                </a:solidFill>
                <a:latin typeface="Calibri"/>
              </a:rPr>
              <a:t>Ansatz</a:t>
            </a:r>
          </a:p>
        </p:txBody>
      </p:sp>
      <p:sp>
        <p:nvSpPr>
          <p:cNvPr id="503" name="Text 503"/>
          <p:cNvSpPr txBox="1"/>
          <p:nvPr/>
        </p:nvSpPr>
        <p:spPr>
          <a:xfrm>
            <a:off x="3160000" y="1420000"/>
            <a:ext cx="1170000" cy="220000"/>
          </a:xfrm>
          <a:prstGeom prst="rect">
            <a:avLst/>
          </a:prstGeom>
          <a:noFill/>
        </p:spPr>
        <p:txBody>
          <a:bodyPr wrap="square" lIns="0" tIns="0" rIns="0" bIns="0" anchor="t">
            <a:normAutofit/>
          </a:bodyPr>
          <a:lstStyle/>
          <a:p>
            <a:pPr algn="l">
              <a:lnSpc>
                <a:spcPct val="95000"/>
              </a:lnSpc>
              <a:spcAft>
                <a:spcPts val="0"/>
              </a:spcAft>
              <a:buNone/>
            </a:pPr>
            <a:r>
              <a:rPr lang="de-CH" sz="900" b="1" i="0">
                <a:solidFill>
                  <a:srgbClr val="FF6B35"/>
                </a:solidFill>
                <a:latin typeface="Calibri"/>
              </a:rPr>
              <a:t>Für wen</a:t>
            </a:r>
          </a:p>
        </p:txBody>
      </p:sp>
      <p:sp>
        <p:nvSpPr>
          <p:cNvPr id="504" name="Text 504"/>
          <p:cNvSpPr txBox="1"/>
          <p:nvPr/>
        </p:nvSpPr>
        <p:spPr>
          <a:xfrm>
            <a:off x="4410000" y="1420000"/>
            <a:ext cx="1470000" cy="220000"/>
          </a:xfrm>
          <a:prstGeom prst="rect">
            <a:avLst/>
          </a:prstGeom>
          <a:noFill/>
        </p:spPr>
        <p:txBody>
          <a:bodyPr wrap="square" lIns="0" tIns="0" rIns="0" bIns="0" anchor="t">
            <a:normAutofit/>
          </a:bodyPr>
          <a:lstStyle/>
          <a:p>
            <a:pPr algn="l">
              <a:lnSpc>
                <a:spcPct val="95000"/>
              </a:lnSpc>
              <a:spcAft>
                <a:spcPts val="0"/>
              </a:spcAft>
              <a:buNone/>
            </a:pPr>
            <a:r>
              <a:rPr lang="de-CH" sz="900" b="1" i="0">
                <a:solidFill>
                  <a:srgbClr val="FF6B35"/>
                </a:solidFill>
                <a:latin typeface="Calibri"/>
              </a:rPr>
              <a:t>Angabe / Messung</a:t>
            </a:r>
          </a:p>
        </p:txBody>
      </p:sp>
      <p:sp>
        <p:nvSpPr>
          <p:cNvPr id="505" name="Shape 505"/>
          <p:cNvSpPr/>
          <p:nvPr/>
        </p:nvSpPr>
        <p:spPr>
          <a:xfrm>
            <a:off x="540000" y="1640000"/>
            <a:ext cx="5360000" cy="405000"/>
          </a:xfrm>
          <a:prstGeom prst="roundRect">
            <a:avLst>
              <a:gd name="adj" fmla="val 8000"/>
            </a:avLst>
          </a:prstGeom>
          <a:solidFill>
            <a:srgbClr val="1B1D23"/>
          </a:solidFill>
          <a:ln>
            <a:noFill/>
          </a:ln>
        </p:spPr>
        <p:txBody>
          <a:bodyPr/>
          <a:lstStyle/>
          <a:p>
            <a:endParaRPr lang="de-CH"/>
          </a:p>
        </p:txBody>
      </p:sp>
      <p:sp>
        <p:nvSpPr>
          <p:cNvPr id="506" name="Text 506"/>
          <p:cNvSpPr txBox="1"/>
          <p:nvPr/>
        </p:nvSpPr>
        <p:spPr>
          <a:xfrm>
            <a:off x="600000" y="1685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a:solidFill>
                  <a:srgbClr val="FFFFFF"/>
                </a:solidFill>
                <a:latin typeface="Calibri"/>
              </a:rPr>
              <a:t>Delicious Data</a:t>
            </a:r>
          </a:p>
          <a:p>
            <a:pPr algn="l">
              <a:lnSpc>
                <a:spcPct val="95000"/>
              </a:lnSpc>
              <a:spcAft>
                <a:spcPts val="0"/>
              </a:spcAft>
              <a:buNone/>
            </a:pPr>
            <a:r>
              <a:rPr lang="de-CH" sz="800" b="0" i="0">
                <a:solidFill>
                  <a:srgbClr val="B9BEC8"/>
                </a:solidFill>
                <a:latin typeface="Calibri"/>
              </a:rPr>
              <a:t>DE</a:t>
            </a:r>
          </a:p>
        </p:txBody>
      </p:sp>
      <p:sp>
        <p:nvSpPr>
          <p:cNvPr id="507" name="Text 507"/>
          <p:cNvSpPr txBox="1"/>
          <p:nvPr/>
        </p:nvSpPr>
        <p:spPr>
          <a:xfrm>
            <a:off x="1600000" y="1685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Prognose aus Kasse, Wetter, Ferien</a:t>
            </a:r>
          </a:p>
        </p:txBody>
      </p:sp>
      <p:sp>
        <p:nvSpPr>
          <p:cNvPr id="508" name="Text 508"/>
          <p:cNvSpPr txBox="1"/>
          <p:nvPr/>
        </p:nvSpPr>
        <p:spPr>
          <a:xfrm>
            <a:off x="3160000" y="1685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Bäckereien, Betriebsgastronomie</a:t>
            </a:r>
          </a:p>
        </p:txBody>
      </p:sp>
      <p:sp>
        <p:nvSpPr>
          <p:cNvPr id="509" name="Text 509"/>
          <p:cNvSpPr txBox="1"/>
          <p:nvPr/>
        </p:nvSpPr>
        <p:spPr>
          <a:xfrm>
            <a:off x="4410000" y="1685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«Einrichtung in wenigen Tagen», −22 % Retouren</a:t>
            </a:r>
          </a:p>
        </p:txBody>
      </p:sp>
      <p:sp>
        <p:nvSpPr>
          <p:cNvPr id="510" name="Shape 510"/>
          <p:cNvSpPr/>
          <p:nvPr/>
        </p:nvSpPr>
        <p:spPr>
          <a:xfrm>
            <a:off x="540000" y="2078000"/>
            <a:ext cx="5360000" cy="405000"/>
          </a:xfrm>
          <a:prstGeom prst="roundRect">
            <a:avLst>
              <a:gd name="adj" fmla="val 8000"/>
            </a:avLst>
          </a:prstGeom>
          <a:solidFill>
            <a:srgbClr val="1B1D23"/>
          </a:solidFill>
          <a:ln>
            <a:noFill/>
          </a:ln>
        </p:spPr>
        <p:txBody>
          <a:bodyPr/>
          <a:lstStyle/>
          <a:p>
            <a:endParaRPr lang="de-CH"/>
          </a:p>
        </p:txBody>
      </p:sp>
      <p:sp>
        <p:nvSpPr>
          <p:cNvPr id="511" name="Text 511"/>
          <p:cNvSpPr txBox="1"/>
          <p:nvPr/>
        </p:nvSpPr>
        <p:spPr>
          <a:xfrm>
            <a:off x="600000" y="2123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dirty="0" err="1">
                <a:solidFill>
                  <a:srgbClr val="FFFFFF"/>
                </a:solidFill>
                <a:latin typeface="Calibri"/>
              </a:rPr>
              <a:t>Perspective</a:t>
            </a:r>
            <a:r>
              <a:rPr lang="de-CH" sz="900" b="1" i="0" dirty="0">
                <a:solidFill>
                  <a:srgbClr val="FFFFFF"/>
                </a:solidFill>
                <a:latin typeface="Calibri"/>
              </a:rPr>
              <a:t> Food</a:t>
            </a:r>
          </a:p>
          <a:p>
            <a:pPr algn="l">
              <a:lnSpc>
                <a:spcPct val="95000"/>
              </a:lnSpc>
              <a:spcAft>
                <a:spcPts val="0"/>
              </a:spcAft>
              <a:buNone/>
            </a:pPr>
            <a:r>
              <a:rPr lang="de-CH" sz="800" b="0" i="0" dirty="0">
                <a:solidFill>
                  <a:srgbClr val="B9BEC8"/>
                </a:solidFill>
                <a:latin typeface="Calibri"/>
              </a:rPr>
              <a:t>CH</a:t>
            </a:r>
          </a:p>
        </p:txBody>
      </p:sp>
      <p:sp>
        <p:nvSpPr>
          <p:cNvPr id="512" name="Text 512"/>
          <p:cNvSpPr txBox="1"/>
          <p:nvPr/>
        </p:nvSpPr>
        <p:spPr>
          <a:xfrm>
            <a:off x="1600000" y="2123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Prognose aus Verkauf, Wetter, Saison</a:t>
            </a:r>
          </a:p>
        </p:txBody>
      </p:sp>
      <p:sp>
        <p:nvSpPr>
          <p:cNvPr id="513" name="Text 513"/>
          <p:cNvSpPr txBox="1"/>
          <p:nvPr/>
        </p:nvSpPr>
        <p:spPr>
          <a:xfrm>
            <a:off x="3160000" y="2123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Gute Kasse nötig; für kleine Betriebe «oft noch nicht geeignet»</a:t>
            </a:r>
          </a:p>
        </p:txBody>
      </p:sp>
      <p:sp>
        <p:nvSpPr>
          <p:cNvPr id="514" name="Text 514"/>
          <p:cNvSpPr txBox="1"/>
          <p:nvPr/>
        </p:nvSpPr>
        <p:spPr>
          <a:xfrm>
            <a:off x="4410000" y="2123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0" i="0" dirty="0">
                <a:solidFill>
                  <a:srgbClr val="DDE1E8"/>
                </a:solidFill>
                <a:latin typeface="Calibri"/>
              </a:rPr>
              <a:t>−18 % Food </a:t>
            </a:r>
            <a:r>
              <a:rPr lang="de-CH" sz="850" b="0" i="0" dirty="0" err="1">
                <a:solidFill>
                  <a:srgbClr val="DDE1E8"/>
                </a:solidFill>
                <a:latin typeface="Calibri"/>
              </a:rPr>
              <a:t>Waste</a:t>
            </a:r>
            <a:r>
              <a:rPr lang="de-CH" sz="850" b="0" i="0" dirty="0">
                <a:solidFill>
                  <a:srgbClr val="DDE1E8"/>
                </a:solidFill>
                <a:latin typeface="Calibri"/>
              </a:rPr>
              <a:t> im 1. Jahr; </a:t>
            </a:r>
            <a:r>
              <a:rPr lang="de-CH" sz="850" b="0" i="0" dirty="0" err="1">
                <a:solidFill>
                  <a:srgbClr val="DDE1E8"/>
                </a:solidFill>
                <a:latin typeface="Calibri"/>
              </a:rPr>
              <a:t>Basisabo</a:t>
            </a:r>
            <a:r>
              <a:rPr lang="de-CH" sz="850" dirty="0">
                <a:solidFill>
                  <a:srgbClr val="DDE1E8"/>
                </a:solidFill>
                <a:latin typeface="Calibri"/>
              </a:rPr>
              <a:t> ohne Menu und Event</a:t>
            </a:r>
            <a:endParaRPr lang="de-CH" sz="850" b="0" i="0" dirty="0">
              <a:solidFill>
                <a:srgbClr val="DDE1E8"/>
              </a:solidFill>
              <a:latin typeface="Calibri"/>
            </a:endParaRPr>
          </a:p>
        </p:txBody>
      </p:sp>
      <p:sp>
        <p:nvSpPr>
          <p:cNvPr id="515" name="Shape 515"/>
          <p:cNvSpPr/>
          <p:nvPr/>
        </p:nvSpPr>
        <p:spPr>
          <a:xfrm>
            <a:off x="540000" y="2516000"/>
            <a:ext cx="5360000" cy="405000"/>
          </a:xfrm>
          <a:prstGeom prst="roundRect">
            <a:avLst>
              <a:gd name="adj" fmla="val 8000"/>
            </a:avLst>
          </a:prstGeom>
          <a:solidFill>
            <a:srgbClr val="1B1D23"/>
          </a:solidFill>
          <a:ln>
            <a:noFill/>
          </a:ln>
        </p:spPr>
        <p:txBody>
          <a:bodyPr/>
          <a:lstStyle/>
          <a:p>
            <a:endParaRPr lang="de-CH"/>
          </a:p>
        </p:txBody>
      </p:sp>
      <p:sp>
        <p:nvSpPr>
          <p:cNvPr id="516" name="Text 516"/>
          <p:cNvSpPr txBox="1"/>
          <p:nvPr/>
        </p:nvSpPr>
        <p:spPr>
          <a:xfrm>
            <a:off x="600000" y="2561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dirty="0" err="1">
                <a:solidFill>
                  <a:srgbClr val="FFFFFF"/>
                </a:solidFill>
                <a:latin typeface="Calibri"/>
              </a:rPr>
              <a:t>PreciTaste</a:t>
            </a:r>
            <a:endParaRPr lang="de-CH" sz="900" b="1" i="0" dirty="0">
              <a:solidFill>
                <a:srgbClr val="FFFFFF"/>
              </a:solidFill>
              <a:latin typeface="Calibri"/>
            </a:endParaRPr>
          </a:p>
          <a:p>
            <a:pPr algn="l">
              <a:lnSpc>
                <a:spcPct val="95000"/>
              </a:lnSpc>
              <a:spcAft>
                <a:spcPts val="0"/>
              </a:spcAft>
              <a:buNone/>
            </a:pPr>
            <a:r>
              <a:rPr lang="de-CH" sz="800" b="0" i="0" dirty="0">
                <a:solidFill>
                  <a:srgbClr val="B9BEC8"/>
                </a:solidFill>
                <a:latin typeface="Calibri"/>
              </a:rPr>
              <a:t>US</a:t>
            </a:r>
          </a:p>
        </p:txBody>
      </p:sp>
      <p:sp>
        <p:nvSpPr>
          <p:cNvPr id="517" name="Text 517"/>
          <p:cNvSpPr txBox="1"/>
          <p:nvPr/>
        </p:nvSpPr>
        <p:spPr>
          <a:xfrm>
            <a:off x="1600000" y="2561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Prognose inkl. Anlässe und Reservationen</a:t>
            </a:r>
          </a:p>
        </p:txBody>
      </p:sp>
      <p:sp>
        <p:nvSpPr>
          <p:cNvPr id="518" name="Text 518"/>
          <p:cNvSpPr txBox="1"/>
          <p:nvPr/>
        </p:nvSpPr>
        <p:spPr>
          <a:xfrm>
            <a:off x="3160000" y="2561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Systemgastronomie, Ketten</a:t>
            </a:r>
          </a:p>
        </p:txBody>
      </p:sp>
      <p:sp>
        <p:nvSpPr>
          <p:cNvPr id="519" name="Text 519"/>
          <p:cNvSpPr txBox="1"/>
          <p:nvPr/>
        </p:nvSpPr>
        <p:spPr>
          <a:xfrm>
            <a:off x="4410000" y="2561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«85–90 % forecast accuracy», Methode nicht offengelegt</a:t>
            </a:r>
          </a:p>
        </p:txBody>
      </p:sp>
      <p:sp>
        <p:nvSpPr>
          <p:cNvPr id="520" name="Shape 520"/>
          <p:cNvSpPr/>
          <p:nvPr/>
        </p:nvSpPr>
        <p:spPr>
          <a:xfrm>
            <a:off x="540000" y="2954000"/>
            <a:ext cx="5360000" cy="405000"/>
          </a:xfrm>
          <a:prstGeom prst="roundRect">
            <a:avLst>
              <a:gd name="adj" fmla="val 8000"/>
            </a:avLst>
          </a:prstGeom>
          <a:solidFill>
            <a:srgbClr val="1B1D23"/>
          </a:solidFill>
          <a:ln>
            <a:noFill/>
          </a:ln>
        </p:spPr>
        <p:txBody>
          <a:bodyPr/>
          <a:lstStyle/>
          <a:p>
            <a:endParaRPr lang="de-CH"/>
          </a:p>
        </p:txBody>
      </p:sp>
      <p:sp>
        <p:nvSpPr>
          <p:cNvPr id="521" name="Text 521"/>
          <p:cNvSpPr txBox="1"/>
          <p:nvPr/>
        </p:nvSpPr>
        <p:spPr>
          <a:xfrm>
            <a:off x="600000" y="2999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a:solidFill>
                  <a:srgbClr val="FFFFFF"/>
                </a:solidFill>
                <a:latin typeface="Calibri"/>
              </a:rPr>
              <a:t>Tenzo</a:t>
            </a:r>
          </a:p>
          <a:p>
            <a:pPr algn="l">
              <a:lnSpc>
                <a:spcPct val="95000"/>
              </a:lnSpc>
              <a:spcAft>
                <a:spcPts val="0"/>
              </a:spcAft>
              <a:buNone/>
            </a:pPr>
            <a:r>
              <a:rPr lang="de-CH" sz="800" b="0" i="0">
                <a:solidFill>
                  <a:srgbClr val="B9BEC8"/>
                </a:solidFill>
                <a:latin typeface="Calibri"/>
              </a:rPr>
              <a:t>UK</a:t>
            </a:r>
          </a:p>
        </p:txBody>
      </p:sp>
      <p:sp>
        <p:nvSpPr>
          <p:cNvPr id="522" name="Text 522"/>
          <p:cNvSpPr txBox="1"/>
          <p:nvPr/>
        </p:nvSpPr>
        <p:spPr>
          <a:xfrm>
            <a:off x="1600000" y="2999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ML-Prognose bis 3 Wochen</a:t>
            </a:r>
          </a:p>
        </p:txBody>
      </p:sp>
      <p:sp>
        <p:nvSpPr>
          <p:cNvPr id="523" name="Text 523"/>
          <p:cNvSpPr txBox="1"/>
          <p:nvPr/>
        </p:nvSpPr>
        <p:spPr>
          <a:xfrm>
            <a:off x="3160000" y="2999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Einzelbetrieb bis Kette</a:t>
            </a:r>
          </a:p>
        </p:txBody>
      </p:sp>
      <p:sp>
        <p:nvSpPr>
          <p:cNvPr id="524" name="Text 524"/>
          <p:cNvSpPr txBox="1"/>
          <p:nvPr/>
        </p:nvSpPr>
        <p:spPr>
          <a:xfrm>
            <a:off x="4410000" y="2999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keine öffentliche Genauigkeitsangabe</a:t>
            </a:r>
          </a:p>
        </p:txBody>
      </p:sp>
      <p:sp>
        <p:nvSpPr>
          <p:cNvPr id="525" name="Shape 525"/>
          <p:cNvSpPr/>
          <p:nvPr/>
        </p:nvSpPr>
        <p:spPr>
          <a:xfrm>
            <a:off x="540000" y="3392000"/>
            <a:ext cx="5360000" cy="405000"/>
          </a:xfrm>
          <a:prstGeom prst="roundRect">
            <a:avLst>
              <a:gd name="adj" fmla="val 8000"/>
            </a:avLst>
          </a:prstGeom>
          <a:solidFill>
            <a:srgbClr val="1B1D23"/>
          </a:solidFill>
          <a:ln>
            <a:noFill/>
          </a:ln>
        </p:spPr>
        <p:txBody>
          <a:bodyPr/>
          <a:lstStyle/>
          <a:p>
            <a:endParaRPr lang="de-CH"/>
          </a:p>
        </p:txBody>
      </p:sp>
      <p:sp>
        <p:nvSpPr>
          <p:cNvPr id="526" name="Text 526"/>
          <p:cNvSpPr txBox="1"/>
          <p:nvPr/>
        </p:nvSpPr>
        <p:spPr>
          <a:xfrm>
            <a:off x="600000" y="3437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a:solidFill>
                  <a:srgbClr val="FFFFFF"/>
                </a:solidFill>
                <a:latin typeface="Calibri"/>
              </a:rPr>
              <a:t>KITRO · Winnow</a:t>
            </a:r>
          </a:p>
          <a:p>
            <a:pPr algn="l">
              <a:lnSpc>
                <a:spcPct val="95000"/>
              </a:lnSpc>
              <a:spcAft>
                <a:spcPts val="0"/>
              </a:spcAft>
              <a:buNone/>
            </a:pPr>
            <a:r>
              <a:rPr lang="de-CH" sz="800" b="0" i="0">
                <a:solidFill>
                  <a:srgbClr val="B9BEC8"/>
                </a:solidFill>
                <a:latin typeface="Calibri"/>
              </a:rPr>
              <a:t>CH · UK</a:t>
            </a:r>
          </a:p>
        </p:txBody>
      </p:sp>
      <p:sp>
        <p:nvSpPr>
          <p:cNvPr id="527" name="Text 527"/>
          <p:cNvSpPr txBox="1"/>
          <p:nvPr/>
        </p:nvSpPr>
        <p:spPr>
          <a:xfrm>
            <a:off x="1600000" y="3437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Messen den Abfall im Kübel – danach, nicht davor</a:t>
            </a:r>
          </a:p>
        </p:txBody>
      </p:sp>
      <p:sp>
        <p:nvSpPr>
          <p:cNvPr id="528" name="Text 528"/>
          <p:cNvSpPr txBox="1"/>
          <p:nvPr/>
        </p:nvSpPr>
        <p:spPr>
          <a:xfrm>
            <a:off x="3160000" y="3437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Hotels, Kantinen, Spitäler</a:t>
            </a:r>
          </a:p>
        </p:txBody>
      </p:sp>
      <p:sp>
        <p:nvSpPr>
          <p:cNvPr id="529" name="Text 529"/>
          <p:cNvSpPr txBox="1"/>
          <p:nvPr/>
        </p:nvSpPr>
        <p:spPr>
          <a:xfrm>
            <a:off x="4410000" y="3437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bis −60 % bzw. −50 % Food Waste</a:t>
            </a:r>
          </a:p>
        </p:txBody>
      </p:sp>
      <p:sp>
        <p:nvSpPr>
          <p:cNvPr id="530" name="Shape 530"/>
          <p:cNvSpPr/>
          <p:nvPr/>
        </p:nvSpPr>
        <p:spPr>
          <a:xfrm>
            <a:off x="540000" y="3830000"/>
            <a:ext cx="5360000" cy="405000"/>
          </a:xfrm>
          <a:prstGeom prst="roundRect">
            <a:avLst>
              <a:gd name="adj" fmla="val 8000"/>
            </a:avLst>
          </a:prstGeom>
          <a:solidFill>
            <a:srgbClr val="14261C"/>
          </a:solidFill>
          <a:ln w="19050">
            <a:solidFill>
              <a:srgbClr val="2FBF71"/>
            </a:solidFill>
          </a:ln>
        </p:spPr>
        <p:txBody>
          <a:bodyPr/>
          <a:lstStyle/>
          <a:p>
            <a:endParaRPr lang="de-CH"/>
          </a:p>
        </p:txBody>
      </p:sp>
      <p:sp>
        <p:nvSpPr>
          <p:cNvPr id="531" name="Text 531"/>
          <p:cNvSpPr txBox="1"/>
          <p:nvPr/>
        </p:nvSpPr>
        <p:spPr>
          <a:xfrm>
            <a:off x="600000" y="3875000"/>
            <a:ext cx="900000" cy="335000"/>
          </a:xfrm>
          <a:prstGeom prst="rect">
            <a:avLst/>
          </a:prstGeom>
          <a:noFill/>
        </p:spPr>
        <p:txBody>
          <a:bodyPr wrap="square" lIns="0" tIns="0" rIns="0" bIns="0" anchor="ctr">
            <a:normAutofit/>
          </a:bodyPr>
          <a:lstStyle/>
          <a:p>
            <a:pPr algn="l">
              <a:lnSpc>
                <a:spcPct val="95000"/>
              </a:lnSpc>
              <a:spcAft>
                <a:spcPts val="0"/>
              </a:spcAft>
              <a:buNone/>
            </a:pPr>
            <a:r>
              <a:rPr lang="de-CH" sz="900" b="1" i="0">
                <a:solidFill>
                  <a:srgbClr val="2FBF71"/>
                </a:solidFill>
                <a:latin typeface="Calibri"/>
              </a:rPr>
              <a:t>SmartGastro.ai</a:t>
            </a:r>
          </a:p>
          <a:p>
            <a:pPr algn="l">
              <a:lnSpc>
                <a:spcPct val="95000"/>
              </a:lnSpc>
              <a:spcAft>
                <a:spcPts val="0"/>
              </a:spcAft>
              <a:buNone/>
            </a:pPr>
            <a:r>
              <a:rPr lang="de-CH" sz="800" b="0" i="0">
                <a:solidFill>
                  <a:srgbClr val="B9BEC8"/>
                </a:solidFill>
                <a:latin typeface="Calibri"/>
              </a:rPr>
              <a:t>CH</a:t>
            </a:r>
          </a:p>
        </p:txBody>
      </p:sp>
      <p:sp>
        <p:nvSpPr>
          <p:cNvPr id="532" name="Text 532"/>
          <p:cNvSpPr txBox="1"/>
          <p:nvPr/>
        </p:nvSpPr>
        <p:spPr>
          <a:xfrm>
            <a:off x="1600000" y="3875000"/>
            <a:ext cx="1460000" cy="335000"/>
          </a:xfrm>
          <a:prstGeom prst="rect">
            <a:avLst/>
          </a:prstGeom>
          <a:noFill/>
        </p:spPr>
        <p:txBody>
          <a:bodyPr wrap="square" lIns="0" tIns="0" rIns="0" bIns="0" anchor="ctr">
            <a:normAutofit/>
          </a:bodyPr>
          <a:lstStyle/>
          <a:p>
            <a:pPr algn="l">
              <a:lnSpc>
                <a:spcPct val="95000"/>
              </a:lnSpc>
              <a:spcAft>
                <a:spcPts val="0"/>
              </a:spcAft>
              <a:buNone/>
            </a:pPr>
            <a:r>
              <a:rPr lang="de-CH" sz="850" b="0" i="0">
                <a:solidFill>
                  <a:srgbClr val="DDE1E8"/>
                </a:solidFill>
                <a:latin typeface="Calibri"/>
              </a:rPr>
              <a:t>Kasse, Wetter, Anlässe, Tagesmenü + KI-Delta</a:t>
            </a:r>
          </a:p>
        </p:txBody>
      </p:sp>
      <p:sp>
        <p:nvSpPr>
          <p:cNvPr id="533" name="Text 533"/>
          <p:cNvSpPr txBox="1"/>
          <p:nvPr/>
        </p:nvSpPr>
        <p:spPr>
          <a:xfrm>
            <a:off x="3160000" y="3875000"/>
            <a:ext cx="1150000" cy="335000"/>
          </a:xfrm>
          <a:prstGeom prst="rect">
            <a:avLst/>
          </a:prstGeom>
          <a:noFill/>
        </p:spPr>
        <p:txBody>
          <a:bodyPr wrap="square" lIns="0" tIns="0" rIns="0" bIns="0" anchor="ctr">
            <a:normAutofit/>
          </a:bodyPr>
          <a:lstStyle/>
          <a:p>
            <a:pPr algn="l">
              <a:lnSpc>
                <a:spcPct val="95000"/>
              </a:lnSpc>
              <a:spcAft>
                <a:spcPts val="0"/>
              </a:spcAft>
              <a:buNone/>
            </a:pPr>
            <a:r>
              <a:rPr lang="de-CH" sz="850" b="0" i="0" dirty="0">
                <a:solidFill>
                  <a:srgbClr val="DDE1E8"/>
                </a:solidFill>
                <a:latin typeface="Calibri"/>
              </a:rPr>
              <a:t>À-la-carte-Einzelbetrieb mit Garten</a:t>
            </a:r>
          </a:p>
        </p:txBody>
      </p:sp>
      <p:sp>
        <p:nvSpPr>
          <p:cNvPr id="534" name="Text 534"/>
          <p:cNvSpPr txBox="1"/>
          <p:nvPr/>
        </p:nvSpPr>
        <p:spPr>
          <a:xfrm>
            <a:off x="4410000" y="3875000"/>
            <a:ext cx="1450000" cy="335000"/>
          </a:xfrm>
          <a:prstGeom prst="rect">
            <a:avLst/>
          </a:prstGeom>
          <a:noFill/>
        </p:spPr>
        <p:txBody>
          <a:bodyPr wrap="square" lIns="0" tIns="0" rIns="0" bIns="0" anchor="ctr">
            <a:normAutofit/>
          </a:bodyPr>
          <a:lstStyle/>
          <a:p>
            <a:pPr algn="l">
              <a:lnSpc>
                <a:spcPct val="95000"/>
              </a:lnSpc>
              <a:spcAft>
                <a:spcPts val="0"/>
              </a:spcAft>
              <a:buNone/>
            </a:pPr>
            <a:r>
              <a:rPr lang="de-CH" sz="850" b="1" i="0">
                <a:solidFill>
                  <a:srgbClr val="DDE1E8"/>
                </a:solidFill>
                <a:latin typeface="Calibri"/>
              </a:rPr>
              <a:t>43.2 % gegen 81.4 % Baseline; CHF 7’500 + 400/Mt.</a:t>
            </a:r>
          </a:p>
        </p:txBody>
      </p:sp>
      <p:sp>
        <p:nvSpPr>
          <p:cNvPr id="535" name="Shape 535"/>
          <p:cNvSpPr/>
          <p:nvPr/>
        </p:nvSpPr>
        <p:spPr>
          <a:xfrm>
            <a:off x="6020000" y="1380000"/>
            <a:ext cx="2584000" cy="2855000"/>
          </a:xfrm>
          <a:prstGeom prst="roundRect">
            <a:avLst>
              <a:gd name="adj" fmla="val 8000"/>
            </a:avLst>
          </a:prstGeom>
          <a:solidFill>
            <a:srgbClr val="14261C"/>
          </a:solidFill>
          <a:ln w="19050">
            <a:solidFill>
              <a:srgbClr val="2FBF71"/>
            </a:solidFill>
          </a:ln>
        </p:spPr>
        <p:txBody>
          <a:bodyPr/>
          <a:lstStyle/>
          <a:p>
            <a:endParaRPr lang="de-CH"/>
          </a:p>
        </p:txBody>
      </p:sp>
      <p:sp>
        <p:nvSpPr>
          <p:cNvPr id="536" name="Text 536"/>
          <p:cNvSpPr txBox="1"/>
          <p:nvPr/>
        </p:nvSpPr>
        <p:spPr>
          <a:xfrm>
            <a:off x="6130000" y="1470000"/>
            <a:ext cx="2364000" cy="2715000"/>
          </a:xfrm>
          <a:prstGeom prst="rect">
            <a:avLst/>
          </a:prstGeom>
          <a:noFill/>
        </p:spPr>
        <p:txBody>
          <a:bodyPr wrap="square" lIns="0" tIns="0" rIns="0" bIns="0" anchor="t">
            <a:normAutofit/>
          </a:bodyPr>
          <a:lstStyle/>
          <a:p>
            <a:pPr algn="l">
              <a:lnSpc>
                <a:spcPct val="95000"/>
              </a:lnSpc>
              <a:spcAft>
                <a:spcPts val="500"/>
              </a:spcAft>
              <a:buNone/>
            </a:pPr>
            <a:r>
              <a:rPr lang="de-CH" sz="1200" b="1" i="0">
                <a:solidFill>
                  <a:srgbClr val="2FBF71"/>
                </a:solidFill>
                <a:latin typeface="Calibri"/>
              </a:rPr>
              <a:t>Einordnung SmartGastro.ai</a:t>
            </a:r>
          </a:p>
          <a:p>
            <a:pPr marL="137160" indent="-137160" algn="l">
              <a:lnSpc>
                <a:spcPct val="95000"/>
              </a:lnSpc>
              <a:spcAft>
                <a:spcPts val="400"/>
              </a:spcAft>
              <a:buFont typeface="Arial"/>
              <a:buChar char="•"/>
            </a:pPr>
            <a:r>
              <a:rPr lang="de-CH" sz="950" b="1" i="0">
                <a:solidFill>
                  <a:srgbClr val="FFFFFF"/>
                </a:solidFill>
                <a:latin typeface="Calibri"/>
              </a:rPr>
              <a:t>Erst Daten, dann Modell. </a:t>
            </a:r>
            <a:r>
              <a:rPr lang="de-CH" sz="950" b="0" i="0">
                <a:solidFill>
                  <a:srgbClr val="DDE1E8"/>
                </a:solidFill>
                <a:latin typeface="Calibri"/>
              </a:rPr>
              <a:t>Das KI-Delta lernt seit 06/2026 jeden Tag mit, 3’242 Korrekturwerte.</a:t>
            </a:r>
          </a:p>
          <a:p>
            <a:pPr marL="137160" indent="-137160" algn="l">
              <a:lnSpc>
                <a:spcPct val="95000"/>
              </a:lnSpc>
              <a:spcAft>
                <a:spcPts val="400"/>
              </a:spcAft>
              <a:buFont typeface="Arial"/>
              <a:buChar char="•"/>
            </a:pPr>
            <a:r>
              <a:rPr lang="de-CH" sz="950" b="1" i="0">
                <a:solidFill>
                  <a:srgbClr val="FFFFFF"/>
                </a:solidFill>
                <a:latin typeface="Calibri"/>
              </a:rPr>
              <a:t>Messung offengelegt. </a:t>
            </a:r>
            <a:r>
              <a:rPr lang="de-CH" sz="950" b="0" i="0">
                <a:solidFill>
                  <a:srgbClr val="DDE1E8"/>
                </a:solidFill>
                <a:latin typeface="Calibri"/>
              </a:rPr>
              <a:t>Backtest gegen eine Baseline, Grenzen offen benannt.</a:t>
            </a:r>
          </a:p>
          <a:p>
            <a:pPr marL="137160" indent="-137160" algn="l">
              <a:lnSpc>
                <a:spcPct val="95000"/>
              </a:lnSpc>
              <a:spcAft>
                <a:spcPts val="400"/>
              </a:spcAft>
              <a:buFont typeface="Arial"/>
              <a:buChar char="•"/>
            </a:pPr>
            <a:r>
              <a:rPr lang="de-CH" sz="950" b="1" i="0">
                <a:solidFill>
                  <a:srgbClr val="FFFFFF"/>
                </a:solidFill>
                <a:latin typeface="Calibri"/>
              </a:rPr>
              <a:t>Ausverkauf berücksichtigt. </a:t>
            </a:r>
            <a:r>
              <a:rPr lang="de-CH" sz="950" b="0" i="0">
                <a:solidFill>
                  <a:srgbClr val="DDE1E8"/>
                </a:solidFill>
                <a:latin typeface="Calibri"/>
              </a:rPr>
              <a:t>Die Prognose lernt dann nur nach oben.</a:t>
            </a:r>
          </a:p>
          <a:p>
            <a:pPr marL="137160" indent="-137160" algn="l">
              <a:lnSpc>
                <a:spcPct val="95000"/>
              </a:lnSpc>
              <a:spcAft>
                <a:spcPts val="0"/>
              </a:spcAft>
              <a:buFont typeface="Arial"/>
              <a:buChar char="•"/>
            </a:pPr>
            <a:r>
              <a:rPr lang="de-CH" sz="950" b="1" i="0">
                <a:solidFill>
                  <a:srgbClr val="FFFFFF"/>
                </a:solidFill>
                <a:latin typeface="Calibri"/>
              </a:rPr>
              <a:t>Modellwechsel nach Beleg. </a:t>
            </a:r>
            <a:r>
              <a:rPr lang="de-CH" sz="950" b="0" i="0">
                <a:solidFill>
                  <a:srgbClr val="DDE1E8"/>
                </a:solidFill>
                <a:latin typeface="Calibri"/>
              </a:rPr>
              <a:t>XGBoost erst nach zwei Saisonzyklen im Schattenbetrieb.</a:t>
            </a:r>
          </a:p>
        </p:txBody>
      </p:sp>
      <p:sp>
        <p:nvSpPr>
          <p:cNvPr id="537" name="Text 537"/>
          <p:cNvSpPr txBox="1"/>
          <p:nvPr/>
        </p:nvSpPr>
        <p:spPr>
          <a:xfrm>
            <a:off x="540000" y="4295000"/>
            <a:ext cx="8064000" cy="330000"/>
          </a:xfrm>
          <a:prstGeom prst="rect">
            <a:avLst/>
          </a:prstGeom>
          <a:noFill/>
        </p:spPr>
        <p:txBody>
          <a:bodyPr wrap="square" lIns="0" tIns="0" rIns="0" bIns="0" anchor="t">
            <a:normAutofit/>
          </a:bodyPr>
          <a:lstStyle/>
          <a:p>
            <a:pPr algn="l">
              <a:lnSpc>
                <a:spcPct val="95000"/>
              </a:lnSpc>
              <a:spcAft>
                <a:spcPts val="0"/>
              </a:spcAft>
              <a:buNone/>
            </a:pPr>
            <a:r>
              <a:rPr lang="de-CH" sz="900" b="1" i="0">
                <a:solidFill>
                  <a:srgbClr val="FF6B35"/>
                </a:solidFill>
                <a:latin typeface="Calibri"/>
              </a:rPr>
              <a:t>Gastia 2026, St. Gallen: </a:t>
            </a:r>
            <a:r>
              <a:rPr lang="de-CH" sz="900" b="0" i="0">
                <a:solidFill>
                  <a:srgbClr val="B9BEC8"/>
                </a:solidFill>
                <a:latin typeface="Calibri"/>
              </a:rPr>
              <a:t>Die Sonderschau «Fokus KI» zeigte Dienstplanung, Bewertungsmanagement, digitale Assistenten. Eigene Beobachtung an Messen: viele schnelle Lösungen, keine belegte Mengenprognose für die Küche.</a:t>
            </a:r>
          </a:p>
        </p:txBody>
      </p:sp>
      <p:sp>
        <p:nvSpPr>
          <p:cNvPr id="20" name="TextBox 19"/>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21" name="TextBox 20">
            <a:hlinkClick r:id="" action="ppaction://noaction"/>
          </p:cNvPr>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H  ·  BENCHMARK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39496" y="365760"/>
            <a:ext cx="8065008" cy="457200"/>
          </a:xfrm>
          <a:prstGeom prst="rect">
            <a:avLst/>
          </a:prstGeom>
          <a:noFill/>
        </p:spPr>
        <p:txBody>
          <a:bodyPr wrap="square" lIns="0" tIns="0" rIns="0" bIns="0" anchor="t">
            <a:spAutoFit/>
          </a:bodyPr>
          <a:lstStyle/>
          <a:p>
            <a:pPr algn="l"/>
            <a:r>
              <a:rPr sz="2600" b="1">
                <a:solidFill>
                  <a:srgbClr val="FFFFFF"/>
                </a:solidFill>
                <a:latin typeface="Calibri"/>
              </a:rPr>
              <a:t>UC01 Nachfrageprognose</a:t>
            </a:r>
            <a:r>
              <a:rPr sz="2600" b="1">
                <a:solidFill>
                  <a:srgbClr val="22C55E"/>
                </a:solidFill>
                <a:latin typeface="Calibri"/>
              </a:rPr>
              <a:t>  ·  4.55 / 5  ·  Platz 1</a:t>
            </a:r>
          </a:p>
        </p:txBody>
      </p:sp>
      <p:sp>
        <p:nvSpPr>
          <p:cNvPr id="3" name="TextBox 2"/>
          <p:cNvSpPr txBox="1"/>
          <p:nvPr/>
        </p:nvSpPr>
        <p:spPr>
          <a:xfrm>
            <a:off x="539496" y="850392"/>
            <a:ext cx="8065008" cy="365760"/>
          </a:xfrm>
          <a:prstGeom prst="rect">
            <a:avLst/>
          </a:prstGeom>
          <a:noFill/>
        </p:spPr>
        <p:txBody>
          <a:bodyPr wrap="square" lIns="0" tIns="0" rIns="0" bIns="0" anchor="t">
            <a:spAutoFit/>
          </a:bodyPr>
          <a:lstStyle/>
          <a:p>
            <a:pPr algn="l"/>
            <a:r>
              <a:rPr sz="1100" b="0">
                <a:solidFill>
                  <a:srgbClr val="B9BEC8"/>
                </a:solidFill>
                <a:latin typeface="Calibri"/>
              </a:rPr>
              <a:t>Einziger Use Case, bei dem Daten, Nutzen, Prototyp, Akzeptanz und Anschlussfähigkeit alle belegt sind – und die Grundlage für UC02 und UC03.</a:t>
            </a:r>
          </a:p>
        </p:txBody>
      </p:sp>
      <p:sp>
        <p:nvSpPr>
          <p:cNvPr id="4" name="Rounded Rectangle 3"/>
          <p:cNvSpPr/>
          <p:nvPr/>
        </p:nvSpPr>
        <p:spPr>
          <a:xfrm>
            <a:off x="539496" y="1298448"/>
            <a:ext cx="8065008" cy="525780"/>
          </a:xfrm>
          <a:prstGeom prst="roundRect">
            <a:avLst>
              <a:gd name="adj" fmla="val 6000"/>
            </a:avLst>
          </a:prstGeom>
          <a:solidFill>
            <a:srgbClr val="12241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98448"/>
            <a:ext cx="1600200" cy="525780"/>
          </a:xfrm>
          <a:prstGeom prst="rect">
            <a:avLst/>
          </a:prstGeom>
          <a:noFill/>
        </p:spPr>
        <p:txBody>
          <a:bodyPr wrap="square" lIns="0" tIns="0" rIns="0" bIns="0" anchor="ctr">
            <a:spAutoFit/>
          </a:bodyPr>
          <a:lstStyle/>
          <a:p>
            <a:pPr algn="l"/>
            <a:r>
              <a:rPr sz="1100" b="1">
                <a:solidFill>
                  <a:srgbClr val="FFFFFF"/>
                </a:solidFill>
                <a:latin typeface="Calibri"/>
              </a:rPr>
              <a:t>Datenverfügbarkeit</a:t>
            </a:r>
          </a:p>
          <a:p>
            <a:pPr algn="l"/>
            <a:r>
              <a:rPr sz="950" b="0">
                <a:solidFill>
                  <a:srgbClr val="B9BEC8"/>
                </a:solidFill>
                <a:latin typeface="Calibri"/>
              </a:rPr>
              <a:t>30 %  ·  </a:t>
            </a:r>
            <a:r>
              <a:rPr sz="950" b="1">
                <a:solidFill>
                  <a:srgbClr val="22C55E"/>
                </a:solidFill>
                <a:latin typeface="Calibri"/>
              </a:rPr>
              <a:t>Beleg</a:t>
            </a:r>
          </a:p>
        </p:txBody>
      </p:sp>
      <p:sp>
        <p:nvSpPr>
          <p:cNvPr id="6" name="TextBox 5"/>
          <p:cNvSpPr txBox="1"/>
          <p:nvPr/>
        </p:nvSpPr>
        <p:spPr>
          <a:xfrm>
            <a:off x="2286000" y="1298448"/>
            <a:ext cx="566928" cy="525780"/>
          </a:xfrm>
          <a:prstGeom prst="rect">
            <a:avLst/>
          </a:prstGeom>
          <a:noFill/>
        </p:spPr>
        <p:txBody>
          <a:bodyPr wrap="square" lIns="0" tIns="0" rIns="0" bIns="0" anchor="ctr">
            <a:spAutoFit/>
          </a:bodyPr>
          <a:lstStyle/>
          <a:p>
            <a:pPr algn="ctr"/>
            <a:r>
              <a:rPr sz="2200" b="1">
                <a:solidFill>
                  <a:srgbClr val="22C55E"/>
                </a:solidFill>
                <a:latin typeface="Calibri"/>
              </a:rPr>
              <a:t>4</a:t>
            </a:r>
          </a:p>
        </p:txBody>
      </p:sp>
      <p:sp>
        <p:nvSpPr>
          <p:cNvPr id="7" name="TextBox 6"/>
          <p:cNvSpPr txBox="1"/>
          <p:nvPr/>
        </p:nvSpPr>
        <p:spPr>
          <a:xfrm>
            <a:off x="2944368" y="1298448"/>
            <a:ext cx="5532120" cy="525780"/>
          </a:xfrm>
          <a:prstGeom prst="rect">
            <a:avLst/>
          </a:prstGeom>
          <a:noFill/>
        </p:spPr>
        <p:txBody>
          <a:bodyPr wrap="square" lIns="0" tIns="0" rIns="0" bIns="0" anchor="ctr">
            <a:spAutoFit/>
          </a:bodyPr>
          <a:lstStyle/>
          <a:p>
            <a:pPr algn="l"/>
            <a:r>
              <a:rPr sz="1000" b="0">
                <a:solidFill>
                  <a:srgbClr val="FFFFFF"/>
                </a:solidFill>
                <a:latin typeface="Calibri"/>
              </a:rPr>
              <a:t>POS-Transaktionen sind buchhalterisch zu 100 % zuverlässig, Wetter und Kalender offen verfügbar. Kein 5: Real-Erfassung manuell, Sammel-PLUs, Zeitraum 06.04.2025–02.08.2026 doppelt gezählt (Anhang C).</a:t>
            </a:r>
          </a:p>
        </p:txBody>
      </p:sp>
      <p:sp>
        <p:nvSpPr>
          <p:cNvPr id="8" name="Rounded Rectangle 7"/>
          <p:cNvSpPr/>
          <p:nvPr/>
        </p:nvSpPr>
        <p:spPr>
          <a:xfrm>
            <a:off x="539496" y="1865376"/>
            <a:ext cx="8065008" cy="525780"/>
          </a:xfrm>
          <a:prstGeom prst="roundRect">
            <a:avLst>
              <a:gd name="adj" fmla="val 6000"/>
            </a:avLst>
          </a:prstGeom>
          <a:solidFill>
            <a:srgbClr val="12241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865376"/>
            <a:ext cx="1600200" cy="525780"/>
          </a:xfrm>
          <a:prstGeom prst="rect">
            <a:avLst/>
          </a:prstGeom>
          <a:noFill/>
        </p:spPr>
        <p:txBody>
          <a:bodyPr wrap="square" lIns="0" tIns="0" rIns="0" bIns="0" anchor="ctr">
            <a:spAutoFit/>
          </a:bodyPr>
          <a:lstStyle/>
          <a:p>
            <a:pPr algn="l"/>
            <a:r>
              <a:rPr sz="1100" b="1">
                <a:solidFill>
                  <a:srgbClr val="FFFFFF"/>
                </a:solidFill>
                <a:latin typeface="Calibri"/>
              </a:rPr>
              <a:t>Wirtschaftlichkeit</a:t>
            </a:r>
          </a:p>
          <a:p>
            <a:pPr algn="l"/>
            <a:r>
              <a:rPr sz="950" b="0">
                <a:solidFill>
                  <a:srgbClr val="B9BEC8"/>
                </a:solidFill>
                <a:latin typeface="Calibri"/>
              </a:rPr>
              <a:t>20 %  ·  </a:t>
            </a:r>
            <a:r>
              <a:rPr sz="950" b="1">
                <a:solidFill>
                  <a:srgbClr val="22C55E"/>
                </a:solidFill>
                <a:latin typeface="Calibri"/>
              </a:rPr>
              <a:t>Beleg</a:t>
            </a:r>
          </a:p>
        </p:txBody>
      </p:sp>
      <p:sp>
        <p:nvSpPr>
          <p:cNvPr id="10" name="TextBox 9"/>
          <p:cNvSpPr txBox="1"/>
          <p:nvPr/>
        </p:nvSpPr>
        <p:spPr>
          <a:xfrm>
            <a:off x="2286000" y="1865376"/>
            <a:ext cx="566928" cy="525780"/>
          </a:xfrm>
          <a:prstGeom prst="rect">
            <a:avLst/>
          </a:prstGeom>
          <a:noFill/>
        </p:spPr>
        <p:txBody>
          <a:bodyPr wrap="square" lIns="0" tIns="0" rIns="0" bIns="0" anchor="ctr">
            <a:spAutoFit/>
          </a:bodyPr>
          <a:lstStyle/>
          <a:p>
            <a:pPr algn="ctr"/>
            <a:r>
              <a:rPr sz="2200" b="1">
                <a:solidFill>
                  <a:srgbClr val="22C55E"/>
                </a:solidFill>
                <a:latin typeface="Calibri"/>
              </a:rPr>
              <a:t>5</a:t>
            </a:r>
          </a:p>
        </p:txBody>
      </p:sp>
      <p:sp>
        <p:nvSpPr>
          <p:cNvPr id="11" name="TextBox 10"/>
          <p:cNvSpPr txBox="1"/>
          <p:nvPr/>
        </p:nvSpPr>
        <p:spPr>
          <a:xfrm>
            <a:off x="2944368" y="1865376"/>
            <a:ext cx="5532120" cy="525780"/>
          </a:xfrm>
          <a:prstGeom prst="rect">
            <a:avLst/>
          </a:prstGeom>
          <a:noFill/>
        </p:spPr>
        <p:txBody>
          <a:bodyPr wrap="square" lIns="0" tIns="0" rIns="0" bIns="0" anchor="ctr">
            <a:spAutoFit/>
          </a:bodyPr>
          <a:lstStyle/>
          <a:p>
            <a:pPr algn="l"/>
            <a:r>
              <a:rPr sz="1000" b="0">
                <a:solidFill>
                  <a:srgbClr val="FFFFFF"/>
                </a:solidFill>
                <a:latin typeface="Calibri"/>
              </a:rPr>
              <a:t>Food Waste ist der grösste Hebel: CHF 9’000 von CHF 18’750 Jahresnutzen. Kosten Jahr 1 CHF 12’300, Netto-ROI 52 %, Break-even 6.5 Monate.</a:t>
            </a:r>
          </a:p>
        </p:txBody>
      </p:sp>
      <p:sp>
        <p:nvSpPr>
          <p:cNvPr id="12" name="Rounded Rectangle 11"/>
          <p:cNvSpPr/>
          <p:nvPr/>
        </p:nvSpPr>
        <p:spPr>
          <a:xfrm>
            <a:off x="539496" y="2432304"/>
            <a:ext cx="8065008" cy="525780"/>
          </a:xfrm>
          <a:prstGeom prst="roundRect">
            <a:avLst>
              <a:gd name="adj" fmla="val 6000"/>
            </a:avLst>
          </a:prstGeom>
          <a:solidFill>
            <a:srgbClr val="12241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432304"/>
            <a:ext cx="1600200" cy="525780"/>
          </a:xfrm>
          <a:prstGeom prst="rect">
            <a:avLst/>
          </a:prstGeom>
          <a:noFill/>
        </p:spPr>
        <p:txBody>
          <a:bodyPr wrap="square" lIns="0" tIns="0" rIns="0" bIns="0" anchor="ctr">
            <a:spAutoFit/>
          </a:bodyPr>
          <a:lstStyle/>
          <a:p>
            <a:pPr algn="l"/>
            <a:r>
              <a:rPr sz="1100" b="1">
                <a:solidFill>
                  <a:srgbClr val="FFFFFF"/>
                </a:solidFill>
                <a:latin typeface="Calibri"/>
              </a:rPr>
              <a:t>Machbarkeit</a:t>
            </a:r>
          </a:p>
          <a:p>
            <a:pPr algn="l"/>
            <a:r>
              <a:rPr sz="950" b="0">
                <a:solidFill>
                  <a:srgbClr val="B9BEC8"/>
                </a:solidFill>
                <a:latin typeface="Calibri"/>
              </a:rPr>
              <a:t>15 %  ·  </a:t>
            </a:r>
            <a:r>
              <a:rPr sz="950" b="1">
                <a:solidFill>
                  <a:srgbClr val="22C55E"/>
                </a:solidFill>
                <a:latin typeface="Calibri"/>
              </a:rPr>
              <a:t>Beleg</a:t>
            </a:r>
          </a:p>
        </p:txBody>
      </p:sp>
      <p:sp>
        <p:nvSpPr>
          <p:cNvPr id="14" name="TextBox 13"/>
          <p:cNvSpPr txBox="1"/>
          <p:nvPr/>
        </p:nvSpPr>
        <p:spPr>
          <a:xfrm>
            <a:off x="2286000" y="2432304"/>
            <a:ext cx="566928" cy="525780"/>
          </a:xfrm>
          <a:prstGeom prst="rect">
            <a:avLst/>
          </a:prstGeom>
          <a:noFill/>
        </p:spPr>
        <p:txBody>
          <a:bodyPr wrap="square" lIns="0" tIns="0" rIns="0" bIns="0" anchor="ctr">
            <a:spAutoFit/>
          </a:bodyPr>
          <a:lstStyle/>
          <a:p>
            <a:pPr algn="ctr"/>
            <a:r>
              <a:rPr sz="2200" b="1">
                <a:solidFill>
                  <a:srgbClr val="22C55E"/>
                </a:solidFill>
                <a:latin typeface="Calibri"/>
              </a:rPr>
              <a:t>4</a:t>
            </a:r>
          </a:p>
        </p:txBody>
      </p:sp>
      <p:sp>
        <p:nvSpPr>
          <p:cNvPr id="15" name="TextBox 14"/>
          <p:cNvSpPr txBox="1"/>
          <p:nvPr/>
        </p:nvSpPr>
        <p:spPr>
          <a:xfrm>
            <a:off x="2944368" y="2432304"/>
            <a:ext cx="5532120" cy="525780"/>
          </a:xfrm>
          <a:prstGeom prst="rect">
            <a:avLst/>
          </a:prstGeom>
          <a:noFill/>
        </p:spPr>
        <p:txBody>
          <a:bodyPr wrap="square" lIns="0" tIns="0" rIns="0" bIns="0" anchor="ctr">
            <a:spAutoFit/>
          </a:bodyPr>
          <a:lstStyle/>
          <a:p>
            <a:pPr algn="l"/>
            <a:r>
              <a:rPr sz="1000" b="0">
                <a:solidFill>
                  <a:srgbClr val="FFFFFF"/>
                </a:solidFill>
                <a:latin typeface="Calibri"/>
              </a:rPr>
              <a:t>Prototyp läuft im Pilotbetrieb seit Mai 2026, WaiterOne hat die REST API v2 bestätigt. Kein 5: Der Schlüssel wurde nicht erteilt, der Ticketabruf läuft seit 11.09. über das Back-Office.</a:t>
            </a:r>
          </a:p>
        </p:txBody>
      </p:sp>
      <p:sp>
        <p:nvSpPr>
          <p:cNvPr id="16" name="Rounded Rectangle 15"/>
          <p:cNvSpPr/>
          <p:nvPr/>
        </p:nvSpPr>
        <p:spPr>
          <a:xfrm>
            <a:off x="539496" y="2999232"/>
            <a:ext cx="8065008" cy="525780"/>
          </a:xfrm>
          <a:prstGeom prst="roundRect">
            <a:avLst>
              <a:gd name="adj" fmla="val 6000"/>
            </a:avLst>
          </a:prstGeom>
          <a:solidFill>
            <a:srgbClr val="12241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99232"/>
            <a:ext cx="1600200" cy="525780"/>
          </a:xfrm>
          <a:prstGeom prst="rect">
            <a:avLst/>
          </a:prstGeom>
          <a:noFill/>
        </p:spPr>
        <p:txBody>
          <a:bodyPr wrap="square" lIns="0" tIns="0" rIns="0" bIns="0" anchor="ctr">
            <a:spAutoFit/>
          </a:bodyPr>
          <a:lstStyle/>
          <a:p>
            <a:pPr algn="l"/>
            <a:r>
              <a:rPr sz="1100" b="1">
                <a:solidFill>
                  <a:srgbClr val="FFFFFF"/>
                </a:solidFill>
                <a:latin typeface="Calibri"/>
              </a:rPr>
              <a:t>Akzeptanz</a:t>
            </a:r>
          </a:p>
          <a:p>
            <a:pPr algn="l"/>
            <a:r>
              <a:rPr sz="950" b="0">
                <a:solidFill>
                  <a:srgbClr val="B9BEC8"/>
                </a:solidFill>
                <a:latin typeface="Calibri"/>
              </a:rPr>
              <a:t>15 %  ·  </a:t>
            </a:r>
            <a:r>
              <a:rPr sz="950" b="1">
                <a:solidFill>
                  <a:srgbClr val="22C55E"/>
                </a:solidFill>
                <a:latin typeface="Calibri"/>
              </a:rPr>
              <a:t>Beleg</a:t>
            </a:r>
          </a:p>
        </p:txBody>
      </p:sp>
      <p:sp>
        <p:nvSpPr>
          <p:cNvPr id="18" name="TextBox 17"/>
          <p:cNvSpPr txBox="1"/>
          <p:nvPr/>
        </p:nvSpPr>
        <p:spPr>
          <a:xfrm>
            <a:off x="2286000" y="2999232"/>
            <a:ext cx="566928" cy="525780"/>
          </a:xfrm>
          <a:prstGeom prst="rect">
            <a:avLst/>
          </a:prstGeom>
          <a:noFill/>
        </p:spPr>
        <p:txBody>
          <a:bodyPr wrap="square" lIns="0" tIns="0" rIns="0" bIns="0" anchor="ctr">
            <a:spAutoFit/>
          </a:bodyPr>
          <a:lstStyle/>
          <a:p>
            <a:pPr algn="ctr"/>
            <a:r>
              <a:rPr sz="2200" b="1">
                <a:solidFill>
                  <a:srgbClr val="22C55E"/>
                </a:solidFill>
                <a:latin typeface="Calibri"/>
              </a:rPr>
              <a:t>5</a:t>
            </a:r>
          </a:p>
        </p:txBody>
      </p:sp>
      <p:sp>
        <p:nvSpPr>
          <p:cNvPr id="19" name="TextBox 18"/>
          <p:cNvSpPr txBox="1"/>
          <p:nvPr/>
        </p:nvSpPr>
        <p:spPr>
          <a:xfrm>
            <a:off x="2944368" y="2999232"/>
            <a:ext cx="5532120" cy="525780"/>
          </a:xfrm>
          <a:prstGeom prst="rect">
            <a:avLst/>
          </a:prstGeom>
          <a:noFill/>
        </p:spPr>
        <p:txBody>
          <a:bodyPr wrap="square" lIns="0" tIns="0" rIns="0" bIns="0" anchor="ctr">
            <a:spAutoFit/>
          </a:bodyPr>
          <a:lstStyle/>
          <a:p>
            <a:pPr algn="l"/>
            <a:r>
              <a:rPr sz="1000" b="0">
                <a:solidFill>
                  <a:srgbClr val="FFFFFF"/>
                </a:solidFill>
                <a:latin typeface="Calibri"/>
              </a:rPr>
              <a:t>Fotios will genau diese Information – mit Erklärung («Warum diese Zahl?») und Überschreiben. Copilot, nicht Autopilot.</a:t>
            </a:r>
          </a:p>
        </p:txBody>
      </p:sp>
      <p:sp>
        <p:nvSpPr>
          <p:cNvPr id="20" name="Rounded Rectangle 19"/>
          <p:cNvSpPr/>
          <p:nvPr/>
        </p:nvSpPr>
        <p:spPr>
          <a:xfrm>
            <a:off x="539496" y="3566160"/>
            <a:ext cx="8065008" cy="525780"/>
          </a:xfrm>
          <a:prstGeom prst="roundRect">
            <a:avLst>
              <a:gd name="adj" fmla="val 6000"/>
            </a:avLst>
          </a:prstGeom>
          <a:solidFill>
            <a:srgbClr val="12241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566160"/>
            <a:ext cx="1600200" cy="525780"/>
          </a:xfrm>
          <a:prstGeom prst="rect">
            <a:avLst/>
          </a:prstGeom>
          <a:noFill/>
        </p:spPr>
        <p:txBody>
          <a:bodyPr wrap="square" lIns="0" tIns="0" rIns="0" bIns="0" anchor="ctr">
            <a:spAutoFit/>
          </a:bodyPr>
          <a:lstStyle/>
          <a:p>
            <a:pPr algn="l"/>
            <a:r>
              <a:rPr sz="1100" b="1">
                <a:solidFill>
                  <a:srgbClr val="FFFFFF"/>
                </a:solidFill>
                <a:latin typeface="Calibri"/>
              </a:rPr>
              <a:t>Strategische Passung</a:t>
            </a:r>
          </a:p>
          <a:p>
            <a:pPr algn="l"/>
            <a:r>
              <a:rPr sz="950" b="0">
                <a:solidFill>
                  <a:srgbClr val="B9BEC8"/>
                </a:solidFill>
                <a:latin typeface="Calibri"/>
              </a:rPr>
              <a:t>20 %  ·  </a:t>
            </a:r>
            <a:r>
              <a:rPr sz="950" b="1">
                <a:solidFill>
                  <a:srgbClr val="22C55E"/>
                </a:solidFill>
                <a:latin typeface="Calibri"/>
              </a:rPr>
              <a:t>Beleg</a:t>
            </a:r>
          </a:p>
        </p:txBody>
      </p:sp>
      <p:sp>
        <p:nvSpPr>
          <p:cNvPr id="22" name="TextBox 21"/>
          <p:cNvSpPr txBox="1"/>
          <p:nvPr/>
        </p:nvSpPr>
        <p:spPr>
          <a:xfrm>
            <a:off x="2286000" y="3566160"/>
            <a:ext cx="566928" cy="525780"/>
          </a:xfrm>
          <a:prstGeom prst="rect">
            <a:avLst/>
          </a:prstGeom>
          <a:noFill/>
        </p:spPr>
        <p:txBody>
          <a:bodyPr wrap="square" lIns="0" tIns="0" rIns="0" bIns="0" anchor="ctr">
            <a:spAutoFit/>
          </a:bodyPr>
          <a:lstStyle/>
          <a:p>
            <a:pPr algn="ctr"/>
            <a:r>
              <a:rPr sz="2200" b="1">
                <a:solidFill>
                  <a:srgbClr val="22C55E"/>
                </a:solidFill>
                <a:latin typeface="Calibri"/>
              </a:rPr>
              <a:t>5</a:t>
            </a:r>
          </a:p>
        </p:txBody>
      </p:sp>
      <p:sp>
        <p:nvSpPr>
          <p:cNvPr id="23" name="TextBox 22"/>
          <p:cNvSpPr txBox="1"/>
          <p:nvPr/>
        </p:nvSpPr>
        <p:spPr>
          <a:xfrm>
            <a:off x="2944368" y="3566160"/>
            <a:ext cx="5532120" cy="525780"/>
          </a:xfrm>
          <a:prstGeom prst="rect">
            <a:avLst/>
          </a:prstGeom>
          <a:noFill/>
        </p:spPr>
        <p:txBody>
          <a:bodyPr wrap="square" lIns="0" tIns="0" rIns="0" bIns="0" anchor="ctr">
            <a:spAutoFit/>
          </a:bodyPr>
          <a:lstStyle/>
          <a:p>
            <a:pPr algn="l"/>
            <a:r>
              <a:rPr sz="1000" b="0">
                <a:solidFill>
                  <a:srgbClr val="FFFFFF"/>
                </a:solidFill>
                <a:latin typeface="Calibri"/>
              </a:rPr>
              <a:t>Der Forecast ist die Grundlage für UC02 und UC03; UC04 und UC05 können ihn als Input nutzen.</a:t>
            </a:r>
          </a:p>
        </p:txBody>
      </p:sp>
      <p:sp>
        <p:nvSpPr>
          <p:cNvPr id="24" name="TextBox 23"/>
          <p:cNvSpPr txBox="1"/>
          <p:nvPr/>
        </p:nvSpPr>
        <p:spPr>
          <a:xfrm>
            <a:off x="539496" y="4261104"/>
            <a:ext cx="8065008" cy="420624"/>
          </a:xfrm>
          <a:prstGeom prst="rect">
            <a:avLst/>
          </a:prstGeom>
          <a:noFill/>
        </p:spPr>
        <p:txBody>
          <a:bodyPr wrap="square" lIns="0" tIns="0" rIns="0" bIns="0" anchor="t">
            <a:spAutoFit/>
          </a:bodyPr>
          <a:lstStyle/>
          <a:p>
            <a:pPr algn="l"/>
            <a:r>
              <a:rPr sz="1050" b="1">
                <a:solidFill>
                  <a:srgbClr val="22C55E"/>
                </a:solidFill>
                <a:latin typeface="Calibri"/>
              </a:rPr>
              <a:t>Grenze:  </a:t>
            </a:r>
            <a:r>
              <a:rPr sz="1050" b="0">
                <a:solidFill>
                  <a:srgbClr val="B9BEC8"/>
                </a:solidFill>
                <a:latin typeface="Calibri"/>
              </a:rPr>
              <a:t>Nur CHF 11’875 des Nutzens sind hochgerechnet (Food Waste, Planungszeit); CHF 6’875 sind Annahmen (Menü, Überstunden/Stress). In Franken ist noch nichts als Einsparung gemessen.</a:t>
            </a:r>
          </a:p>
        </p:txBody>
      </p:sp>
      <p:sp>
        <p:nvSpPr>
          <p:cNvPr id="25" name="TextBox 24"/>
          <p:cNvSpPr txBox="1"/>
          <p:nvPr/>
        </p:nvSpPr>
        <p:spPr>
          <a:xfrm>
            <a:off x="539496" y="4773168"/>
            <a:ext cx="3657600" cy="256032"/>
          </a:xfrm>
          <a:prstGeom prst="rect">
            <a:avLst/>
          </a:prstGeom>
          <a:noFill/>
        </p:spPr>
        <p:txBody>
          <a:bodyPr wrap="square" lIns="0" tIns="0" rIns="0" bIns="0" anchor="t">
            <a:spAutoFit/>
          </a:bodyPr>
          <a:lstStyle/>
          <a:p>
            <a:pPr algn="l"/>
            <a:r>
              <a:rPr sz="1000" b="1">
                <a:solidFill>
                  <a:srgbClr val="7C828D"/>
                </a:solidFill>
                <a:latin typeface="Calibri"/>
              </a:rPr>
              <a:t>THOMAS BALLINARI  ·  SMARTGASTRO.AI</a:t>
            </a:r>
          </a:p>
        </p:txBody>
      </p:sp>
      <p:sp>
        <p:nvSpPr>
          <p:cNvPr id="26" name="TextBox 25"/>
          <p:cNvSpPr txBox="1"/>
          <p:nvPr/>
        </p:nvSpPr>
        <p:spPr>
          <a:xfrm>
            <a:off x="4206240" y="4773168"/>
            <a:ext cx="4398264" cy="256032"/>
          </a:xfrm>
          <a:prstGeom prst="rect">
            <a:avLst/>
          </a:prstGeom>
          <a:noFill/>
        </p:spPr>
        <p:txBody>
          <a:bodyPr wrap="square" lIns="0" tIns="0" rIns="0" bIns="0" anchor="t">
            <a:spAutoFit/>
          </a:bodyPr>
          <a:lstStyle/>
          <a:p>
            <a:pPr algn="r"/>
            <a:r>
              <a:rPr sz="1100" b="1">
                <a:solidFill>
                  <a:srgbClr val="FF6B35"/>
                </a:solidFill>
                <a:latin typeface="Calibri"/>
              </a:rPr>
              <a:t>ANHANG I  ·  UC01 NACHFRAGEPROGNOSE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39496" y="365760"/>
            <a:ext cx="8065008" cy="457200"/>
          </a:xfrm>
          <a:prstGeom prst="rect">
            <a:avLst/>
          </a:prstGeom>
          <a:noFill/>
        </p:spPr>
        <p:txBody>
          <a:bodyPr wrap="square" lIns="0" tIns="0" rIns="0" bIns="0" anchor="t">
            <a:spAutoFit/>
          </a:bodyPr>
          <a:lstStyle/>
          <a:p>
            <a:pPr algn="l"/>
            <a:r>
              <a:rPr sz="2600" b="1">
                <a:solidFill>
                  <a:srgbClr val="FFFFFF"/>
                </a:solidFill>
                <a:latin typeface="Calibri"/>
              </a:rPr>
              <a:t>UC02 Bestelloptimierung</a:t>
            </a:r>
            <a:r>
              <a:rPr sz="2600" b="1">
                <a:solidFill>
                  <a:srgbClr val="FF6B35"/>
                </a:solidFill>
                <a:latin typeface="Calibri"/>
              </a:rPr>
              <a:t>  ·  4.15 / 5  ·  Platz 2</a:t>
            </a:r>
          </a:p>
        </p:txBody>
      </p:sp>
      <p:sp>
        <p:nvSpPr>
          <p:cNvPr id="3" name="TextBox 2"/>
          <p:cNvSpPr txBox="1"/>
          <p:nvPr/>
        </p:nvSpPr>
        <p:spPr>
          <a:xfrm>
            <a:off x="539496" y="850392"/>
            <a:ext cx="8065008" cy="365760"/>
          </a:xfrm>
          <a:prstGeom prst="rect">
            <a:avLst/>
          </a:prstGeom>
          <a:noFill/>
        </p:spPr>
        <p:txBody>
          <a:bodyPr wrap="square" lIns="0" tIns="0" rIns="0" bIns="0" anchor="t">
            <a:spAutoFit/>
          </a:bodyPr>
          <a:lstStyle/>
          <a:p>
            <a:pPr algn="l"/>
            <a:r>
              <a:rPr sz="1100" b="0">
                <a:solidFill>
                  <a:srgbClr val="B9BEC8"/>
                </a:solidFill>
                <a:latin typeface="Calibri"/>
              </a:rPr>
              <a:t>Gute Noten, aber kein eigenständiger Weg: UC02 braucht die Prognose aus UC01 als Eingang. Entscheid nach dem Quartalsreview.</a:t>
            </a:r>
          </a:p>
        </p:txBody>
      </p:sp>
      <p:sp>
        <p:nvSpPr>
          <p:cNvPr id="4" name="Rounded Rectangle 3"/>
          <p:cNvSpPr/>
          <p:nvPr/>
        </p:nvSpPr>
        <p:spPr>
          <a:xfrm>
            <a:off x="539496" y="1298448"/>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98448"/>
            <a:ext cx="1600200" cy="525780"/>
          </a:xfrm>
          <a:prstGeom prst="rect">
            <a:avLst/>
          </a:prstGeom>
          <a:noFill/>
        </p:spPr>
        <p:txBody>
          <a:bodyPr wrap="square" lIns="0" tIns="0" rIns="0" bIns="0" anchor="ctr">
            <a:spAutoFit/>
          </a:bodyPr>
          <a:lstStyle/>
          <a:p>
            <a:pPr algn="l"/>
            <a:r>
              <a:rPr sz="1100" b="1">
                <a:solidFill>
                  <a:srgbClr val="FFFFFF"/>
                </a:solidFill>
                <a:latin typeface="Calibri"/>
              </a:rPr>
              <a:t>Datenverfügbarkeit</a:t>
            </a:r>
          </a:p>
          <a:p>
            <a:pPr algn="l"/>
            <a:r>
              <a:rPr sz="950" b="0">
                <a:solidFill>
                  <a:srgbClr val="B9BEC8"/>
                </a:solidFill>
                <a:latin typeface="Calibri"/>
              </a:rPr>
              <a:t>30 %  ·  </a:t>
            </a:r>
            <a:r>
              <a:rPr sz="950" b="1">
                <a:solidFill>
                  <a:srgbClr val="FF5C5C"/>
                </a:solidFill>
                <a:latin typeface="Calibri"/>
              </a:rPr>
              <a:t>Offen</a:t>
            </a:r>
          </a:p>
        </p:txBody>
      </p:sp>
      <p:sp>
        <p:nvSpPr>
          <p:cNvPr id="6" name="TextBox 5"/>
          <p:cNvSpPr txBox="1"/>
          <p:nvPr/>
        </p:nvSpPr>
        <p:spPr>
          <a:xfrm>
            <a:off x="2286000" y="1298448"/>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7" name="TextBox 6"/>
          <p:cNvSpPr txBox="1"/>
          <p:nvPr/>
        </p:nvSpPr>
        <p:spPr>
          <a:xfrm>
            <a:off x="2944368" y="1298448"/>
            <a:ext cx="5532120" cy="525780"/>
          </a:xfrm>
          <a:prstGeom prst="rect">
            <a:avLst/>
          </a:prstGeom>
          <a:noFill/>
        </p:spPr>
        <p:txBody>
          <a:bodyPr wrap="square" lIns="0" tIns="0" rIns="0" bIns="0" anchor="ctr">
            <a:spAutoFit/>
          </a:bodyPr>
          <a:lstStyle/>
          <a:p>
            <a:pPr algn="l"/>
            <a:r>
              <a:rPr sz="1000" b="0">
                <a:solidFill>
                  <a:srgbClr val="FFFFFF"/>
                </a:solidFill>
                <a:latin typeface="Calibri"/>
              </a:rPr>
              <a:t>POS-Verkäufe sind da, die Prognose aus UC01 liefert den Eingang. Ob Lagerbestände und Vorlaufzeiten digital vorliegen, ist in den Unterlagen nicht belegt – deshalb 4 statt 5.</a:t>
            </a:r>
          </a:p>
        </p:txBody>
      </p:sp>
      <p:sp>
        <p:nvSpPr>
          <p:cNvPr id="8" name="Rounded Rectangle 7"/>
          <p:cNvSpPr/>
          <p:nvPr/>
        </p:nvSpPr>
        <p:spPr>
          <a:xfrm>
            <a:off x="539496" y="1865376"/>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865376"/>
            <a:ext cx="1600200" cy="525780"/>
          </a:xfrm>
          <a:prstGeom prst="rect">
            <a:avLst/>
          </a:prstGeom>
          <a:noFill/>
        </p:spPr>
        <p:txBody>
          <a:bodyPr wrap="square" lIns="0" tIns="0" rIns="0" bIns="0" anchor="ctr">
            <a:spAutoFit/>
          </a:bodyPr>
          <a:lstStyle/>
          <a:p>
            <a:pPr algn="l"/>
            <a:r>
              <a:rPr sz="1100" b="1">
                <a:solidFill>
                  <a:srgbClr val="FFFFFF"/>
                </a:solidFill>
                <a:latin typeface="Calibri"/>
              </a:rPr>
              <a:t>Wirtschaftlichkeit</a:t>
            </a:r>
          </a:p>
          <a:p>
            <a:pPr algn="l"/>
            <a:r>
              <a:rPr sz="950" b="0">
                <a:solidFill>
                  <a:srgbClr val="B9BEC8"/>
                </a:solidFill>
                <a:latin typeface="Calibri"/>
              </a:rPr>
              <a:t>20 %  ·  </a:t>
            </a:r>
            <a:r>
              <a:rPr sz="950" b="1">
                <a:solidFill>
                  <a:srgbClr val="F5A524"/>
                </a:solidFill>
                <a:latin typeface="Calibri"/>
              </a:rPr>
              <a:t>Einschätzung</a:t>
            </a:r>
          </a:p>
        </p:txBody>
      </p:sp>
      <p:sp>
        <p:nvSpPr>
          <p:cNvPr id="10" name="TextBox 9"/>
          <p:cNvSpPr txBox="1"/>
          <p:nvPr/>
        </p:nvSpPr>
        <p:spPr>
          <a:xfrm>
            <a:off x="2286000" y="1865376"/>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11" name="TextBox 10"/>
          <p:cNvSpPr txBox="1"/>
          <p:nvPr/>
        </p:nvSpPr>
        <p:spPr>
          <a:xfrm>
            <a:off x="2944368" y="1865376"/>
            <a:ext cx="5532120" cy="525780"/>
          </a:xfrm>
          <a:prstGeom prst="rect">
            <a:avLst/>
          </a:prstGeom>
          <a:noFill/>
        </p:spPr>
        <p:txBody>
          <a:bodyPr wrap="square" lIns="0" tIns="0" rIns="0" bIns="0" anchor="ctr">
            <a:spAutoFit/>
          </a:bodyPr>
          <a:lstStyle/>
          <a:p>
            <a:pPr algn="l"/>
            <a:r>
              <a:rPr sz="1000" b="0">
                <a:solidFill>
                  <a:srgbClr val="FFFFFF"/>
                </a:solidFill>
                <a:latin typeface="Calibri"/>
              </a:rPr>
              <a:t>Ansatz im Einkauf: Salat und Fisch (verderbliche Ware) erzeugen den meisten Waste; Hebel auf den Wareneinsatz von CHF 264’000. Ein eigener Business Case liegt nur für UC01 vor.</a:t>
            </a:r>
          </a:p>
        </p:txBody>
      </p:sp>
      <p:sp>
        <p:nvSpPr>
          <p:cNvPr id="12" name="Rounded Rectangle 11"/>
          <p:cNvSpPr/>
          <p:nvPr/>
        </p:nvSpPr>
        <p:spPr>
          <a:xfrm>
            <a:off x="539496" y="2432304"/>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432304"/>
            <a:ext cx="1600200" cy="525780"/>
          </a:xfrm>
          <a:prstGeom prst="rect">
            <a:avLst/>
          </a:prstGeom>
          <a:noFill/>
        </p:spPr>
        <p:txBody>
          <a:bodyPr wrap="square" lIns="0" tIns="0" rIns="0" bIns="0" anchor="ctr">
            <a:spAutoFit/>
          </a:bodyPr>
          <a:lstStyle/>
          <a:p>
            <a:pPr algn="l"/>
            <a:r>
              <a:rPr sz="1100" b="1">
                <a:solidFill>
                  <a:srgbClr val="FFFFFF"/>
                </a:solidFill>
                <a:latin typeface="Calibri"/>
              </a:rPr>
              <a:t>Machbarkeit</a:t>
            </a:r>
          </a:p>
          <a:p>
            <a:pPr algn="l"/>
            <a:r>
              <a:rPr sz="950" b="0">
                <a:solidFill>
                  <a:srgbClr val="B9BEC8"/>
                </a:solidFill>
                <a:latin typeface="Calibri"/>
              </a:rPr>
              <a:t>15 %  ·  </a:t>
            </a:r>
            <a:r>
              <a:rPr sz="950" b="1">
                <a:solidFill>
                  <a:srgbClr val="22C55E"/>
                </a:solidFill>
                <a:latin typeface="Calibri"/>
              </a:rPr>
              <a:t>Beleg</a:t>
            </a:r>
          </a:p>
        </p:txBody>
      </p:sp>
      <p:sp>
        <p:nvSpPr>
          <p:cNvPr id="14" name="TextBox 13"/>
          <p:cNvSpPr txBox="1"/>
          <p:nvPr/>
        </p:nvSpPr>
        <p:spPr>
          <a:xfrm>
            <a:off x="2286000" y="2432304"/>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15" name="TextBox 14"/>
          <p:cNvSpPr txBox="1"/>
          <p:nvPr/>
        </p:nvSpPr>
        <p:spPr>
          <a:xfrm>
            <a:off x="2944368" y="2432304"/>
            <a:ext cx="5532120" cy="525780"/>
          </a:xfrm>
          <a:prstGeom prst="rect">
            <a:avLst/>
          </a:prstGeom>
          <a:noFill/>
        </p:spPr>
        <p:txBody>
          <a:bodyPr wrap="square" lIns="0" tIns="0" rIns="0" bIns="0" anchor="ctr">
            <a:spAutoFit/>
          </a:bodyPr>
          <a:lstStyle/>
          <a:p>
            <a:pPr algn="l"/>
            <a:r>
              <a:rPr sz="1000" b="0">
                <a:solidFill>
                  <a:srgbClr val="FFFFFF"/>
                </a:solidFill>
                <a:latin typeface="Calibri"/>
              </a:rPr>
              <a:t>Bestellvorschläge aus Forecast, Bestand und Vorlaufzeit sind ein Standardverfahren. Bremse: Die Prognose liegt heute systematisch zu tief (Verzerrung −18.5 %, Anhang C) – Bestellungen darauf wären Unterbestellung.</a:t>
            </a:r>
          </a:p>
        </p:txBody>
      </p:sp>
      <p:sp>
        <p:nvSpPr>
          <p:cNvPr id="16" name="Rounded Rectangle 15"/>
          <p:cNvSpPr/>
          <p:nvPr/>
        </p:nvSpPr>
        <p:spPr>
          <a:xfrm>
            <a:off x="539496" y="2999232"/>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99232"/>
            <a:ext cx="1600200" cy="525780"/>
          </a:xfrm>
          <a:prstGeom prst="rect">
            <a:avLst/>
          </a:prstGeom>
          <a:noFill/>
        </p:spPr>
        <p:txBody>
          <a:bodyPr wrap="square" lIns="0" tIns="0" rIns="0" bIns="0" anchor="ctr">
            <a:spAutoFit/>
          </a:bodyPr>
          <a:lstStyle/>
          <a:p>
            <a:pPr algn="l"/>
            <a:r>
              <a:rPr sz="1100" b="1">
                <a:solidFill>
                  <a:srgbClr val="FFFFFF"/>
                </a:solidFill>
                <a:latin typeface="Calibri"/>
              </a:rPr>
              <a:t>Akzeptanz</a:t>
            </a:r>
          </a:p>
          <a:p>
            <a:pPr algn="l"/>
            <a:r>
              <a:rPr sz="950" b="0">
                <a:solidFill>
                  <a:srgbClr val="B9BEC8"/>
                </a:solidFill>
                <a:latin typeface="Calibri"/>
              </a:rPr>
              <a:t>15 %  ·  </a:t>
            </a:r>
            <a:r>
              <a:rPr sz="950" b="1">
                <a:solidFill>
                  <a:srgbClr val="F5A524"/>
                </a:solidFill>
                <a:latin typeface="Calibri"/>
              </a:rPr>
              <a:t>Einschätzung</a:t>
            </a:r>
          </a:p>
        </p:txBody>
      </p:sp>
      <p:sp>
        <p:nvSpPr>
          <p:cNvPr id="18" name="TextBox 17"/>
          <p:cNvSpPr txBox="1"/>
          <p:nvPr/>
        </p:nvSpPr>
        <p:spPr>
          <a:xfrm>
            <a:off x="2286000" y="2999232"/>
            <a:ext cx="566928" cy="525780"/>
          </a:xfrm>
          <a:prstGeom prst="rect">
            <a:avLst/>
          </a:prstGeom>
          <a:noFill/>
        </p:spPr>
        <p:txBody>
          <a:bodyPr wrap="square" lIns="0" tIns="0" rIns="0" bIns="0" anchor="ctr">
            <a:spAutoFit/>
          </a:bodyPr>
          <a:lstStyle/>
          <a:p>
            <a:pPr algn="ctr"/>
            <a:r>
              <a:rPr sz="2200" b="1">
                <a:solidFill>
                  <a:srgbClr val="FF6B35"/>
                </a:solidFill>
                <a:latin typeface="Calibri"/>
              </a:rPr>
              <a:t>5</a:t>
            </a:r>
          </a:p>
        </p:txBody>
      </p:sp>
      <p:sp>
        <p:nvSpPr>
          <p:cNvPr id="19" name="TextBox 18"/>
          <p:cNvSpPr txBox="1"/>
          <p:nvPr/>
        </p:nvSpPr>
        <p:spPr>
          <a:xfrm>
            <a:off x="2944368" y="2999232"/>
            <a:ext cx="5532120" cy="525780"/>
          </a:xfrm>
          <a:prstGeom prst="rect">
            <a:avLst/>
          </a:prstGeom>
          <a:noFill/>
        </p:spPr>
        <p:txBody>
          <a:bodyPr wrap="square" lIns="0" tIns="0" rIns="0" bIns="0" anchor="ctr">
            <a:spAutoFit/>
          </a:bodyPr>
          <a:lstStyle/>
          <a:p>
            <a:pPr algn="l"/>
            <a:r>
              <a:rPr sz="1000" b="0">
                <a:solidFill>
                  <a:srgbClr val="FFFFFF"/>
                </a:solidFill>
                <a:latin typeface="Calibri"/>
              </a:rPr>
              <a:t>Vorschläge statt Automatik, der Mensch entscheidet; der Einkauf läuft heute über Fotios. Für diese Note gibt es keinen eigenen Interviewbeleg.</a:t>
            </a:r>
          </a:p>
        </p:txBody>
      </p:sp>
      <p:sp>
        <p:nvSpPr>
          <p:cNvPr id="20" name="Rounded Rectangle 19"/>
          <p:cNvSpPr/>
          <p:nvPr/>
        </p:nvSpPr>
        <p:spPr>
          <a:xfrm>
            <a:off x="539496" y="3566160"/>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566160"/>
            <a:ext cx="1600200" cy="525780"/>
          </a:xfrm>
          <a:prstGeom prst="rect">
            <a:avLst/>
          </a:prstGeom>
          <a:noFill/>
        </p:spPr>
        <p:txBody>
          <a:bodyPr wrap="square" lIns="0" tIns="0" rIns="0" bIns="0" anchor="ctr">
            <a:spAutoFit/>
          </a:bodyPr>
          <a:lstStyle/>
          <a:p>
            <a:pPr algn="l"/>
            <a:r>
              <a:rPr sz="1100" b="1">
                <a:solidFill>
                  <a:srgbClr val="FFFFFF"/>
                </a:solidFill>
                <a:latin typeface="Calibri"/>
              </a:rPr>
              <a:t>Strategische Passung</a:t>
            </a:r>
          </a:p>
          <a:p>
            <a:pPr algn="l"/>
            <a:r>
              <a:rPr sz="950" b="0">
                <a:solidFill>
                  <a:srgbClr val="B9BEC8"/>
                </a:solidFill>
                <a:latin typeface="Calibri"/>
              </a:rPr>
              <a:t>20 %  ·  </a:t>
            </a:r>
            <a:r>
              <a:rPr sz="950" b="1">
                <a:solidFill>
                  <a:srgbClr val="22C55E"/>
                </a:solidFill>
                <a:latin typeface="Calibri"/>
              </a:rPr>
              <a:t>Beleg</a:t>
            </a:r>
          </a:p>
        </p:txBody>
      </p:sp>
      <p:sp>
        <p:nvSpPr>
          <p:cNvPr id="22" name="TextBox 21"/>
          <p:cNvSpPr txBox="1"/>
          <p:nvPr/>
        </p:nvSpPr>
        <p:spPr>
          <a:xfrm>
            <a:off x="2286000" y="3566160"/>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23" name="TextBox 22"/>
          <p:cNvSpPr txBox="1"/>
          <p:nvPr/>
        </p:nvSpPr>
        <p:spPr>
          <a:xfrm>
            <a:off x="2944368" y="3566160"/>
            <a:ext cx="5532120" cy="525780"/>
          </a:xfrm>
          <a:prstGeom prst="rect">
            <a:avLst/>
          </a:prstGeom>
          <a:noFill/>
        </p:spPr>
        <p:txBody>
          <a:bodyPr wrap="square" lIns="0" tIns="0" rIns="0" bIns="0" anchor="ctr">
            <a:spAutoFit/>
          </a:bodyPr>
          <a:lstStyle/>
          <a:p>
            <a:pPr algn="l"/>
            <a:r>
              <a:rPr sz="1000" b="0">
                <a:solidFill>
                  <a:srgbClr val="FFFFFF"/>
                </a:solidFill>
                <a:latin typeface="Calibri"/>
              </a:rPr>
              <a:t>Logischer nächster Schritt nach UC01, aber davon abhängig – deshalb nicht 5.</a:t>
            </a:r>
          </a:p>
        </p:txBody>
      </p:sp>
      <p:sp>
        <p:nvSpPr>
          <p:cNvPr id="24" name="TextBox 23"/>
          <p:cNvSpPr txBox="1"/>
          <p:nvPr/>
        </p:nvSpPr>
        <p:spPr>
          <a:xfrm>
            <a:off x="539496" y="4261104"/>
            <a:ext cx="8065008" cy="420624"/>
          </a:xfrm>
          <a:prstGeom prst="rect">
            <a:avLst/>
          </a:prstGeom>
          <a:noFill/>
        </p:spPr>
        <p:txBody>
          <a:bodyPr wrap="square" lIns="0" tIns="0" rIns="0" bIns="0" anchor="t">
            <a:spAutoFit/>
          </a:bodyPr>
          <a:lstStyle/>
          <a:p>
            <a:pPr algn="l"/>
            <a:r>
              <a:rPr sz="1050" b="1">
                <a:solidFill>
                  <a:srgbClr val="FF6B35"/>
                </a:solidFill>
                <a:latin typeface="Calibri"/>
              </a:rPr>
              <a:t>Grenze:  </a:t>
            </a:r>
            <a:r>
              <a:rPr sz="1050" b="0">
                <a:solidFill>
                  <a:srgbClr val="B9BEC8"/>
                </a:solidFill>
                <a:latin typeface="Calibri"/>
              </a:rPr>
              <a:t>Bestandsdaten klären. Die 5 bei Akzeptanz ist meine Einschätzung – beim nächsten Mal würden Fotios und Alexandra getrennt bewerten.</a:t>
            </a:r>
          </a:p>
        </p:txBody>
      </p:sp>
      <p:sp>
        <p:nvSpPr>
          <p:cNvPr id="25" name="TextBox 24"/>
          <p:cNvSpPr txBox="1"/>
          <p:nvPr/>
        </p:nvSpPr>
        <p:spPr>
          <a:xfrm>
            <a:off x="539496" y="4773168"/>
            <a:ext cx="3657600" cy="256032"/>
          </a:xfrm>
          <a:prstGeom prst="rect">
            <a:avLst/>
          </a:prstGeom>
          <a:noFill/>
        </p:spPr>
        <p:txBody>
          <a:bodyPr wrap="square" lIns="0" tIns="0" rIns="0" bIns="0" anchor="t">
            <a:spAutoFit/>
          </a:bodyPr>
          <a:lstStyle/>
          <a:p>
            <a:pPr algn="l"/>
            <a:r>
              <a:rPr sz="1000" b="1">
                <a:solidFill>
                  <a:srgbClr val="7C828D"/>
                </a:solidFill>
                <a:latin typeface="Calibri"/>
              </a:rPr>
              <a:t>THOMAS BALLINARI  ·  SMARTGASTRO.AI</a:t>
            </a:r>
          </a:p>
        </p:txBody>
      </p:sp>
      <p:sp>
        <p:nvSpPr>
          <p:cNvPr id="26" name="TextBox 25"/>
          <p:cNvSpPr txBox="1"/>
          <p:nvPr/>
        </p:nvSpPr>
        <p:spPr>
          <a:xfrm>
            <a:off x="4206240" y="4773168"/>
            <a:ext cx="4398264" cy="256032"/>
          </a:xfrm>
          <a:prstGeom prst="rect">
            <a:avLst/>
          </a:prstGeom>
          <a:noFill/>
        </p:spPr>
        <p:txBody>
          <a:bodyPr wrap="square" lIns="0" tIns="0" rIns="0" bIns="0" anchor="t">
            <a:spAutoFit/>
          </a:bodyPr>
          <a:lstStyle/>
          <a:p>
            <a:pPr algn="r"/>
            <a:r>
              <a:rPr sz="1100" b="1">
                <a:solidFill>
                  <a:srgbClr val="FF6B35"/>
                </a:solidFill>
                <a:latin typeface="Calibri"/>
              </a:rPr>
              <a:t>ANHANG J  ·  UC02 BESTELLOPTIMIERUNG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39496" y="365760"/>
            <a:ext cx="8065008" cy="457200"/>
          </a:xfrm>
          <a:prstGeom prst="rect">
            <a:avLst/>
          </a:prstGeom>
          <a:noFill/>
        </p:spPr>
        <p:txBody>
          <a:bodyPr wrap="square" lIns="0" tIns="0" rIns="0" bIns="0" anchor="t">
            <a:spAutoFit/>
          </a:bodyPr>
          <a:lstStyle/>
          <a:p>
            <a:pPr algn="l"/>
            <a:r>
              <a:rPr sz="2600" b="1">
                <a:solidFill>
                  <a:srgbClr val="FFFFFF"/>
                </a:solidFill>
                <a:latin typeface="Calibri"/>
              </a:rPr>
              <a:t>UC03 Personaleinsatzplanung</a:t>
            </a:r>
            <a:r>
              <a:rPr sz="2600" b="1">
                <a:solidFill>
                  <a:srgbClr val="FF6B35"/>
                </a:solidFill>
                <a:latin typeface="Calibri"/>
              </a:rPr>
              <a:t>  ·  3.85 / 5  ·  Platz 3</a:t>
            </a:r>
          </a:p>
        </p:txBody>
      </p:sp>
      <p:sp>
        <p:nvSpPr>
          <p:cNvPr id="3" name="TextBox 2"/>
          <p:cNvSpPr txBox="1"/>
          <p:nvPr/>
        </p:nvSpPr>
        <p:spPr>
          <a:xfrm>
            <a:off x="539496" y="850392"/>
            <a:ext cx="8065008" cy="365760"/>
          </a:xfrm>
          <a:prstGeom prst="rect">
            <a:avLst/>
          </a:prstGeom>
          <a:noFill/>
        </p:spPr>
        <p:txBody>
          <a:bodyPr wrap="square" lIns="0" tIns="0" rIns="0" bIns="0" anchor="t">
            <a:spAutoFit/>
          </a:bodyPr>
          <a:lstStyle/>
          <a:p>
            <a:pPr algn="l"/>
            <a:r>
              <a:rPr sz="1100" b="0">
                <a:solidFill>
                  <a:srgbClr val="B9BEC8"/>
                </a:solidFill>
                <a:latin typeface="Calibri"/>
              </a:rPr>
              <a:t>Nutzen plausibel (Spitzentage mit 400 bis 500 Gästen, Stress im Service), aber Schichtplanung braucht Daten und Abstimmung ausserhalb der Kasse. Skalierbar aus UC01.</a:t>
            </a:r>
          </a:p>
        </p:txBody>
      </p:sp>
      <p:sp>
        <p:nvSpPr>
          <p:cNvPr id="4" name="Rounded Rectangle 3"/>
          <p:cNvSpPr/>
          <p:nvPr/>
        </p:nvSpPr>
        <p:spPr>
          <a:xfrm>
            <a:off x="539496" y="1298448"/>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98448"/>
            <a:ext cx="1600200" cy="525780"/>
          </a:xfrm>
          <a:prstGeom prst="rect">
            <a:avLst/>
          </a:prstGeom>
          <a:noFill/>
        </p:spPr>
        <p:txBody>
          <a:bodyPr wrap="square" lIns="0" tIns="0" rIns="0" bIns="0" anchor="ctr">
            <a:spAutoFit/>
          </a:bodyPr>
          <a:lstStyle/>
          <a:p>
            <a:pPr algn="l"/>
            <a:r>
              <a:rPr sz="1100" b="1">
                <a:solidFill>
                  <a:srgbClr val="FFFFFF"/>
                </a:solidFill>
                <a:latin typeface="Calibri"/>
              </a:rPr>
              <a:t>Datenverfügbarkeit</a:t>
            </a:r>
          </a:p>
          <a:p>
            <a:pPr algn="l"/>
            <a:r>
              <a:rPr sz="950" b="0">
                <a:solidFill>
                  <a:srgbClr val="B9BEC8"/>
                </a:solidFill>
                <a:latin typeface="Calibri"/>
              </a:rPr>
              <a:t>30 %  ·  </a:t>
            </a:r>
            <a:r>
              <a:rPr sz="950" b="1">
                <a:solidFill>
                  <a:srgbClr val="FF5C5C"/>
                </a:solidFill>
                <a:latin typeface="Calibri"/>
              </a:rPr>
              <a:t>Offen</a:t>
            </a:r>
          </a:p>
        </p:txBody>
      </p:sp>
      <p:sp>
        <p:nvSpPr>
          <p:cNvPr id="6" name="TextBox 5"/>
          <p:cNvSpPr txBox="1"/>
          <p:nvPr/>
        </p:nvSpPr>
        <p:spPr>
          <a:xfrm>
            <a:off x="2286000" y="1298448"/>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7" name="TextBox 6"/>
          <p:cNvSpPr txBox="1"/>
          <p:nvPr/>
        </p:nvSpPr>
        <p:spPr>
          <a:xfrm>
            <a:off x="2944368" y="1298448"/>
            <a:ext cx="5532120" cy="525780"/>
          </a:xfrm>
          <a:prstGeom prst="rect">
            <a:avLst/>
          </a:prstGeom>
          <a:noFill/>
        </p:spPr>
        <p:txBody>
          <a:bodyPr wrap="square" lIns="0" tIns="0" rIns="0" bIns="0" anchor="ctr">
            <a:spAutoFit/>
          </a:bodyPr>
          <a:lstStyle/>
          <a:p>
            <a:pPr algn="l"/>
            <a:r>
              <a:rPr sz="1000" b="0">
                <a:solidFill>
                  <a:srgbClr val="FFFFFF"/>
                </a:solidFill>
                <a:latin typeface="Calibri"/>
              </a:rPr>
              <a:t>Gästeprognose aus UC01 und Auslastungsmuster aus dem POS sind vorhanden. Dienstplan- und Personaldaten liegen nicht im POS und sind in den Unterlagen nicht dokumentiert.</a:t>
            </a:r>
          </a:p>
        </p:txBody>
      </p:sp>
      <p:sp>
        <p:nvSpPr>
          <p:cNvPr id="8" name="Rounded Rectangle 7"/>
          <p:cNvSpPr/>
          <p:nvPr/>
        </p:nvSpPr>
        <p:spPr>
          <a:xfrm>
            <a:off x="539496" y="1865376"/>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865376"/>
            <a:ext cx="1600200" cy="525780"/>
          </a:xfrm>
          <a:prstGeom prst="rect">
            <a:avLst/>
          </a:prstGeom>
          <a:noFill/>
        </p:spPr>
        <p:txBody>
          <a:bodyPr wrap="square" lIns="0" tIns="0" rIns="0" bIns="0" anchor="ctr">
            <a:spAutoFit/>
          </a:bodyPr>
          <a:lstStyle/>
          <a:p>
            <a:pPr algn="l"/>
            <a:r>
              <a:rPr sz="1100" b="1">
                <a:solidFill>
                  <a:srgbClr val="FFFFFF"/>
                </a:solidFill>
                <a:latin typeface="Calibri"/>
              </a:rPr>
              <a:t>Wirtschaftlichkeit</a:t>
            </a:r>
          </a:p>
          <a:p>
            <a:pPr algn="l"/>
            <a:r>
              <a:rPr sz="950" b="0">
                <a:solidFill>
                  <a:srgbClr val="B9BEC8"/>
                </a:solidFill>
                <a:latin typeface="Calibri"/>
              </a:rPr>
              <a:t>20 %  ·  </a:t>
            </a:r>
            <a:r>
              <a:rPr sz="950" b="1">
                <a:solidFill>
                  <a:srgbClr val="F5A524"/>
                </a:solidFill>
                <a:latin typeface="Calibri"/>
              </a:rPr>
              <a:t>Einschätzung</a:t>
            </a:r>
          </a:p>
        </p:txBody>
      </p:sp>
      <p:sp>
        <p:nvSpPr>
          <p:cNvPr id="10" name="TextBox 9"/>
          <p:cNvSpPr txBox="1"/>
          <p:nvPr/>
        </p:nvSpPr>
        <p:spPr>
          <a:xfrm>
            <a:off x="2286000" y="1865376"/>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11" name="TextBox 10"/>
          <p:cNvSpPr txBox="1"/>
          <p:nvPr/>
        </p:nvSpPr>
        <p:spPr>
          <a:xfrm>
            <a:off x="2944368" y="1865376"/>
            <a:ext cx="5532120" cy="525780"/>
          </a:xfrm>
          <a:prstGeom prst="rect">
            <a:avLst/>
          </a:prstGeom>
          <a:noFill/>
        </p:spPr>
        <p:txBody>
          <a:bodyPr wrap="square" lIns="0" tIns="0" rIns="0" bIns="0" anchor="ctr">
            <a:spAutoFit/>
          </a:bodyPr>
          <a:lstStyle/>
          <a:p>
            <a:pPr algn="l"/>
            <a:r>
              <a:rPr sz="1000" b="0">
                <a:solidFill>
                  <a:srgbClr val="FFFFFF"/>
                </a:solidFill>
                <a:latin typeface="Calibri"/>
              </a:rPr>
              <a:t>Personalkosten sind in der Gastronomie ein grosser Kostenblock; die Überstunden-/Stressposition (CHF 3’125) zeigt die Richtung, ist aber eine Schätzung. Kein eigener Business Case.</a:t>
            </a:r>
          </a:p>
        </p:txBody>
      </p:sp>
      <p:sp>
        <p:nvSpPr>
          <p:cNvPr id="12" name="Rounded Rectangle 11"/>
          <p:cNvSpPr/>
          <p:nvPr/>
        </p:nvSpPr>
        <p:spPr>
          <a:xfrm>
            <a:off x="539496" y="2432304"/>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432304"/>
            <a:ext cx="1600200" cy="525780"/>
          </a:xfrm>
          <a:prstGeom prst="rect">
            <a:avLst/>
          </a:prstGeom>
          <a:noFill/>
        </p:spPr>
        <p:txBody>
          <a:bodyPr wrap="square" lIns="0" tIns="0" rIns="0" bIns="0" anchor="ctr">
            <a:spAutoFit/>
          </a:bodyPr>
          <a:lstStyle/>
          <a:p>
            <a:pPr algn="l"/>
            <a:r>
              <a:rPr sz="1100" b="1">
                <a:solidFill>
                  <a:srgbClr val="FFFFFF"/>
                </a:solidFill>
                <a:latin typeface="Calibri"/>
              </a:rPr>
              <a:t>Machbarkeit</a:t>
            </a:r>
          </a:p>
          <a:p>
            <a:pPr algn="l"/>
            <a:r>
              <a:rPr sz="950" b="0">
                <a:solidFill>
                  <a:srgbClr val="B9BEC8"/>
                </a:solidFill>
                <a:latin typeface="Calibri"/>
              </a:rPr>
              <a:t>15 %  ·  </a:t>
            </a:r>
            <a:r>
              <a:rPr sz="950" b="1">
                <a:solidFill>
                  <a:srgbClr val="F5A524"/>
                </a:solidFill>
                <a:latin typeface="Calibri"/>
              </a:rPr>
              <a:t>Einschätzung</a:t>
            </a:r>
          </a:p>
        </p:txBody>
      </p:sp>
      <p:sp>
        <p:nvSpPr>
          <p:cNvPr id="14" name="TextBox 13"/>
          <p:cNvSpPr txBox="1"/>
          <p:nvPr/>
        </p:nvSpPr>
        <p:spPr>
          <a:xfrm>
            <a:off x="2286000" y="2432304"/>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5" name="TextBox 14"/>
          <p:cNvSpPr txBox="1"/>
          <p:nvPr/>
        </p:nvSpPr>
        <p:spPr>
          <a:xfrm>
            <a:off x="2944368" y="2432304"/>
            <a:ext cx="5532120" cy="525780"/>
          </a:xfrm>
          <a:prstGeom prst="rect">
            <a:avLst/>
          </a:prstGeom>
          <a:noFill/>
        </p:spPr>
        <p:txBody>
          <a:bodyPr wrap="square" lIns="0" tIns="0" rIns="0" bIns="0" anchor="ctr">
            <a:spAutoFit/>
          </a:bodyPr>
          <a:lstStyle/>
          <a:p>
            <a:pPr algn="l"/>
            <a:r>
              <a:rPr sz="1000" b="0">
                <a:solidFill>
                  <a:srgbClr val="FFFFFF"/>
                </a:solidFill>
                <a:latin typeface="Calibri"/>
              </a:rPr>
              <a:t>Schichtplanung greift in Dienstpläne, Verfügbarkeiten und Absprachen im Team ein – organisatorisch aufwendiger als eine Prognose, und die Daten kommen nicht aus der Kasse.</a:t>
            </a:r>
          </a:p>
        </p:txBody>
      </p:sp>
      <p:sp>
        <p:nvSpPr>
          <p:cNvPr id="16" name="Rounded Rectangle 15"/>
          <p:cNvSpPr/>
          <p:nvPr/>
        </p:nvSpPr>
        <p:spPr>
          <a:xfrm>
            <a:off x="539496" y="2999232"/>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99232"/>
            <a:ext cx="1600200" cy="525780"/>
          </a:xfrm>
          <a:prstGeom prst="rect">
            <a:avLst/>
          </a:prstGeom>
          <a:noFill/>
        </p:spPr>
        <p:txBody>
          <a:bodyPr wrap="square" lIns="0" tIns="0" rIns="0" bIns="0" anchor="ctr">
            <a:spAutoFit/>
          </a:bodyPr>
          <a:lstStyle/>
          <a:p>
            <a:pPr algn="l"/>
            <a:r>
              <a:rPr sz="1100" b="1">
                <a:solidFill>
                  <a:srgbClr val="FFFFFF"/>
                </a:solidFill>
                <a:latin typeface="Calibri"/>
              </a:rPr>
              <a:t>Akzeptanz</a:t>
            </a:r>
          </a:p>
          <a:p>
            <a:pPr algn="l"/>
            <a:r>
              <a:rPr sz="950" b="0">
                <a:solidFill>
                  <a:srgbClr val="B9BEC8"/>
                </a:solidFill>
                <a:latin typeface="Calibri"/>
              </a:rPr>
              <a:t>15 %  ·  </a:t>
            </a:r>
            <a:r>
              <a:rPr sz="950" b="1">
                <a:solidFill>
                  <a:srgbClr val="F5A524"/>
                </a:solidFill>
                <a:latin typeface="Calibri"/>
              </a:rPr>
              <a:t>Einschätzung</a:t>
            </a:r>
          </a:p>
        </p:txBody>
      </p:sp>
      <p:sp>
        <p:nvSpPr>
          <p:cNvPr id="18" name="TextBox 17"/>
          <p:cNvSpPr txBox="1"/>
          <p:nvPr/>
        </p:nvSpPr>
        <p:spPr>
          <a:xfrm>
            <a:off x="2286000" y="2999232"/>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19" name="TextBox 18"/>
          <p:cNvSpPr txBox="1"/>
          <p:nvPr/>
        </p:nvSpPr>
        <p:spPr>
          <a:xfrm>
            <a:off x="2944368" y="2999232"/>
            <a:ext cx="5532120" cy="525780"/>
          </a:xfrm>
          <a:prstGeom prst="rect">
            <a:avLst/>
          </a:prstGeom>
          <a:noFill/>
        </p:spPr>
        <p:txBody>
          <a:bodyPr wrap="square" lIns="0" tIns="0" rIns="0" bIns="0" anchor="ctr">
            <a:spAutoFit/>
          </a:bodyPr>
          <a:lstStyle/>
          <a:p>
            <a:pPr algn="l"/>
            <a:r>
              <a:rPr sz="1000" b="0">
                <a:solidFill>
                  <a:srgbClr val="FFFFFF"/>
                </a:solidFill>
                <a:latin typeface="Calibri"/>
              </a:rPr>
              <a:t>Das Team ist direkt betroffen und wünscht Entlastung (Stress im Service dokumentiert); der Eingriff in Arbeitszeiten kann aber auf Widerstand stossen – deshalb 4.</a:t>
            </a:r>
          </a:p>
        </p:txBody>
      </p:sp>
      <p:sp>
        <p:nvSpPr>
          <p:cNvPr id="20" name="Rounded Rectangle 19"/>
          <p:cNvSpPr/>
          <p:nvPr/>
        </p:nvSpPr>
        <p:spPr>
          <a:xfrm>
            <a:off x="539496" y="3566160"/>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566160"/>
            <a:ext cx="1600200" cy="525780"/>
          </a:xfrm>
          <a:prstGeom prst="rect">
            <a:avLst/>
          </a:prstGeom>
          <a:noFill/>
        </p:spPr>
        <p:txBody>
          <a:bodyPr wrap="square" lIns="0" tIns="0" rIns="0" bIns="0" anchor="ctr">
            <a:spAutoFit/>
          </a:bodyPr>
          <a:lstStyle/>
          <a:p>
            <a:pPr algn="l"/>
            <a:r>
              <a:rPr sz="1100" b="1">
                <a:solidFill>
                  <a:srgbClr val="FFFFFF"/>
                </a:solidFill>
                <a:latin typeface="Calibri"/>
              </a:rPr>
              <a:t>Strategische Passung</a:t>
            </a:r>
          </a:p>
          <a:p>
            <a:pPr algn="l"/>
            <a:r>
              <a:rPr sz="950" b="0">
                <a:solidFill>
                  <a:srgbClr val="B9BEC8"/>
                </a:solidFill>
                <a:latin typeface="Calibri"/>
              </a:rPr>
              <a:t>20 %  ·  </a:t>
            </a:r>
            <a:r>
              <a:rPr sz="950" b="1">
                <a:solidFill>
                  <a:srgbClr val="22C55E"/>
                </a:solidFill>
                <a:latin typeface="Calibri"/>
              </a:rPr>
              <a:t>Beleg</a:t>
            </a:r>
          </a:p>
        </p:txBody>
      </p:sp>
      <p:sp>
        <p:nvSpPr>
          <p:cNvPr id="22" name="TextBox 21"/>
          <p:cNvSpPr txBox="1"/>
          <p:nvPr/>
        </p:nvSpPr>
        <p:spPr>
          <a:xfrm>
            <a:off x="2286000" y="3566160"/>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23" name="TextBox 22"/>
          <p:cNvSpPr txBox="1"/>
          <p:nvPr/>
        </p:nvSpPr>
        <p:spPr>
          <a:xfrm>
            <a:off x="2944368" y="3566160"/>
            <a:ext cx="5532120" cy="525780"/>
          </a:xfrm>
          <a:prstGeom prst="rect">
            <a:avLst/>
          </a:prstGeom>
          <a:noFill/>
        </p:spPr>
        <p:txBody>
          <a:bodyPr wrap="square" lIns="0" tIns="0" rIns="0" bIns="0" anchor="ctr">
            <a:spAutoFit/>
          </a:bodyPr>
          <a:lstStyle/>
          <a:p>
            <a:pPr algn="l"/>
            <a:r>
              <a:rPr sz="1000" b="0">
                <a:solidFill>
                  <a:srgbClr val="FFFFFF"/>
                </a:solidFill>
                <a:latin typeface="Calibri"/>
              </a:rPr>
              <a:t>Skalierbar aus UC01: Die Gästeprognose ist der Haupt-Input.</a:t>
            </a:r>
          </a:p>
        </p:txBody>
      </p:sp>
      <p:sp>
        <p:nvSpPr>
          <p:cNvPr id="24" name="TextBox 23"/>
          <p:cNvSpPr txBox="1"/>
          <p:nvPr/>
        </p:nvSpPr>
        <p:spPr>
          <a:xfrm>
            <a:off x="539496" y="4261104"/>
            <a:ext cx="8065008" cy="420624"/>
          </a:xfrm>
          <a:prstGeom prst="rect">
            <a:avLst/>
          </a:prstGeom>
          <a:noFill/>
        </p:spPr>
        <p:txBody>
          <a:bodyPr wrap="square" lIns="0" tIns="0" rIns="0" bIns="0" anchor="t">
            <a:spAutoFit/>
          </a:bodyPr>
          <a:lstStyle/>
          <a:p>
            <a:pPr algn="l"/>
            <a:r>
              <a:rPr sz="1050" b="1">
                <a:solidFill>
                  <a:srgbClr val="FF6B35"/>
                </a:solidFill>
                <a:latin typeface="Calibri"/>
              </a:rPr>
              <a:t>Grenze:  </a:t>
            </a:r>
            <a:r>
              <a:rPr sz="1050" b="0">
                <a:solidFill>
                  <a:srgbClr val="B9BEC8"/>
                </a:solidFill>
                <a:latin typeface="Calibri"/>
              </a:rPr>
              <a:t>Drei der fünf Noten sind Einschätzungen ohne eigenen Beleg; die 3 bei Machbarkeit ist bewusst vorsichtig.</a:t>
            </a:r>
          </a:p>
        </p:txBody>
      </p:sp>
      <p:sp>
        <p:nvSpPr>
          <p:cNvPr id="25" name="TextBox 24"/>
          <p:cNvSpPr txBox="1"/>
          <p:nvPr/>
        </p:nvSpPr>
        <p:spPr>
          <a:xfrm>
            <a:off x="539496" y="4773168"/>
            <a:ext cx="3657600" cy="256032"/>
          </a:xfrm>
          <a:prstGeom prst="rect">
            <a:avLst/>
          </a:prstGeom>
          <a:noFill/>
        </p:spPr>
        <p:txBody>
          <a:bodyPr wrap="square" lIns="0" tIns="0" rIns="0" bIns="0" anchor="t">
            <a:spAutoFit/>
          </a:bodyPr>
          <a:lstStyle/>
          <a:p>
            <a:pPr algn="l"/>
            <a:r>
              <a:rPr sz="1000" b="1">
                <a:solidFill>
                  <a:srgbClr val="7C828D"/>
                </a:solidFill>
                <a:latin typeface="Calibri"/>
              </a:rPr>
              <a:t>THOMAS BALLINARI  ·  SMARTGASTRO.AI</a:t>
            </a:r>
          </a:p>
        </p:txBody>
      </p:sp>
      <p:sp>
        <p:nvSpPr>
          <p:cNvPr id="26" name="TextBox 25"/>
          <p:cNvSpPr txBox="1"/>
          <p:nvPr/>
        </p:nvSpPr>
        <p:spPr>
          <a:xfrm>
            <a:off x="4206240" y="4773168"/>
            <a:ext cx="4398264" cy="256032"/>
          </a:xfrm>
          <a:prstGeom prst="rect">
            <a:avLst/>
          </a:prstGeom>
          <a:noFill/>
        </p:spPr>
        <p:txBody>
          <a:bodyPr wrap="square" lIns="0" tIns="0" rIns="0" bIns="0" anchor="t">
            <a:spAutoFit/>
          </a:bodyPr>
          <a:lstStyle/>
          <a:p>
            <a:pPr algn="r"/>
            <a:r>
              <a:rPr sz="1100" b="1">
                <a:solidFill>
                  <a:srgbClr val="FF6B35"/>
                </a:solidFill>
                <a:latin typeface="Calibri"/>
              </a:rPr>
              <a:t>ANHANG K  ·  UC03 PERSONALEINSATZPLANUNG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39496" y="365760"/>
            <a:ext cx="8065008" cy="457200"/>
          </a:xfrm>
          <a:prstGeom prst="rect">
            <a:avLst/>
          </a:prstGeom>
          <a:noFill/>
        </p:spPr>
        <p:txBody>
          <a:bodyPr wrap="square" lIns="0" tIns="0" rIns="0" bIns="0" anchor="t">
            <a:spAutoFit/>
          </a:bodyPr>
          <a:lstStyle/>
          <a:p>
            <a:pPr algn="l"/>
            <a:r>
              <a:rPr sz="2600" b="1">
                <a:solidFill>
                  <a:srgbClr val="FFFFFF"/>
                </a:solidFill>
                <a:latin typeface="Calibri"/>
              </a:rPr>
              <a:t>UC04 Anomalie-Erkennung</a:t>
            </a:r>
            <a:r>
              <a:rPr sz="2600" b="1">
                <a:solidFill>
                  <a:srgbClr val="FF6B35"/>
                </a:solidFill>
                <a:latin typeface="Calibri"/>
              </a:rPr>
              <a:t>  ·  3.20 / 5  ·  Platz 4</a:t>
            </a:r>
          </a:p>
        </p:txBody>
      </p:sp>
      <p:sp>
        <p:nvSpPr>
          <p:cNvPr id="3" name="TextBox 2"/>
          <p:cNvSpPr txBox="1"/>
          <p:nvPr/>
        </p:nvSpPr>
        <p:spPr>
          <a:xfrm>
            <a:off x="539496" y="850392"/>
            <a:ext cx="8065008" cy="365760"/>
          </a:xfrm>
          <a:prstGeom prst="rect">
            <a:avLst/>
          </a:prstGeom>
          <a:noFill/>
        </p:spPr>
        <p:txBody>
          <a:bodyPr wrap="square" lIns="0" tIns="0" rIns="0" bIns="0" anchor="t">
            <a:spAutoFit/>
          </a:bodyPr>
          <a:lstStyle/>
          <a:p>
            <a:pPr algn="l"/>
            <a:r>
              <a:rPr sz="1100" b="0">
                <a:solidFill>
                  <a:srgbClr val="B9BEC8"/>
                </a:solidFill>
                <a:latin typeface="Calibri"/>
              </a:rPr>
              <a:t>Entstanden aus echten Befunden (Sammel-PLUs, Preisabweichungen, undokumentierte Anpassungen), aber der Nutzen ist indirekt und die Datenqualität noch die Hürde. Zurückgestellt.</a:t>
            </a:r>
          </a:p>
        </p:txBody>
      </p:sp>
      <p:sp>
        <p:nvSpPr>
          <p:cNvPr id="4" name="Rounded Rectangle 3"/>
          <p:cNvSpPr/>
          <p:nvPr/>
        </p:nvSpPr>
        <p:spPr>
          <a:xfrm>
            <a:off x="539496" y="1298448"/>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98448"/>
            <a:ext cx="1600200" cy="525780"/>
          </a:xfrm>
          <a:prstGeom prst="rect">
            <a:avLst/>
          </a:prstGeom>
          <a:noFill/>
        </p:spPr>
        <p:txBody>
          <a:bodyPr wrap="square" lIns="0" tIns="0" rIns="0" bIns="0" anchor="ctr">
            <a:spAutoFit/>
          </a:bodyPr>
          <a:lstStyle/>
          <a:p>
            <a:pPr algn="l"/>
            <a:r>
              <a:rPr sz="1100" b="1">
                <a:solidFill>
                  <a:srgbClr val="FFFFFF"/>
                </a:solidFill>
                <a:latin typeface="Calibri"/>
              </a:rPr>
              <a:t>Datenverfügbarkeit</a:t>
            </a:r>
          </a:p>
          <a:p>
            <a:pPr algn="l"/>
            <a:r>
              <a:rPr sz="950" b="0">
                <a:solidFill>
                  <a:srgbClr val="B9BEC8"/>
                </a:solidFill>
                <a:latin typeface="Calibri"/>
              </a:rPr>
              <a:t>30 %  ·  </a:t>
            </a:r>
            <a:r>
              <a:rPr sz="950" b="1">
                <a:solidFill>
                  <a:srgbClr val="22C55E"/>
                </a:solidFill>
                <a:latin typeface="Calibri"/>
              </a:rPr>
              <a:t>Beleg</a:t>
            </a:r>
          </a:p>
        </p:txBody>
      </p:sp>
      <p:sp>
        <p:nvSpPr>
          <p:cNvPr id="6" name="TextBox 5"/>
          <p:cNvSpPr txBox="1"/>
          <p:nvPr/>
        </p:nvSpPr>
        <p:spPr>
          <a:xfrm>
            <a:off x="2286000" y="1298448"/>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7" name="TextBox 6"/>
          <p:cNvSpPr txBox="1"/>
          <p:nvPr/>
        </p:nvSpPr>
        <p:spPr>
          <a:xfrm>
            <a:off x="2944368" y="1298448"/>
            <a:ext cx="5532120" cy="525780"/>
          </a:xfrm>
          <a:prstGeom prst="rect">
            <a:avLst/>
          </a:prstGeom>
          <a:noFill/>
        </p:spPr>
        <p:txBody>
          <a:bodyPr wrap="square" lIns="0" tIns="0" rIns="0" bIns="0" anchor="ctr">
            <a:spAutoFit/>
          </a:bodyPr>
          <a:lstStyle/>
          <a:p>
            <a:pPr algn="l"/>
            <a:r>
              <a:rPr sz="1000" b="0">
                <a:solidFill>
                  <a:srgbClr val="FFFFFF"/>
                </a:solidFill>
                <a:latin typeface="Calibri"/>
              </a:rPr>
              <a:t>Anomalien erkennt man nur gegen eine saubere Normalhistorie. Die hat Lücken: Sammel-PLUs, Preisabweichungen zwischen Karte und Kasse, 339 doppelt gezählte Kassentage.</a:t>
            </a:r>
          </a:p>
        </p:txBody>
      </p:sp>
      <p:sp>
        <p:nvSpPr>
          <p:cNvPr id="8" name="Rounded Rectangle 7"/>
          <p:cNvSpPr/>
          <p:nvPr/>
        </p:nvSpPr>
        <p:spPr>
          <a:xfrm>
            <a:off x="539496" y="1865376"/>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865376"/>
            <a:ext cx="1600200" cy="525780"/>
          </a:xfrm>
          <a:prstGeom prst="rect">
            <a:avLst/>
          </a:prstGeom>
          <a:noFill/>
        </p:spPr>
        <p:txBody>
          <a:bodyPr wrap="square" lIns="0" tIns="0" rIns="0" bIns="0" anchor="ctr">
            <a:spAutoFit/>
          </a:bodyPr>
          <a:lstStyle/>
          <a:p>
            <a:pPr algn="l"/>
            <a:r>
              <a:rPr sz="1100" b="1">
                <a:solidFill>
                  <a:srgbClr val="FFFFFF"/>
                </a:solidFill>
                <a:latin typeface="Calibri"/>
              </a:rPr>
              <a:t>Wirtschaftlichkeit</a:t>
            </a:r>
          </a:p>
          <a:p>
            <a:pPr algn="l"/>
            <a:r>
              <a:rPr sz="950" b="0">
                <a:solidFill>
                  <a:srgbClr val="B9BEC8"/>
                </a:solidFill>
                <a:latin typeface="Calibri"/>
              </a:rPr>
              <a:t>20 %  ·  </a:t>
            </a:r>
            <a:r>
              <a:rPr sz="950" b="1">
                <a:solidFill>
                  <a:srgbClr val="F5A524"/>
                </a:solidFill>
                <a:latin typeface="Calibri"/>
              </a:rPr>
              <a:t>Einschätzung</a:t>
            </a:r>
          </a:p>
        </p:txBody>
      </p:sp>
      <p:sp>
        <p:nvSpPr>
          <p:cNvPr id="10" name="TextBox 9"/>
          <p:cNvSpPr txBox="1"/>
          <p:nvPr/>
        </p:nvSpPr>
        <p:spPr>
          <a:xfrm>
            <a:off x="2286000" y="1865376"/>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1" name="TextBox 10"/>
          <p:cNvSpPr txBox="1"/>
          <p:nvPr/>
        </p:nvSpPr>
        <p:spPr>
          <a:xfrm>
            <a:off x="2944368" y="1865376"/>
            <a:ext cx="5532120" cy="525780"/>
          </a:xfrm>
          <a:prstGeom prst="rect">
            <a:avLst/>
          </a:prstGeom>
          <a:noFill/>
        </p:spPr>
        <p:txBody>
          <a:bodyPr wrap="square" lIns="0" tIns="0" rIns="0" bIns="0" anchor="ctr">
            <a:spAutoFit/>
          </a:bodyPr>
          <a:lstStyle/>
          <a:p>
            <a:pPr algn="l"/>
            <a:r>
              <a:rPr sz="1000" b="0">
                <a:solidFill>
                  <a:srgbClr val="FFFFFF"/>
                </a:solidFill>
                <a:latin typeface="Calibri"/>
              </a:rPr>
              <a:t>Nutzen indirekt (Risiken früh erkennen, Ausfälle vermeiden); kein direkter Hebel auf Food Waste oder Planungszeit und nicht beziffert.</a:t>
            </a:r>
          </a:p>
        </p:txBody>
      </p:sp>
      <p:sp>
        <p:nvSpPr>
          <p:cNvPr id="12" name="Rounded Rectangle 11"/>
          <p:cNvSpPr/>
          <p:nvPr/>
        </p:nvSpPr>
        <p:spPr>
          <a:xfrm>
            <a:off x="539496" y="2432304"/>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432304"/>
            <a:ext cx="1600200" cy="525780"/>
          </a:xfrm>
          <a:prstGeom prst="rect">
            <a:avLst/>
          </a:prstGeom>
          <a:noFill/>
        </p:spPr>
        <p:txBody>
          <a:bodyPr wrap="square" lIns="0" tIns="0" rIns="0" bIns="0" anchor="ctr">
            <a:spAutoFit/>
          </a:bodyPr>
          <a:lstStyle/>
          <a:p>
            <a:pPr algn="l"/>
            <a:r>
              <a:rPr sz="1100" b="1">
                <a:solidFill>
                  <a:srgbClr val="FFFFFF"/>
                </a:solidFill>
                <a:latin typeface="Calibri"/>
              </a:rPr>
              <a:t>Machbarkeit</a:t>
            </a:r>
          </a:p>
          <a:p>
            <a:pPr algn="l"/>
            <a:r>
              <a:rPr sz="950" b="0">
                <a:solidFill>
                  <a:srgbClr val="B9BEC8"/>
                </a:solidFill>
                <a:latin typeface="Calibri"/>
              </a:rPr>
              <a:t>15 %  ·  </a:t>
            </a:r>
            <a:r>
              <a:rPr sz="950" b="1">
                <a:solidFill>
                  <a:srgbClr val="F5A524"/>
                </a:solidFill>
                <a:latin typeface="Calibri"/>
              </a:rPr>
              <a:t>Einschätzung</a:t>
            </a:r>
          </a:p>
        </p:txBody>
      </p:sp>
      <p:sp>
        <p:nvSpPr>
          <p:cNvPr id="14" name="TextBox 13"/>
          <p:cNvSpPr txBox="1"/>
          <p:nvPr/>
        </p:nvSpPr>
        <p:spPr>
          <a:xfrm>
            <a:off x="2286000" y="2432304"/>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5" name="TextBox 14"/>
          <p:cNvSpPr txBox="1"/>
          <p:nvPr/>
        </p:nvSpPr>
        <p:spPr>
          <a:xfrm>
            <a:off x="2944368" y="2432304"/>
            <a:ext cx="5532120" cy="525780"/>
          </a:xfrm>
          <a:prstGeom prst="rect">
            <a:avLst/>
          </a:prstGeom>
          <a:noFill/>
        </p:spPr>
        <p:txBody>
          <a:bodyPr wrap="square" lIns="0" tIns="0" rIns="0" bIns="0" anchor="ctr">
            <a:spAutoFit/>
          </a:bodyPr>
          <a:lstStyle/>
          <a:p>
            <a:pPr algn="l"/>
            <a:r>
              <a:rPr sz="1000" b="0">
                <a:solidFill>
                  <a:srgbClr val="FFFFFF"/>
                </a:solidFill>
                <a:latin typeface="Calibri"/>
              </a:rPr>
              <a:t>Die Methode ist etabliert, aber bei kleinen Mengen (gemessen: Median 2 Portionen je Artikel und Tag) ist schwer zu sagen, was «ungewöhnlich» ist – Fehlalarme drohen.</a:t>
            </a:r>
          </a:p>
        </p:txBody>
      </p:sp>
      <p:sp>
        <p:nvSpPr>
          <p:cNvPr id="16" name="Rounded Rectangle 15"/>
          <p:cNvSpPr/>
          <p:nvPr/>
        </p:nvSpPr>
        <p:spPr>
          <a:xfrm>
            <a:off x="539496" y="2999232"/>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99232"/>
            <a:ext cx="1600200" cy="525780"/>
          </a:xfrm>
          <a:prstGeom prst="rect">
            <a:avLst/>
          </a:prstGeom>
          <a:noFill/>
        </p:spPr>
        <p:txBody>
          <a:bodyPr wrap="square" lIns="0" tIns="0" rIns="0" bIns="0" anchor="ctr">
            <a:spAutoFit/>
          </a:bodyPr>
          <a:lstStyle/>
          <a:p>
            <a:pPr algn="l"/>
            <a:r>
              <a:rPr sz="1100" b="1">
                <a:solidFill>
                  <a:srgbClr val="FFFFFF"/>
                </a:solidFill>
                <a:latin typeface="Calibri"/>
              </a:rPr>
              <a:t>Akzeptanz</a:t>
            </a:r>
          </a:p>
          <a:p>
            <a:pPr algn="l"/>
            <a:r>
              <a:rPr sz="950" b="0">
                <a:solidFill>
                  <a:srgbClr val="B9BEC8"/>
                </a:solidFill>
                <a:latin typeface="Calibri"/>
              </a:rPr>
              <a:t>15 %  ·  </a:t>
            </a:r>
            <a:r>
              <a:rPr sz="950" b="1">
                <a:solidFill>
                  <a:srgbClr val="F5A524"/>
                </a:solidFill>
                <a:latin typeface="Calibri"/>
              </a:rPr>
              <a:t>Einschätzung</a:t>
            </a:r>
          </a:p>
        </p:txBody>
      </p:sp>
      <p:sp>
        <p:nvSpPr>
          <p:cNvPr id="18" name="TextBox 17"/>
          <p:cNvSpPr txBox="1"/>
          <p:nvPr/>
        </p:nvSpPr>
        <p:spPr>
          <a:xfrm>
            <a:off x="2286000" y="2999232"/>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9" name="TextBox 18"/>
          <p:cNvSpPr txBox="1"/>
          <p:nvPr/>
        </p:nvSpPr>
        <p:spPr>
          <a:xfrm>
            <a:off x="2944368" y="2999232"/>
            <a:ext cx="5532120" cy="525780"/>
          </a:xfrm>
          <a:prstGeom prst="rect">
            <a:avLst/>
          </a:prstGeom>
          <a:noFill/>
        </p:spPr>
        <p:txBody>
          <a:bodyPr wrap="square" lIns="0" tIns="0" rIns="0" bIns="0" anchor="ctr">
            <a:spAutoFit/>
          </a:bodyPr>
          <a:lstStyle/>
          <a:p>
            <a:pPr algn="l"/>
            <a:r>
              <a:rPr sz="1000" b="0">
                <a:solidFill>
                  <a:srgbClr val="FFFFFF"/>
                </a:solidFill>
                <a:latin typeface="Calibri"/>
              </a:rPr>
              <a:t>Alarme helfen dem Controlling, nicht dem Küchenalltag; Alarme ohne klare Handlung werden schnell ignoriert.</a:t>
            </a:r>
          </a:p>
        </p:txBody>
      </p:sp>
      <p:sp>
        <p:nvSpPr>
          <p:cNvPr id="20" name="Rounded Rectangle 19"/>
          <p:cNvSpPr/>
          <p:nvPr/>
        </p:nvSpPr>
        <p:spPr>
          <a:xfrm>
            <a:off x="539496" y="3566160"/>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566160"/>
            <a:ext cx="1600200" cy="525780"/>
          </a:xfrm>
          <a:prstGeom prst="rect">
            <a:avLst/>
          </a:prstGeom>
          <a:noFill/>
        </p:spPr>
        <p:txBody>
          <a:bodyPr wrap="square" lIns="0" tIns="0" rIns="0" bIns="0" anchor="ctr">
            <a:spAutoFit/>
          </a:bodyPr>
          <a:lstStyle/>
          <a:p>
            <a:pPr algn="l"/>
            <a:r>
              <a:rPr sz="1100" b="1">
                <a:solidFill>
                  <a:srgbClr val="FFFFFF"/>
                </a:solidFill>
                <a:latin typeface="Calibri"/>
              </a:rPr>
              <a:t>Strategische Passung</a:t>
            </a:r>
          </a:p>
          <a:p>
            <a:pPr algn="l"/>
            <a:r>
              <a:rPr sz="950" b="0">
                <a:solidFill>
                  <a:srgbClr val="B9BEC8"/>
                </a:solidFill>
                <a:latin typeface="Calibri"/>
              </a:rPr>
              <a:t>20 %  ·  </a:t>
            </a:r>
            <a:r>
              <a:rPr sz="950" b="1">
                <a:solidFill>
                  <a:srgbClr val="22C55E"/>
                </a:solidFill>
                <a:latin typeface="Calibri"/>
              </a:rPr>
              <a:t>Beleg</a:t>
            </a:r>
          </a:p>
        </p:txBody>
      </p:sp>
      <p:sp>
        <p:nvSpPr>
          <p:cNvPr id="22" name="TextBox 21"/>
          <p:cNvSpPr txBox="1"/>
          <p:nvPr/>
        </p:nvSpPr>
        <p:spPr>
          <a:xfrm>
            <a:off x="2286000" y="3566160"/>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23" name="TextBox 22"/>
          <p:cNvSpPr txBox="1"/>
          <p:nvPr/>
        </p:nvSpPr>
        <p:spPr>
          <a:xfrm>
            <a:off x="2944368" y="3566160"/>
            <a:ext cx="5532120" cy="525780"/>
          </a:xfrm>
          <a:prstGeom prst="rect">
            <a:avLst/>
          </a:prstGeom>
          <a:noFill/>
        </p:spPr>
        <p:txBody>
          <a:bodyPr wrap="square" lIns="0" tIns="0" rIns="0" bIns="0" anchor="ctr">
            <a:spAutoFit/>
          </a:bodyPr>
          <a:lstStyle/>
          <a:p>
            <a:pPr algn="l"/>
            <a:r>
              <a:rPr sz="1000" b="0">
                <a:solidFill>
                  <a:srgbClr val="FFFFFF"/>
                </a:solidFill>
                <a:latin typeface="Calibri"/>
              </a:rPr>
              <a:t>Eine Plausibilitätsprüfung beim Import schützt die Lernschicht von UC01; UC04 kann den Forecast als Input nutzen.</a:t>
            </a:r>
          </a:p>
        </p:txBody>
      </p:sp>
      <p:sp>
        <p:nvSpPr>
          <p:cNvPr id="24" name="TextBox 23"/>
          <p:cNvSpPr txBox="1"/>
          <p:nvPr/>
        </p:nvSpPr>
        <p:spPr>
          <a:xfrm>
            <a:off x="539496" y="4261104"/>
            <a:ext cx="8065008" cy="420624"/>
          </a:xfrm>
          <a:prstGeom prst="rect">
            <a:avLst/>
          </a:prstGeom>
          <a:noFill/>
        </p:spPr>
        <p:txBody>
          <a:bodyPr wrap="square" lIns="0" tIns="0" rIns="0" bIns="0" anchor="t">
            <a:spAutoFit/>
          </a:bodyPr>
          <a:lstStyle/>
          <a:p>
            <a:pPr algn="l"/>
            <a:r>
              <a:rPr sz="1050" b="1">
                <a:solidFill>
                  <a:srgbClr val="FF6B35"/>
                </a:solidFill>
                <a:latin typeface="Calibri"/>
              </a:rPr>
              <a:t>Grenze:  </a:t>
            </a:r>
            <a:r>
              <a:rPr sz="1050" b="0">
                <a:solidFill>
                  <a:srgbClr val="B9BEC8"/>
                </a:solidFill>
                <a:latin typeface="Calibri"/>
              </a:rPr>
              <a:t>Der Rückblick auf die 339 Tage ist meine Einschätzung im Nachhinein, keine Messung.</a:t>
            </a:r>
          </a:p>
        </p:txBody>
      </p:sp>
      <p:sp>
        <p:nvSpPr>
          <p:cNvPr id="25" name="TextBox 24"/>
          <p:cNvSpPr txBox="1"/>
          <p:nvPr/>
        </p:nvSpPr>
        <p:spPr>
          <a:xfrm>
            <a:off x="539496" y="4773168"/>
            <a:ext cx="3657600" cy="256032"/>
          </a:xfrm>
          <a:prstGeom prst="rect">
            <a:avLst/>
          </a:prstGeom>
          <a:noFill/>
        </p:spPr>
        <p:txBody>
          <a:bodyPr wrap="square" lIns="0" tIns="0" rIns="0" bIns="0" anchor="t">
            <a:spAutoFit/>
          </a:bodyPr>
          <a:lstStyle/>
          <a:p>
            <a:pPr algn="l"/>
            <a:r>
              <a:rPr sz="1000" b="1">
                <a:solidFill>
                  <a:srgbClr val="7C828D"/>
                </a:solidFill>
                <a:latin typeface="Calibri"/>
              </a:rPr>
              <a:t>THOMAS BALLINARI  ·  SMARTGASTRO.AI</a:t>
            </a:r>
          </a:p>
        </p:txBody>
      </p:sp>
      <p:sp>
        <p:nvSpPr>
          <p:cNvPr id="26" name="TextBox 25"/>
          <p:cNvSpPr txBox="1"/>
          <p:nvPr/>
        </p:nvSpPr>
        <p:spPr>
          <a:xfrm>
            <a:off x="4206240" y="4773168"/>
            <a:ext cx="4398264" cy="256032"/>
          </a:xfrm>
          <a:prstGeom prst="rect">
            <a:avLst/>
          </a:prstGeom>
          <a:noFill/>
        </p:spPr>
        <p:txBody>
          <a:bodyPr wrap="square" lIns="0" tIns="0" rIns="0" bIns="0" anchor="t">
            <a:spAutoFit/>
          </a:bodyPr>
          <a:lstStyle/>
          <a:p>
            <a:pPr algn="r"/>
            <a:r>
              <a:rPr sz="1100" b="1">
                <a:solidFill>
                  <a:srgbClr val="FF6B35"/>
                </a:solidFill>
                <a:latin typeface="Calibri"/>
              </a:rPr>
              <a:t>ANHANG L  ·  UC04 ANOMALIE-ERKENNUNG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39496" y="365760"/>
            <a:ext cx="8065008" cy="457200"/>
          </a:xfrm>
          <a:prstGeom prst="rect">
            <a:avLst/>
          </a:prstGeom>
          <a:noFill/>
        </p:spPr>
        <p:txBody>
          <a:bodyPr wrap="square" lIns="0" tIns="0" rIns="0" bIns="0" anchor="t">
            <a:spAutoFit/>
          </a:bodyPr>
          <a:lstStyle/>
          <a:p>
            <a:pPr algn="l"/>
            <a:r>
              <a:rPr sz="2600" b="1">
                <a:solidFill>
                  <a:srgbClr val="FFFFFF"/>
                </a:solidFill>
                <a:latin typeface="Calibri"/>
              </a:rPr>
              <a:t>UC05 Tagesmenü-Optimierung</a:t>
            </a:r>
            <a:r>
              <a:rPr sz="2600" b="1">
                <a:solidFill>
                  <a:srgbClr val="FF6B35"/>
                </a:solidFill>
                <a:latin typeface="Calibri"/>
              </a:rPr>
              <a:t>  ·  2.90 / 5  ·  Platz 5</a:t>
            </a:r>
          </a:p>
        </p:txBody>
      </p:sp>
      <p:sp>
        <p:nvSpPr>
          <p:cNvPr id="3" name="TextBox 2"/>
          <p:cNvSpPr txBox="1"/>
          <p:nvPr/>
        </p:nvSpPr>
        <p:spPr>
          <a:xfrm>
            <a:off x="539496" y="850392"/>
            <a:ext cx="8065008" cy="365760"/>
          </a:xfrm>
          <a:prstGeom prst="rect">
            <a:avLst/>
          </a:prstGeom>
          <a:noFill/>
        </p:spPr>
        <p:txBody>
          <a:bodyPr wrap="square" lIns="0" tIns="0" rIns="0" bIns="0" anchor="t">
            <a:spAutoFit/>
          </a:bodyPr>
          <a:lstStyle/>
          <a:p>
            <a:pPr algn="l"/>
            <a:r>
              <a:rPr sz="1100" b="0">
                <a:solidFill>
                  <a:srgbClr val="B9BEC8"/>
                </a:solidFill>
                <a:latin typeface="Calibri"/>
              </a:rPr>
              <a:t>Schwächster Datenstand: Tagesmenüs wurden im POS überschrieben, es gibt keine datierte Historie. Der tägliche Import läuft erst seit September.</a:t>
            </a:r>
          </a:p>
        </p:txBody>
      </p:sp>
      <p:sp>
        <p:nvSpPr>
          <p:cNvPr id="4" name="Rounded Rectangle 3"/>
          <p:cNvSpPr/>
          <p:nvPr/>
        </p:nvSpPr>
        <p:spPr>
          <a:xfrm>
            <a:off x="539496" y="1298448"/>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98448"/>
            <a:ext cx="1600200" cy="525780"/>
          </a:xfrm>
          <a:prstGeom prst="rect">
            <a:avLst/>
          </a:prstGeom>
          <a:noFill/>
        </p:spPr>
        <p:txBody>
          <a:bodyPr wrap="square" lIns="0" tIns="0" rIns="0" bIns="0" anchor="ctr">
            <a:spAutoFit/>
          </a:bodyPr>
          <a:lstStyle/>
          <a:p>
            <a:pPr algn="l"/>
            <a:r>
              <a:rPr sz="1100" b="1">
                <a:solidFill>
                  <a:srgbClr val="FFFFFF"/>
                </a:solidFill>
                <a:latin typeface="Calibri"/>
              </a:rPr>
              <a:t>Datenverfügbarkeit</a:t>
            </a:r>
          </a:p>
          <a:p>
            <a:pPr algn="l"/>
            <a:r>
              <a:rPr sz="950" b="0">
                <a:solidFill>
                  <a:srgbClr val="B9BEC8"/>
                </a:solidFill>
                <a:latin typeface="Calibri"/>
              </a:rPr>
              <a:t>30 %  ·  </a:t>
            </a:r>
            <a:r>
              <a:rPr sz="950" b="1">
                <a:solidFill>
                  <a:srgbClr val="22C55E"/>
                </a:solidFill>
                <a:latin typeface="Calibri"/>
              </a:rPr>
              <a:t>Beleg</a:t>
            </a:r>
          </a:p>
        </p:txBody>
      </p:sp>
      <p:sp>
        <p:nvSpPr>
          <p:cNvPr id="6" name="TextBox 5"/>
          <p:cNvSpPr txBox="1"/>
          <p:nvPr/>
        </p:nvSpPr>
        <p:spPr>
          <a:xfrm>
            <a:off x="2286000" y="1298448"/>
            <a:ext cx="566928" cy="525780"/>
          </a:xfrm>
          <a:prstGeom prst="rect">
            <a:avLst/>
          </a:prstGeom>
          <a:noFill/>
        </p:spPr>
        <p:txBody>
          <a:bodyPr wrap="square" lIns="0" tIns="0" rIns="0" bIns="0" anchor="ctr">
            <a:spAutoFit/>
          </a:bodyPr>
          <a:lstStyle/>
          <a:p>
            <a:pPr algn="ctr"/>
            <a:r>
              <a:rPr sz="2200" b="1">
                <a:solidFill>
                  <a:srgbClr val="FF6B35"/>
                </a:solidFill>
                <a:latin typeface="Calibri"/>
              </a:rPr>
              <a:t>2</a:t>
            </a:r>
          </a:p>
        </p:txBody>
      </p:sp>
      <p:sp>
        <p:nvSpPr>
          <p:cNvPr id="7" name="TextBox 6"/>
          <p:cNvSpPr txBox="1"/>
          <p:nvPr/>
        </p:nvSpPr>
        <p:spPr>
          <a:xfrm>
            <a:off x="2944368" y="1298448"/>
            <a:ext cx="5532120" cy="525780"/>
          </a:xfrm>
          <a:prstGeom prst="rect">
            <a:avLst/>
          </a:prstGeom>
          <a:noFill/>
        </p:spPr>
        <p:txBody>
          <a:bodyPr wrap="square" lIns="0" tIns="0" rIns="0" bIns="0" anchor="ctr">
            <a:spAutoFit/>
          </a:bodyPr>
          <a:lstStyle/>
          <a:p>
            <a:pPr algn="l"/>
            <a:r>
              <a:rPr sz="1000" b="0">
                <a:solidFill>
                  <a:srgbClr val="FFFFFF"/>
                </a:solidFill>
                <a:latin typeface="Calibri"/>
              </a:rPr>
              <a:t>Das Tagesmenü wird im POS überschrieben – keine Historie. Täglicher Import seit September 2026; die Lücke ist «ab jetzt geschlossen, nicht rückwirkend». Das ist mein wichtigstes Datenrisiko, deshalb bleibt es bei 2.</a:t>
            </a:r>
          </a:p>
        </p:txBody>
      </p:sp>
      <p:sp>
        <p:nvSpPr>
          <p:cNvPr id="8" name="Rounded Rectangle 7"/>
          <p:cNvSpPr/>
          <p:nvPr/>
        </p:nvSpPr>
        <p:spPr>
          <a:xfrm>
            <a:off x="539496" y="1865376"/>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865376"/>
            <a:ext cx="1600200" cy="525780"/>
          </a:xfrm>
          <a:prstGeom prst="rect">
            <a:avLst/>
          </a:prstGeom>
          <a:noFill/>
        </p:spPr>
        <p:txBody>
          <a:bodyPr wrap="square" lIns="0" tIns="0" rIns="0" bIns="0" anchor="ctr">
            <a:spAutoFit/>
          </a:bodyPr>
          <a:lstStyle/>
          <a:p>
            <a:pPr algn="l"/>
            <a:r>
              <a:rPr sz="1100" b="1">
                <a:solidFill>
                  <a:srgbClr val="FFFFFF"/>
                </a:solidFill>
                <a:latin typeface="Calibri"/>
              </a:rPr>
              <a:t>Wirtschaftlichkeit</a:t>
            </a:r>
          </a:p>
          <a:p>
            <a:pPr algn="l"/>
            <a:r>
              <a:rPr sz="950" b="0">
                <a:solidFill>
                  <a:srgbClr val="B9BEC8"/>
                </a:solidFill>
                <a:latin typeface="Calibri"/>
              </a:rPr>
              <a:t>20 %  ·  </a:t>
            </a:r>
            <a:r>
              <a:rPr sz="950" b="1">
                <a:solidFill>
                  <a:srgbClr val="22C55E"/>
                </a:solidFill>
                <a:latin typeface="Calibri"/>
              </a:rPr>
              <a:t>Beleg</a:t>
            </a:r>
          </a:p>
        </p:txBody>
      </p:sp>
      <p:sp>
        <p:nvSpPr>
          <p:cNvPr id="10" name="TextBox 9"/>
          <p:cNvSpPr txBox="1"/>
          <p:nvPr/>
        </p:nvSpPr>
        <p:spPr>
          <a:xfrm>
            <a:off x="2286000" y="1865376"/>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1" name="TextBox 10"/>
          <p:cNvSpPr txBox="1"/>
          <p:nvPr/>
        </p:nvSpPr>
        <p:spPr>
          <a:xfrm>
            <a:off x="2944368" y="1865376"/>
            <a:ext cx="5532120" cy="525780"/>
          </a:xfrm>
          <a:prstGeom prst="rect">
            <a:avLst/>
          </a:prstGeom>
          <a:noFill/>
        </p:spPr>
        <p:txBody>
          <a:bodyPr wrap="square" lIns="0" tIns="0" rIns="0" bIns="0" anchor="ctr">
            <a:spAutoFit/>
          </a:bodyPr>
          <a:lstStyle/>
          <a:p>
            <a:pPr algn="l"/>
            <a:r>
              <a:rPr sz="1000" b="0">
                <a:solidFill>
                  <a:srgbClr val="FFFFFF"/>
                </a:solidFill>
                <a:latin typeface="Calibri"/>
              </a:rPr>
              <a:t>Nutzen denkbar (beliebtere Menüs, weniger Waste), aber nicht gerechnet. Achtung: Die CHF 3’750 «Menü-Optimierung» im Business Case sind nicht der Nutzen von UC05, sondern eine Annahme zur Menüdokumentation.</a:t>
            </a:r>
          </a:p>
        </p:txBody>
      </p:sp>
      <p:sp>
        <p:nvSpPr>
          <p:cNvPr id="12" name="Rounded Rectangle 11"/>
          <p:cNvSpPr/>
          <p:nvPr/>
        </p:nvSpPr>
        <p:spPr>
          <a:xfrm>
            <a:off x="539496" y="2432304"/>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432304"/>
            <a:ext cx="1600200" cy="525780"/>
          </a:xfrm>
          <a:prstGeom prst="rect">
            <a:avLst/>
          </a:prstGeom>
          <a:noFill/>
        </p:spPr>
        <p:txBody>
          <a:bodyPr wrap="square" lIns="0" tIns="0" rIns="0" bIns="0" anchor="ctr">
            <a:spAutoFit/>
          </a:bodyPr>
          <a:lstStyle/>
          <a:p>
            <a:pPr algn="l"/>
            <a:r>
              <a:rPr sz="1100" b="1">
                <a:solidFill>
                  <a:srgbClr val="FFFFFF"/>
                </a:solidFill>
                <a:latin typeface="Calibri"/>
              </a:rPr>
              <a:t>Machbarkeit</a:t>
            </a:r>
          </a:p>
          <a:p>
            <a:pPr algn="l"/>
            <a:r>
              <a:rPr sz="950" b="0">
                <a:solidFill>
                  <a:srgbClr val="B9BEC8"/>
                </a:solidFill>
                <a:latin typeface="Calibri"/>
              </a:rPr>
              <a:t>15 %  ·  </a:t>
            </a:r>
            <a:r>
              <a:rPr sz="950" b="1">
                <a:solidFill>
                  <a:srgbClr val="22C55E"/>
                </a:solidFill>
                <a:latin typeface="Calibri"/>
              </a:rPr>
              <a:t>Beleg</a:t>
            </a:r>
          </a:p>
        </p:txBody>
      </p:sp>
      <p:sp>
        <p:nvSpPr>
          <p:cNvPr id="14" name="TextBox 13"/>
          <p:cNvSpPr txBox="1"/>
          <p:nvPr/>
        </p:nvSpPr>
        <p:spPr>
          <a:xfrm>
            <a:off x="2286000" y="2432304"/>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5" name="TextBox 14"/>
          <p:cNvSpPr txBox="1"/>
          <p:nvPr/>
        </p:nvSpPr>
        <p:spPr>
          <a:xfrm>
            <a:off x="2944368" y="2432304"/>
            <a:ext cx="5532120" cy="525780"/>
          </a:xfrm>
          <a:prstGeom prst="rect">
            <a:avLst/>
          </a:prstGeom>
          <a:noFill/>
        </p:spPr>
        <p:txBody>
          <a:bodyPr wrap="square" lIns="0" tIns="0" rIns="0" bIns="0" anchor="ctr">
            <a:spAutoFit/>
          </a:bodyPr>
          <a:lstStyle/>
          <a:p>
            <a:pPr algn="l"/>
            <a:r>
              <a:rPr sz="1000" b="0">
                <a:solidFill>
                  <a:srgbClr val="FFFFFF"/>
                </a:solidFill>
                <a:latin typeface="Calibri"/>
              </a:rPr>
              <a:t>Das Tagesmenü wechselt täglich, neue Gerichte haben keine Vergangenheit (Kaltstart). Ein sinnvolles Verfahren – ähnliche frühere Gerichte als Vorbild – setzt Historie voraus, die erst entsteht.</a:t>
            </a:r>
          </a:p>
        </p:txBody>
      </p:sp>
      <p:sp>
        <p:nvSpPr>
          <p:cNvPr id="16" name="Rounded Rectangle 15"/>
          <p:cNvSpPr/>
          <p:nvPr/>
        </p:nvSpPr>
        <p:spPr>
          <a:xfrm>
            <a:off x="539496" y="2999232"/>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99232"/>
            <a:ext cx="1600200" cy="525780"/>
          </a:xfrm>
          <a:prstGeom prst="rect">
            <a:avLst/>
          </a:prstGeom>
          <a:noFill/>
        </p:spPr>
        <p:txBody>
          <a:bodyPr wrap="square" lIns="0" tIns="0" rIns="0" bIns="0" anchor="ctr">
            <a:spAutoFit/>
          </a:bodyPr>
          <a:lstStyle/>
          <a:p>
            <a:pPr algn="l"/>
            <a:r>
              <a:rPr sz="1100" b="1">
                <a:solidFill>
                  <a:srgbClr val="FFFFFF"/>
                </a:solidFill>
                <a:latin typeface="Calibri"/>
              </a:rPr>
              <a:t>Akzeptanz</a:t>
            </a:r>
          </a:p>
          <a:p>
            <a:pPr algn="l"/>
            <a:r>
              <a:rPr sz="950" b="0">
                <a:solidFill>
                  <a:srgbClr val="B9BEC8"/>
                </a:solidFill>
                <a:latin typeface="Calibri"/>
              </a:rPr>
              <a:t>15 %  ·  </a:t>
            </a:r>
            <a:r>
              <a:rPr sz="950" b="1">
                <a:solidFill>
                  <a:srgbClr val="F5A524"/>
                </a:solidFill>
                <a:latin typeface="Calibri"/>
              </a:rPr>
              <a:t>Einschätzung</a:t>
            </a:r>
          </a:p>
        </p:txBody>
      </p:sp>
      <p:sp>
        <p:nvSpPr>
          <p:cNvPr id="18" name="TextBox 17"/>
          <p:cNvSpPr txBox="1"/>
          <p:nvPr/>
        </p:nvSpPr>
        <p:spPr>
          <a:xfrm>
            <a:off x="2286000" y="2999232"/>
            <a:ext cx="566928" cy="525780"/>
          </a:xfrm>
          <a:prstGeom prst="rect">
            <a:avLst/>
          </a:prstGeom>
          <a:noFill/>
        </p:spPr>
        <p:txBody>
          <a:bodyPr wrap="square" lIns="0" tIns="0" rIns="0" bIns="0" anchor="ctr">
            <a:spAutoFit/>
          </a:bodyPr>
          <a:lstStyle/>
          <a:p>
            <a:pPr algn="ctr"/>
            <a:r>
              <a:rPr sz="2200" b="1">
                <a:solidFill>
                  <a:srgbClr val="FF6B35"/>
                </a:solidFill>
                <a:latin typeface="Calibri"/>
              </a:rPr>
              <a:t>3</a:t>
            </a:r>
          </a:p>
        </p:txBody>
      </p:sp>
      <p:sp>
        <p:nvSpPr>
          <p:cNvPr id="19" name="TextBox 18"/>
          <p:cNvSpPr txBox="1"/>
          <p:nvPr/>
        </p:nvSpPr>
        <p:spPr>
          <a:xfrm>
            <a:off x="2944368" y="2999232"/>
            <a:ext cx="5532120" cy="525780"/>
          </a:xfrm>
          <a:prstGeom prst="rect">
            <a:avLst/>
          </a:prstGeom>
          <a:noFill/>
        </p:spPr>
        <p:txBody>
          <a:bodyPr wrap="square" lIns="0" tIns="0" rIns="0" bIns="0" anchor="ctr">
            <a:spAutoFit/>
          </a:bodyPr>
          <a:lstStyle/>
          <a:p>
            <a:pPr algn="l"/>
            <a:r>
              <a:rPr sz="1000" b="0">
                <a:solidFill>
                  <a:srgbClr val="FFFFFF"/>
                </a:solidFill>
                <a:latin typeface="Calibri"/>
              </a:rPr>
              <a:t>Die Menüwahl ist die kreative Kernaufgabe des Küchenchefs; Fotios übersteuert Empfehlungen, die er nicht nachvollziehen kann. Einschätzung auf dieser Aussage.</a:t>
            </a:r>
          </a:p>
        </p:txBody>
      </p:sp>
      <p:sp>
        <p:nvSpPr>
          <p:cNvPr id="20" name="Rounded Rectangle 19"/>
          <p:cNvSpPr/>
          <p:nvPr/>
        </p:nvSpPr>
        <p:spPr>
          <a:xfrm>
            <a:off x="539496" y="3566160"/>
            <a:ext cx="8065008" cy="525780"/>
          </a:xfrm>
          <a:prstGeom prst="roundRect">
            <a:avLst>
              <a:gd name="adj" fmla="val 6000"/>
            </a:avLst>
          </a:prstGeom>
          <a:solidFill>
            <a:srgbClr val="1B1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566160"/>
            <a:ext cx="1600200" cy="525780"/>
          </a:xfrm>
          <a:prstGeom prst="rect">
            <a:avLst/>
          </a:prstGeom>
          <a:noFill/>
        </p:spPr>
        <p:txBody>
          <a:bodyPr wrap="square" lIns="0" tIns="0" rIns="0" bIns="0" anchor="ctr">
            <a:spAutoFit/>
          </a:bodyPr>
          <a:lstStyle/>
          <a:p>
            <a:pPr algn="l"/>
            <a:r>
              <a:rPr sz="1100" b="1">
                <a:solidFill>
                  <a:srgbClr val="FFFFFF"/>
                </a:solidFill>
                <a:latin typeface="Calibri"/>
              </a:rPr>
              <a:t>Strategische Passung</a:t>
            </a:r>
          </a:p>
          <a:p>
            <a:pPr algn="l"/>
            <a:r>
              <a:rPr sz="950" b="0">
                <a:solidFill>
                  <a:srgbClr val="B9BEC8"/>
                </a:solidFill>
                <a:latin typeface="Calibri"/>
              </a:rPr>
              <a:t>20 %  ·  </a:t>
            </a:r>
            <a:r>
              <a:rPr sz="950" b="1">
                <a:solidFill>
                  <a:srgbClr val="22C55E"/>
                </a:solidFill>
                <a:latin typeface="Calibri"/>
              </a:rPr>
              <a:t>Beleg</a:t>
            </a:r>
          </a:p>
        </p:txBody>
      </p:sp>
      <p:sp>
        <p:nvSpPr>
          <p:cNvPr id="22" name="TextBox 21"/>
          <p:cNvSpPr txBox="1"/>
          <p:nvPr/>
        </p:nvSpPr>
        <p:spPr>
          <a:xfrm>
            <a:off x="2286000" y="3566160"/>
            <a:ext cx="566928" cy="525780"/>
          </a:xfrm>
          <a:prstGeom prst="rect">
            <a:avLst/>
          </a:prstGeom>
          <a:noFill/>
        </p:spPr>
        <p:txBody>
          <a:bodyPr wrap="square" lIns="0" tIns="0" rIns="0" bIns="0" anchor="ctr">
            <a:spAutoFit/>
          </a:bodyPr>
          <a:lstStyle/>
          <a:p>
            <a:pPr algn="ctr"/>
            <a:r>
              <a:rPr sz="2200" b="1">
                <a:solidFill>
                  <a:srgbClr val="FF6B35"/>
                </a:solidFill>
                <a:latin typeface="Calibri"/>
              </a:rPr>
              <a:t>4</a:t>
            </a:r>
          </a:p>
        </p:txBody>
      </p:sp>
      <p:sp>
        <p:nvSpPr>
          <p:cNvPr id="23" name="TextBox 22"/>
          <p:cNvSpPr txBox="1"/>
          <p:nvPr/>
        </p:nvSpPr>
        <p:spPr>
          <a:xfrm>
            <a:off x="2944368" y="3566160"/>
            <a:ext cx="5532120" cy="525780"/>
          </a:xfrm>
          <a:prstGeom prst="rect">
            <a:avLst/>
          </a:prstGeom>
          <a:noFill/>
        </p:spPr>
        <p:txBody>
          <a:bodyPr wrap="square" lIns="0" tIns="0" rIns="0" bIns="0" anchor="ctr">
            <a:spAutoFit/>
          </a:bodyPr>
          <a:lstStyle/>
          <a:p>
            <a:pPr algn="l"/>
            <a:r>
              <a:rPr sz="1000" b="0">
                <a:solidFill>
                  <a:srgbClr val="FFFFFF"/>
                </a:solidFill>
                <a:latin typeface="Calibri"/>
              </a:rPr>
              <a:t>Das Tagesmenü ist bereits ein Merkmal der Prognose (Folie 6); der Import verbessert UC01 schon heute.</a:t>
            </a:r>
          </a:p>
        </p:txBody>
      </p:sp>
      <p:sp>
        <p:nvSpPr>
          <p:cNvPr id="24" name="TextBox 23"/>
          <p:cNvSpPr txBox="1"/>
          <p:nvPr/>
        </p:nvSpPr>
        <p:spPr>
          <a:xfrm>
            <a:off x="539496" y="4261104"/>
            <a:ext cx="8065008" cy="420624"/>
          </a:xfrm>
          <a:prstGeom prst="rect">
            <a:avLst/>
          </a:prstGeom>
          <a:noFill/>
        </p:spPr>
        <p:txBody>
          <a:bodyPr wrap="square" lIns="0" tIns="0" rIns="0" bIns="0" anchor="t">
            <a:spAutoFit/>
          </a:bodyPr>
          <a:lstStyle/>
          <a:p>
            <a:pPr algn="l"/>
            <a:r>
              <a:rPr sz="1050" b="1">
                <a:solidFill>
                  <a:srgbClr val="FF6B35"/>
                </a:solidFill>
                <a:latin typeface="Calibri"/>
              </a:rPr>
              <a:t>Grenze:  </a:t>
            </a:r>
            <a:r>
              <a:rPr sz="1050" b="0">
                <a:solidFill>
                  <a:srgbClr val="B9BEC8"/>
                </a:solidFill>
                <a:latin typeface="Calibri"/>
              </a:rPr>
              <a:t>Die 3’750 nicht als UC05-Nutzen verkaufen: keine UC01-Funktion, nur eine Nutzenannahme der Menüdokumentation.</a:t>
            </a:r>
          </a:p>
        </p:txBody>
      </p:sp>
      <p:sp>
        <p:nvSpPr>
          <p:cNvPr id="25" name="TextBox 24"/>
          <p:cNvSpPr txBox="1"/>
          <p:nvPr/>
        </p:nvSpPr>
        <p:spPr>
          <a:xfrm>
            <a:off x="539496" y="4773168"/>
            <a:ext cx="3657600" cy="256032"/>
          </a:xfrm>
          <a:prstGeom prst="rect">
            <a:avLst/>
          </a:prstGeom>
          <a:noFill/>
        </p:spPr>
        <p:txBody>
          <a:bodyPr wrap="square" lIns="0" tIns="0" rIns="0" bIns="0" anchor="t">
            <a:spAutoFit/>
          </a:bodyPr>
          <a:lstStyle/>
          <a:p>
            <a:pPr algn="l"/>
            <a:r>
              <a:rPr sz="1000" b="1">
                <a:solidFill>
                  <a:srgbClr val="7C828D"/>
                </a:solidFill>
                <a:latin typeface="Calibri"/>
              </a:rPr>
              <a:t>THOMAS BALLINARI  ·  SMARTGASTRO.AI</a:t>
            </a:r>
          </a:p>
        </p:txBody>
      </p:sp>
      <p:sp>
        <p:nvSpPr>
          <p:cNvPr id="26" name="TextBox 25"/>
          <p:cNvSpPr txBox="1"/>
          <p:nvPr/>
        </p:nvSpPr>
        <p:spPr>
          <a:xfrm>
            <a:off x="4206240" y="4773168"/>
            <a:ext cx="4398264" cy="256032"/>
          </a:xfrm>
          <a:prstGeom prst="rect">
            <a:avLst/>
          </a:prstGeom>
          <a:noFill/>
        </p:spPr>
        <p:txBody>
          <a:bodyPr wrap="square" lIns="0" tIns="0" rIns="0" bIns="0" anchor="t">
            <a:spAutoFit/>
          </a:bodyPr>
          <a:lstStyle/>
          <a:p>
            <a:pPr algn="r"/>
            <a:r>
              <a:rPr sz="1100" b="1">
                <a:solidFill>
                  <a:srgbClr val="FF6B35"/>
                </a:solidFill>
                <a:latin typeface="Calibri"/>
              </a:rPr>
              <a:t>ANHANG M  ·  UC05 TAGESMENÜ-OPTIMIERUNG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1"/>
          <p:cNvSpPr txBox="1"/>
          <p:nvPr/>
        </p:nvSpPr>
        <p:spPr>
          <a:xfrm>
            <a:off x="540000" y="702000"/>
            <a:ext cx="8063999" cy="540000"/>
          </a:xfrm>
          <a:prstGeom prst="rect">
            <a:avLst/>
          </a:prstGeom>
          <a:noFill/>
        </p:spPr>
        <p:txBody>
          <a:bodyPr wrap="square" lIns="0" tIns="0" rIns="0" bIns="0" anchor="t">
            <a:spAutoFit/>
          </a:bodyPr>
          <a:lstStyle/>
          <a:p>
            <a:pPr algn="l"/>
            <a:r>
              <a:rPr sz="3000" b="1" i="0">
                <a:solidFill>
                  <a:srgbClr val="FFFFFF"/>
                </a:solidFill>
                <a:latin typeface="Calibri"/>
              </a:rPr>
              <a:t>Der Tagesprozess als BPMN — drei Bahnen</a:t>
            </a:r>
          </a:p>
        </p:txBody>
      </p:sp>
      <p:sp>
        <p:nvSpPr>
          <p:cNvPr id="3" name="TextBox 2"/>
          <p:cNvSpPr txBox="1"/>
          <p:nvPr/>
        </p:nvSpPr>
        <p:spPr>
          <a:xfrm>
            <a:off x="540000" y="1080000"/>
            <a:ext cx="8063999" cy="180000"/>
          </a:xfrm>
          <a:prstGeom prst="rect">
            <a:avLst/>
          </a:prstGeom>
          <a:noFill/>
        </p:spPr>
        <p:txBody>
          <a:bodyPr wrap="square" lIns="0" tIns="0" rIns="0" bIns="0" anchor="t">
            <a:spAutoFit/>
          </a:bodyPr>
          <a:lstStyle/>
          <a:p>
            <a:pPr algn="l"/>
            <a:r>
              <a:rPr sz="1100" b="0" i="0">
                <a:solidFill>
                  <a:srgbClr val="B9BEC8"/>
                </a:solidFill>
                <a:latin typeface="Calibri"/>
              </a:rPr>
              <a:t>Sequenzfluss ── im Pool «Löwenburg mit SmartGastro.ai»  ·  Nachrichtenfluss ╌╌ zu externen Systemen  ·  Stand 09/2026</a:t>
            </a:r>
          </a:p>
        </p:txBody>
      </p:sp>
      <p:sp>
        <p:nvSpPr>
          <p:cNvPr id="4" name="Rounded Rectangle 3"/>
          <p:cNvSpPr/>
          <p:nvPr/>
        </p:nvSpPr>
        <p:spPr>
          <a:xfrm>
            <a:off x="540000" y="1288800"/>
            <a:ext cx="8063999" cy="432000"/>
          </a:xfrm>
          <a:prstGeom prst="roundRect">
            <a:avLst>
              <a:gd name="adj" fmla="val 4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540000" y="1288800"/>
            <a:ext cx="936000" cy="432000"/>
          </a:xfrm>
          <a:prstGeom prst="roundRect">
            <a:avLst>
              <a:gd name="adj" fmla="val 4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0000" y="1288800"/>
            <a:ext cx="36000" cy="432000"/>
          </a:xfrm>
          <a:prstGeom prst="roundRect">
            <a:avLst>
              <a:gd name="adj" fmla="val 0"/>
            </a:avLst>
          </a:prstGeom>
          <a:solidFill>
            <a:srgbClr val="8B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66000" y="1324800"/>
            <a:ext cx="756000" cy="129600"/>
          </a:xfrm>
          <a:prstGeom prst="rect">
            <a:avLst/>
          </a:prstGeom>
          <a:noFill/>
        </p:spPr>
        <p:txBody>
          <a:bodyPr wrap="square" lIns="0" tIns="0" rIns="0" bIns="0" anchor="t">
            <a:spAutoFit/>
          </a:bodyPr>
          <a:lstStyle/>
          <a:p>
            <a:pPr algn="l"/>
            <a:r>
              <a:rPr sz="800" b="1" i="0">
                <a:solidFill>
                  <a:srgbClr val="7C828D"/>
                </a:solidFill>
                <a:latin typeface="Calibri"/>
              </a:rPr>
              <a:t>BAHN 3</a:t>
            </a:r>
          </a:p>
        </p:txBody>
      </p:sp>
      <p:sp>
        <p:nvSpPr>
          <p:cNvPr id="8" name="TextBox 7"/>
          <p:cNvSpPr txBox="1"/>
          <p:nvPr/>
        </p:nvSpPr>
        <p:spPr>
          <a:xfrm>
            <a:off x="666000" y="1432800"/>
            <a:ext cx="756000" cy="266400"/>
          </a:xfrm>
          <a:prstGeom prst="rect">
            <a:avLst/>
          </a:prstGeom>
          <a:noFill/>
        </p:spPr>
        <p:txBody>
          <a:bodyPr wrap="square" lIns="0" tIns="0" rIns="0" bIns="0" anchor="t">
            <a:spAutoFit/>
          </a:bodyPr>
          <a:lstStyle/>
          <a:p>
            <a:pPr algn="l">
              <a:lnSpc>
                <a:spcPct val="102000"/>
              </a:lnSpc>
            </a:pPr>
            <a:r>
              <a:rPr sz="1000" b="1" i="0">
                <a:solidFill>
                  <a:srgbClr val="8B78FF"/>
                </a:solidFill>
                <a:latin typeface="Calibri"/>
              </a:rPr>
              <a:t>Externe Systeme</a:t>
            </a:r>
          </a:p>
        </p:txBody>
      </p:sp>
      <p:sp>
        <p:nvSpPr>
          <p:cNvPr id="9" name="Rounded Rectangle 8"/>
          <p:cNvSpPr/>
          <p:nvPr/>
        </p:nvSpPr>
        <p:spPr>
          <a:xfrm>
            <a:off x="540000" y="1764000"/>
            <a:ext cx="8063999" cy="1332000"/>
          </a:xfrm>
          <a:prstGeom prst="roundRect">
            <a:avLst>
              <a:gd name="adj" fmla="val 4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540000" y="1764000"/>
            <a:ext cx="936000" cy="1332000"/>
          </a:xfrm>
          <a:prstGeom prst="roundRect">
            <a:avLst>
              <a:gd name="adj" fmla="val 4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540000" y="1764000"/>
            <a:ext cx="36000" cy="1332000"/>
          </a:xfrm>
          <a:prstGeom prst="roundRect">
            <a:avLst>
              <a:gd name="adj" fmla="val 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6000" y="1872000"/>
            <a:ext cx="756000" cy="151200"/>
          </a:xfrm>
          <a:prstGeom prst="rect">
            <a:avLst/>
          </a:prstGeom>
          <a:noFill/>
        </p:spPr>
        <p:txBody>
          <a:bodyPr wrap="square" lIns="0" tIns="0" rIns="0" bIns="0" anchor="t">
            <a:spAutoFit/>
          </a:bodyPr>
          <a:lstStyle/>
          <a:p>
            <a:pPr algn="l"/>
            <a:r>
              <a:rPr sz="850" b="1" i="0">
                <a:solidFill>
                  <a:srgbClr val="7C828D"/>
                </a:solidFill>
                <a:latin typeface="Calibri"/>
              </a:rPr>
              <a:t>BAHN 1</a:t>
            </a:r>
          </a:p>
        </p:txBody>
      </p:sp>
      <p:sp>
        <p:nvSpPr>
          <p:cNvPr id="13" name="TextBox 12"/>
          <p:cNvSpPr txBox="1"/>
          <p:nvPr/>
        </p:nvSpPr>
        <p:spPr>
          <a:xfrm>
            <a:off x="666000" y="2044800"/>
            <a:ext cx="756000" cy="396000"/>
          </a:xfrm>
          <a:prstGeom prst="rect">
            <a:avLst/>
          </a:prstGeom>
          <a:noFill/>
        </p:spPr>
        <p:txBody>
          <a:bodyPr wrap="square" lIns="0" tIns="0" rIns="0" bIns="0" anchor="t">
            <a:spAutoFit/>
          </a:bodyPr>
          <a:lstStyle/>
          <a:p>
            <a:pPr algn="l">
              <a:lnSpc>
                <a:spcPct val="102000"/>
              </a:lnSpc>
            </a:pPr>
            <a:r>
              <a:rPr sz="1250" b="1" i="0">
                <a:solidFill>
                  <a:srgbClr val="22C55E"/>
                </a:solidFill>
                <a:latin typeface="Calibri"/>
              </a:rPr>
              <a:t>System</a:t>
            </a:r>
          </a:p>
        </p:txBody>
      </p:sp>
      <p:sp>
        <p:nvSpPr>
          <p:cNvPr id="14" name="TextBox 13"/>
          <p:cNvSpPr txBox="1"/>
          <p:nvPr/>
        </p:nvSpPr>
        <p:spPr>
          <a:xfrm>
            <a:off x="666000" y="2754000"/>
            <a:ext cx="756000" cy="306000"/>
          </a:xfrm>
          <a:prstGeom prst="rect">
            <a:avLst/>
          </a:prstGeom>
          <a:noFill/>
        </p:spPr>
        <p:txBody>
          <a:bodyPr wrap="square" lIns="0" tIns="0" rIns="0" bIns="0" anchor="t">
            <a:spAutoFit/>
          </a:bodyPr>
          <a:lstStyle/>
          <a:p>
            <a:pPr algn="l">
              <a:lnSpc>
                <a:spcPct val="115000"/>
              </a:lnSpc>
            </a:pPr>
            <a:r>
              <a:rPr sz="850" b="0" i="0">
                <a:solidFill>
                  <a:srgbClr val="B9BEC8"/>
                </a:solidFill>
                <a:latin typeface="Calibri"/>
              </a:rPr>
              <a:t>läuft automatisch</a:t>
            </a:r>
          </a:p>
        </p:txBody>
      </p:sp>
      <p:sp>
        <p:nvSpPr>
          <p:cNvPr id="15" name="Rounded Rectangle 14"/>
          <p:cNvSpPr/>
          <p:nvPr/>
        </p:nvSpPr>
        <p:spPr>
          <a:xfrm>
            <a:off x="540000" y="3131999"/>
            <a:ext cx="8063999" cy="1386000"/>
          </a:xfrm>
          <a:prstGeom prst="roundRect">
            <a:avLst>
              <a:gd name="adj" fmla="val 4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540000" y="3131999"/>
            <a:ext cx="936000" cy="1386000"/>
          </a:xfrm>
          <a:prstGeom prst="roundRect">
            <a:avLst>
              <a:gd name="adj" fmla="val 4000"/>
            </a:avLst>
          </a:prstGeom>
          <a:solidFill>
            <a:srgbClr val="111111"/>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40000" y="3131999"/>
            <a:ext cx="36000" cy="1386000"/>
          </a:xfrm>
          <a:prstGeom prst="roundRect">
            <a:avLst>
              <a:gd name="adj" fmla="val 0"/>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66000" y="3240000"/>
            <a:ext cx="756000" cy="151200"/>
          </a:xfrm>
          <a:prstGeom prst="rect">
            <a:avLst/>
          </a:prstGeom>
          <a:noFill/>
        </p:spPr>
        <p:txBody>
          <a:bodyPr wrap="square" lIns="0" tIns="0" rIns="0" bIns="0" anchor="t">
            <a:spAutoFit/>
          </a:bodyPr>
          <a:lstStyle/>
          <a:p>
            <a:pPr algn="l"/>
            <a:r>
              <a:rPr sz="850" b="1" i="0">
                <a:solidFill>
                  <a:srgbClr val="7C828D"/>
                </a:solidFill>
                <a:latin typeface="Calibri"/>
              </a:rPr>
              <a:t>BAHN 2</a:t>
            </a:r>
          </a:p>
        </p:txBody>
      </p:sp>
      <p:sp>
        <p:nvSpPr>
          <p:cNvPr id="19" name="TextBox 18"/>
          <p:cNvSpPr txBox="1"/>
          <p:nvPr/>
        </p:nvSpPr>
        <p:spPr>
          <a:xfrm>
            <a:off x="666000" y="3412799"/>
            <a:ext cx="756000" cy="396000"/>
          </a:xfrm>
          <a:prstGeom prst="rect">
            <a:avLst/>
          </a:prstGeom>
          <a:noFill/>
        </p:spPr>
        <p:txBody>
          <a:bodyPr wrap="square" lIns="0" tIns="0" rIns="0" bIns="0" anchor="t">
            <a:spAutoFit/>
          </a:bodyPr>
          <a:lstStyle/>
          <a:p>
            <a:pPr algn="l">
              <a:lnSpc>
                <a:spcPct val="102000"/>
              </a:lnSpc>
            </a:pPr>
            <a:r>
              <a:rPr sz="1250" b="1" i="0">
                <a:solidFill>
                  <a:srgbClr val="FF6B35"/>
                </a:solidFill>
                <a:latin typeface="Calibri"/>
              </a:rPr>
              <a:t>Küche · Fotios</a:t>
            </a:r>
          </a:p>
        </p:txBody>
      </p:sp>
      <p:sp>
        <p:nvSpPr>
          <p:cNvPr id="20" name="TextBox 19"/>
          <p:cNvSpPr txBox="1"/>
          <p:nvPr/>
        </p:nvSpPr>
        <p:spPr>
          <a:xfrm>
            <a:off x="666000" y="4176000"/>
            <a:ext cx="756000" cy="306000"/>
          </a:xfrm>
          <a:prstGeom prst="rect">
            <a:avLst/>
          </a:prstGeom>
          <a:noFill/>
        </p:spPr>
        <p:txBody>
          <a:bodyPr wrap="square" lIns="0" tIns="0" rIns="0" bIns="0" anchor="t">
            <a:spAutoFit/>
          </a:bodyPr>
          <a:lstStyle/>
          <a:p>
            <a:pPr algn="l">
              <a:lnSpc>
                <a:spcPct val="115000"/>
              </a:lnSpc>
            </a:pPr>
            <a:r>
              <a:rPr sz="850" b="0" i="0">
                <a:solidFill>
                  <a:srgbClr val="B9BEC8"/>
                </a:solidFill>
                <a:latin typeface="Calibri"/>
              </a:rPr>
              <a:t>Mensch entscheidet</a:t>
            </a:r>
          </a:p>
        </p:txBody>
      </p:sp>
      <p:sp>
        <p:nvSpPr>
          <p:cNvPr id="21" name="Rounded Rectangle 20"/>
          <p:cNvSpPr/>
          <p:nvPr/>
        </p:nvSpPr>
        <p:spPr>
          <a:xfrm>
            <a:off x="2124000" y="1360800"/>
            <a:ext cx="1224000" cy="302400"/>
          </a:xfrm>
          <a:prstGeom prst="roundRect">
            <a:avLst>
              <a:gd name="adj" fmla="val 10000"/>
            </a:avLst>
          </a:prstGeom>
          <a:noFill/>
          <a:ln w="15240">
            <a:solidFill>
              <a:srgbClr val="8B7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88800" y="1360800"/>
            <a:ext cx="1094400" cy="302400"/>
          </a:xfrm>
          <a:prstGeom prst="rect">
            <a:avLst/>
          </a:prstGeom>
          <a:noFill/>
        </p:spPr>
        <p:txBody>
          <a:bodyPr wrap="square" lIns="0" tIns="0" rIns="0" bIns="0" anchor="ctr">
            <a:spAutoFit/>
          </a:bodyPr>
          <a:lstStyle/>
          <a:p>
            <a:pPr algn="ctr">
              <a:lnSpc>
                <a:spcPct val="105000"/>
              </a:lnSpc>
            </a:pPr>
            <a:r>
              <a:rPr sz="950" b="1" i="0">
                <a:solidFill>
                  <a:srgbClr val="8B78FF"/>
                </a:solidFill>
                <a:latin typeface="Calibri"/>
              </a:rPr>
              <a:t>WaiterOne Back-Office</a:t>
            </a:r>
          </a:p>
        </p:txBody>
      </p:sp>
      <p:sp>
        <p:nvSpPr>
          <p:cNvPr id="23" name="Rounded Rectangle 22"/>
          <p:cNvSpPr/>
          <p:nvPr/>
        </p:nvSpPr>
        <p:spPr>
          <a:xfrm>
            <a:off x="3456000" y="1360800"/>
            <a:ext cx="1044000" cy="302400"/>
          </a:xfrm>
          <a:prstGeom prst="roundRect">
            <a:avLst>
              <a:gd name="adj" fmla="val 10000"/>
            </a:avLst>
          </a:prstGeom>
          <a:noFill/>
          <a:ln w="15240">
            <a:solidFill>
              <a:srgbClr val="8B7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520800" y="1360800"/>
            <a:ext cx="914400" cy="302400"/>
          </a:xfrm>
          <a:prstGeom prst="rect">
            <a:avLst/>
          </a:prstGeom>
          <a:noFill/>
        </p:spPr>
        <p:txBody>
          <a:bodyPr wrap="square" lIns="0" tIns="0" rIns="0" bIns="0" anchor="ctr">
            <a:spAutoFit/>
          </a:bodyPr>
          <a:lstStyle/>
          <a:p>
            <a:pPr algn="ctr">
              <a:lnSpc>
                <a:spcPct val="105000"/>
              </a:lnSpc>
            </a:pPr>
            <a:r>
              <a:rPr sz="950" b="1" i="0">
                <a:solidFill>
                  <a:srgbClr val="8B78FF"/>
                </a:solidFill>
                <a:latin typeface="Calibri"/>
              </a:rPr>
              <a:t>MeteoSchweiz</a:t>
            </a:r>
          </a:p>
        </p:txBody>
      </p:sp>
      <p:sp>
        <p:nvSpPr>
          <p:cNvPr id="25" name="Rounded Rectangle 24"/>
          <p:cNvSpPr/>
          <p:nvPr/>
        </p:nvSpPr>
        <p:spPr>
          <a:xfrm>
            <a:off x="4608000" y="1360800"/>
            <a:ext cx="1152000" cy="302400"/>
          </a:xfrm>
          <a:prstGeom prst="roundRect">
            <a:avLst>
              <a:gd name="adj" fmla="val 10000"/>
            </a:avLst>
          </a:prstGeom>
          <a:noFill/>
          <a:ln w="15240">
            <a:solidFill>
              <a:srgbClr val="8B7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672800" y="1360800"/>
            <a:ext cx="1022400" cy="302400"/>
          </a:xfrm>
          <a:prstGeom prst="rect">
            <a:avLst/>
          </a:prstGeom>
          <a:noFill/>
        </p:spPr>
        <p:txBody>
          <a:bodyPr wrap="square" lIns="0" tIns="0" rIns="0" bIns="0" anchor="ctr">
            <a:spAutoFit/>
          </a:bodyPr>
          <a:lstStyle/>
          <a:p>
            <a:pPr algn="ctr">
              <a:lnSpc>
                <a:spcPct val="105000"/>
              </a:lnSpc>
            </a:pPr>
            <a:r>
              <a:rPr sz="950" b="1" i="0">
                <a:solidFill>
                  <a:srgbClr val="8B78FF"/>
                </a:solidFill>
                <a:latin typeface="Calibri"/>
              </a:rPr>
              <a:t>Webseite Löwenburg</a:t>
            </a:r>
          </a:p>
        </p:txBody>
      </p:sp>
      <p:sp>
        <p:nvSpPr>
          <p:cNvPr id="27" name="Rounded Rectangle 26"/>
          <p:cNvSpPr/>
          <p:nvPr/>
        </p:nvSpPr>
        <p:spPr>
          <a:xfrm>
            <a:off x="5868000" y="1360800"/>
            <a:ext cx="1007999" cy="302400"/>
          </a:xfrm>
          <a:prstGeom prst="roundRect">
            <a:avLst>
              <a:gd name="adj" fmla="val 10000"/>
            </a:avLst>
          </a:prstGeom>
          <a:noFill/>
          <a:ln w="15240">
            <a:solidFill>
              <a:srgbClr val="8B78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32800" y="1360800"/>
            <a:ext cx="878400" cy="302400"/>
          </a:xfrm>
          <a:prstGeom prst="rect">
            <a:avLst/>
          </a:prstGeom>
          <a:noFill/>
        </p:spPr>
        <p:txBody>
          <a:bodyPr wrap="square" lIns="0" tIns="0" rIns="0" bIns="0" anchor="ctr">
            <a:spAutoFit/>
          </a:bodyPr>
          <a:lstStyle/>
          <a:p>
            <a:pPr algn="ctr">
              <a:lnSpc>
                <a:spcPct val="105000"/>
              </a:lnSpc>
            </a:pPr>
            <a:r>
              <a:rPr sz="950" b="1" i="0">
                <a:solidFill>
                  <a:srgbClr val="8B78FF"/>
                </a:solidFill>
                <a:latin typeface="Calibri"/>
              </a:rPr>
              <a:t>KI-Eventsuche</a:t>
            </a:r>
          </a:p>
        </p:txBody>
      </p:sp>
      <p:sp>
        <p:nvSpPr>
          <p:cNvPr id="29" name="Oval 28"/>
          <p:cNvSpPr/>
          <p:nvPr/>
        </p:nvSpPr>
        <p:spPr>
          <a:xfrm>
            <a:off x="1530000" y="2239200"/>
            <a:ext cx="396000" cy="396000"/>
          </a:xfrm>
          <a:prstGeom prst="ellipse">
            <a:avLst/>
          </a:prstGeom>
          <a:solidFill>
            <a:srgbClr val="111111"/>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206000" y="2678400"/>
            <a:ext cx="1044000" cy="180000"/>
          </a:xfrm>
          <a:prstGeom prst="rect">
            <a:avLst/>
          </a:prstGeom>
          <a:noFill/>
        </p:spPr>
        <p:txBody>
          <a:bodyPr wrap="square" lIns="0" tIns="0" rIns="0" bIns="0" anchor="t">
            <a:spAutoFit/>
          </a:bodyPr>
          <a:lstStyle/>
          <a:p>
            <a:pPr algn="ctr"/>
            <a:r>
              <a:rPr sz="1050" b="1" i="0">
                <a:solidFill>
                  <a:srgbClr val="22C55E"/>
                </a:solidFill>
                <a:latin typeface="Calibri"/>
              </a:rPr>
              <a:t>05:00</a:t>
            </a:r>
          </a:p>
        </p:txBody>
      </p:sp>
      <p:sp>
        <p:nvSpPr>
          <p:cNvPr id="31" name="Rounded Rectangle 30"/>
          <p:cNvSpPr/>
          <p:nvPr/>
        </p:nvSpPr>
        <p:spPr>
          <a:xfrm>
            <a:off x="2124000" y="2015999"/>
            <a:ext cx="1296000" cy="846000"/>
          </a:xfrm>
          <a:prstGeom prst="roundRect">
            <a:avLst>
              <a:gd name="adj" fmla="val 10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2224800" y="2080799"/>
            <a:ext cx="1094400" cy="136800"/>
          </a:xfrm>
          <a:prstGeom prst="rect">
            <a:avLst/>
          </a:prstGeom>
          <a:noFill/>
        </p:spPr>
        <p:txBody>
          <a:bodyPr wrap="square" lIns="0" tIns="0" rIns="0" bIns="0" anchor="t">
            <a:spAutoFit/>
          </a:bodyPr>
          <a:lstStyle/>
          <a:p>
            <a:pPr algn="l"/>
            <a:r>
              <a:rPr sz="850" b="1" i="0">
                <a:solidFill>
                  <a:srgbClr val="7C828D"/>
                </a:solidFill>
                <a:latin typeface="Calibri"/>
              </a:rPr>
              <a:t>⚙  Service-Task</a:t>
            </a:r>
          </a:p>
        </p:txBody>
      </p:sp>
      <p:sp>
        <p:nvSpPr>
          <p:cNvPr id="33" name="TextBox 32"/>
          <p:cNvSpPr txBox="1"/>
          <p:nvPr/>
        </p:nvSpPr>
        <p:spPr>
          <a:xfrm>
            <a:off x="2224800" y="2217600"/>
            <a:ext cx="1094400"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Daten holen</a:t>
            </a:r>
          </a:p>
        </p:txBody>
      </p:sp>
      <p:sp>
        <p:nvSpPr>
          <p:cNvPr id="34" name="TextBox 33"/>
          <p:cNvSpPr txBox="1"/>
          <p:nvPr/>
        </p:nvSpPr>
        <p:spPr>
          <a:xfrm>
            <a:off x="2224800" y="2537999"/>
            <a:ext cx="1094400"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Kassen · Wetter · Anlässe · Tagesmenü</a:t>
            </a:r>
          </a:p>
        </p:txBody>
      </p:sp>
      <p:sp>
        <p:nvSpPr>
          <p:cNvPr id="35" name="Rounded Rectangle 34"/>
          <p:cNvSpPr/>
          <p:nvPr/>
        </p:nvSpPr>
        <p:spPr>
          <a:xfrm>
            <a:off x="3636000" y="2015999"/>
            <a:ext cx="1296000" cy="846000"/>
          </a:xfrm>
          <a:prstGeom prst="roundRect">
            <a:avLst>
              <a:gd name="adj" fmla="val 10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736799" y="2080799"/>
            <a:ext cx="1094400" cy="136800"/>
          </a:xfrm>
          <a:prstGeom prst="rect">
            <a:avLst/>
          </a:prstGeom>
          <a:noFill/>
        </p:spPr>
        <p:txBody>
          <a:bodyPr wrap="square" lIns="0" tIns="0" rIns="0" bIns="0" anchor="t">
            <a:spAutoFit/>
          </a:bodyPr>
          <a:lstStyle/>
          <a:p>
            <a:pPr algn="l"/>
            <a:r>
              <a:rPr sz="850" b="1" i="0">
                <a:solidFill>
                  <a:srgbClr val="7C828D"/>
                </a:solidFill>
                <a:latin typeface="Calibri"/>
              </a:rPr>
              <a:t>⚙  Service-Task</a:t>
            </a:r>
          </a:p>
        </p:txBody>
      </p:sp>
      <p:sp>
        <p:nvSpPr>
          <p:cNvPr id="37" name="TextBox 36"/>
          <p:cNvSpPr txBox="1"/>
          <p:nvPr/>
        </p:nvSpPr>
        <p:spPr>
          <a:xfrm>
            <a:off x="3736799" y="2217600"/>
            <a:ext cx="1094400"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Prognose rechnen</a:t>
            </a:r>
          </a:p>
        </p:txBody>
      </p:sp>
      <p:sp>
        <p:nvSpPr>
          <p:cNvPr id="38" name="TextBox 37"/>
          <p:cNvSpPr txBox="1"/>
          <p:nvPr/>
        </p:nvSpPr>
        <p:spPr>
          <a:xfrm>
            <a:off x="3736799" y="2537999"/>
            <a:ext cx="1094400"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Regeln + gelernte Deltas</a:t>
            </a:r>
          </a:p>
        </p:txBody>
      </p:sp>
      <p:sp>
        <p:nvSpPr>
          <p:cNvPr id="39" name="Rounded Rectangle 38"/>
          <p:cNvSpPr/>
          <p:nvPr/>
        </p:nvSpPr>
        <p:spPr>
          <a:xfrm>
            <a:off x="5148000" y="2015999"/>
            <a:ext cx="1188000" cy="846000"/>
          </a:xfrm>
          <a:prstGeom prst="roundRect">
            <a:avLst>
              <a:gd name="adj" fmla="val 10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248800" y="2080799"/>
            <a:ext cx="986399" cy="136800"/>
          </a:xfrm>
          <a:prstGeom prst="rect">
            <a:avLst/>
          </a:prstGeom>
          <a:noFill/>
        </p:spPr>
        <p:txBody>
          <a:bodyPr wrap="square" lIns="0" tIns="0" rIns="0" bIns="0" anchor="t">
            <a:spAutoFit/>
          </a:bodyPr>
          <a:lstStyle/>
          <a:p>
            <a:pPr algn="l"/>
            <a:r>
              <a:rPr sz="850" b="1" i="0">
                <a:solidFill>
                  <a:srgbClr val="7C828D"/>
                </a:solidFill>
                <a:latin typeface="Calibri"/>
              </a:rPr>
              <a:t>⚙  Service-Task</a:t>
            </a:r>
          </a:p>
        </p:txBody>
      </p:sp>
      <p:sp>
        <p:nvSpPr>
          <p:cNvPr id="41" name="TextBox 40"/>
          <p:cNvSpPr txBox="1"/>
          <p:nvPr/>
        </p:nvSpPr>
        <p:spPr>
          <a:xfrm>
            <a:off x="5248800" y="2217600"/>
            <a:ext cx="986399"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Dashboard bereitstellen</a:t>
            </a:r>
          </a:p>
        </p:txBody>
      </p:sp>
      <p:sp>
        <p:nvSpPr>
          <p:cNvPr id="42" name="TextBox 41"/>
          <p:cNvSpPr txBox="1"/>
          <p:nvPr/>
        </p:nvSpPr>
        <p:spPr>
          <a:xfrm>
            <a:off x="5248800" y="2537999"/>
            <a:ext cx="986399"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rollenbasiert, mit Erklärung</a:t>
            </a:r>
          </a:p>
        </p:txBody>
      </p:sp>
      <p:sp>
        <p:nvSpPr>
          <p:cNvPr id="43" name="Rounded Rectangle 42"/>
          <p:cNvSpPr/>
          <p:nvPr/>
        </p:nvSpPr>
        <p:spPr>
          <a:xfrm>
            <a:off x="6876000" y="2015999"/>
            <a:ext cx="1188000" cy="846000"/>
          </a:xfrm>
          <a:prstGeom prst="roundRect">
            <a:avLst>
              <a:gd name="adj" fmla="val 10000"/>
            </a:avLst>
          </a:prstGeom>
          <a:solidFill>
            <a:srgbClr val="1B1D23"/>
          </a:solidFill>
          <a:ln w="12700">
            <a:solidFill>
              <a:srgbClr val="33373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976800" y="2080799"/>
            <a:ext cx="986399" cy="136800"/>
          </a:xfrm>
          <a:prstGeom prst="rect">
            <a:avLst/>
          </a:prstGeom>
          <a:noFill/>
        </p:spPr>
        <p:txBody>
          <a:bodyPr wrap="square" lIns="0" tIns="0" rIns="0" bIns="0" anchor="t">
            <a:spAutoFit/>
          </a:bodyPr>
          <a:lstStyle/>
          <a:p>
            <a:pPr algn="l"/>
            <a:r>
              <a:rPr sz="850" b="1" i="0">
                <a:solidFill>
                  <a:srgbClr val="7C828D"/>
                </a:solidFill>
                <a:latin typeface="Calibri"/>
              </a:rPr>
              <a:t>⚙  Service-Task</a:t>
            </a:r>
          </a:p>
        </p:txBody>
      </p:sp>
      <p:sp>
        <p:nvSpPr>
          <p:cNvPr id="45" name="TextBox 44"/>
          <p:cNvSpPr txBox="1"/>
          <p:nvPr/>
        </p:nvSpPr>
        <p:spPr>
          <a:xfrm>
            <a:off x="6976800" y="2217600"/>
            <a:ext cx="986399"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Delta lernen</a:t>
            </a:r>
          </a:p>
        </p:txBody>
      </p:sp>
      <p:sp>
        <p:nvSpPr>
          <p:cNvPr id="46" name="TextBox 45"/>
          <p:cNvSpPr txBox="1"/>
          <p:nvPr/>
        </p:nvSpPr>
        <p:spPr>
          <a:xfrm>
            <a:off x="6976800" y="2537999"/>
            <a:ext cx="986399"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Ist gegen Prognose, EMA je Gericht</a:t>
            </a:r>
          </a:p>
        </p:txBody>
      </p:sp>
      <p:sp>
        <p:nvSpPr>
          <p:cNvPr id="47" name="Oval 46"/>
          <p:cNvSpPr/>
          <p:nvPr/>
        </p:nvSpPr>
        <p:spPr>
          <a:xfrm>
            <a:off x="8226000" y="2275200"/>
            <a:ext cx="324000" cy="324000"/>
          </a:xfrm>
          <a:prstGeom prst="ellipse">
            <a:avLst/>
          </a:prstGeom>
          <a:solidFill>
            <a:srgbClr val="111111"/>
          </a:solidFill>
          <a:ln w="4445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902000" y="2642400"/>
            <a:ext cx="972000" cy="180000"/>
          </a:xfrm>
          <a:prstGeom prst="rect">
            <a:avLst/>
          </a:prstGeom>
          <a:noFill/>
        </p:spPr>
        <p:txBody>
          <a:bodyPr wrap="square" lIns="0" tIns="0" rIns="0" bIns="0" anchor="t">
            <a:spAutoFit/>
          </a:bodyPr>
          <a:lstStyle/>
          <a:p>
            <a:pPr algn="ctr"/>
            <a:r>
              <a:rPr sz="1050" b="1" i="0">
                <a:solidFill>
                  <a:srgbClr val="FF6B35"/>
                </a:solidFill>
                <a:latin typeface="Calibri"/>
              </a:rPr>
              <a:t>Ende</a:t>
            </a:r>
          </a:p>
        </p:txBody>
      </p:sp>
      <p:cxnSp>
        <p:nvCxnSpPr>
          <p:cNvPr id="49" name="Connector 48"/>
          <p:cNvCxnSpPr/>
          <p:nvPr/>
        </p:nvCxnSpPr>
        <p:spPr>
          <a:xfrm>
            <a:off x="1925999" y="2437200"/>
            <a:ext cx="198001"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420000" y="2437200"/>
            <a:ext cx="216000"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932000" y="2437200"/>
            <a:ext cx="216000"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063999" y="2437200"/>
            <a:ext cx="162001"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2286000" y="1663200"/>
            <a:ext cx="450000" cy="352799"/>
          </a:xfrm>
          <a:prstGeom prst="line">
            <a:avLst/>
          </a:prstGeom>
          <a:ln w="12700">
            <a:solidFill>
              <a:srgbClr val="8B78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2574000" y="1663200"/>
            <a:ext cx="1403999" cy="352799"/>
          </a:xfrm>
          <a:prstGeom prst="line">
            <a:avLst/>
          </a:prstGeom>
          <a:ln w="12700">
            <a:solidFill>
              <a:srgbClr val="8B78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2862000" y="1663200"/>
            <a:ext cx="2322000" cy="352799"/>
          </a:xfrm>
          <a:prstGeom prst="line">
            <a:avLst/>
          </a:prstGeom>
          <a:ln w="12700">
            <a:solidFill>
              <a:srgbClr val="8B78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3150000" y="1663200"/>
            <a:ext cx="3222000" cy="352799"/>
          </a:xfrm>
          <a:prstGeom prst="line">
            <a:avLst/>
          </a:prstGeom>
          <a:ln w="12700">
            <a:solidFill>
              <a:srgbClr val="8B78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742000" y="2862000"/>
            <a:ext cx="0" cy="313200"/>
          </a:xfrm>
          <a:prstGeom prst="line">
            <a:avLst/>
          </a:prstGeom>
          <a:ln w="15875">
            <a:solidFill>
              <a:srgbClr val="7C828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2160000" y="3175200"/>
            <a:ext cx="3582000" cy="0"/>
          </a:xfrm>
          <a:prstGeom prst="line">
            <a:avLst/>
          </a:prstGeom>
          <a:ln w="15875">
            <a:solidFill>
              <a:srgbClr val="7C828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160000" y="3175200"/>
            <a:ext cx="0" cy="17280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548000" y="3348000"/>
            <a:ext cx="1224000" cy="827999"/>
          </a:xfrm>
          <a:prstGeom prst="roundRect">
            <a:avLst>
              <a:gd name="adj" fmla="val 10000"/>
            </a:avLst>
          </a:prstGeom>
          <a:solidFill>
            <a:srgbClr val="1B1D23"/>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648800" y="3412800"/>
            <a:ext cx="1022400" cy="136800"/>
          </a:xfrm>
          <a:prstGeom prst="rect">
            <a:avLst/>
          </a:prstGeom>
          <a:noFill/>
        </p:spPr>
        <p:txBody>
          <a:bodyPr wrap="square" lIns="0" tIns="0" rIns="0" bIns="0" anchor="t">
            <a:spAutoFit/>
          </a:bodyPr>
          <a:lstStyle/>
          <a:p>
            <a:pPr algn="l"/>
            <a:r>
              <a:rPr sz="850" b="1" i="0">
                <a:solidFill>
                  <a:srgbClr val="FF6B35"/>
                </a:solidFill>
                <a:latin typeface="Calibri"/>
              </a:rPr>
              <a:t>👤  Benutzer-Task</a:t>
            </a:r>
          </a:p>
        </p:txBody>
      </p:sp>
      <p:sp>
        <p:nvSpPr>
          <p:cNvPr id="62" name="TextBox 61"/>
          <p:cNvSpPr txBox="1"/>
          <p:nvPr/>
        </p:nvSpPr>
        <p:spPr>
          <a:xfrm>
            <a:off x="1648800" y="3549600"/>
            <a:ext cx="1022400"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Dashboard öffnen</a:t>
            </a:r>
          </a:p>
        </p:txBody>
      </p:sp>
      <p:sp>
        <p:nvSpPr>
          <p:cNvPr id="63" name="TextBox 62"/>
          <p:cNvSpPr txBox="1"/>
          <p:nvPr/>
        </p:nvSpPr>
        <p:spPr>
          <a:xfrm>
            <a:off x="1648800" y="3852000"/>
            <a:ext cx="1022400"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07:00 Uhr</a:t>
            </a:r>
          </a:p>
        </p:txBody>
      </p:sp>
      <p:sp>
        <p:nvSpPr>
          <p:cNvPr id="64" name="Rounded Rectangle 63"/>
          <p:cNvSpPr/>
          <p:nvPr/>
        </p:nvSpPr>
        <p:spPr>
          <a:xfrm>
            <a:off x="2951999" y="3348000"/>
            <a:ext cx="1296000" cy="827999"/>
          </a:xfrm>
          <a:prstGeom prst="roundRect">
            <a:avLst>
              <a:gd name="adj" fmla="val 10000"/>
            </a:avLst>
          </a:prstGeom>
          <a:solidFill>
            <a:srgbClr val="1B1D23"/>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3052799" y="3412800"/>
            <a:ext cx="1094400" cy="136800"/>
          </a:xfrm>
          <a:prstGeom prst="rect">
            <a:avLst/>
          </a:prstGeom>
          <a:noFill/>
        </p:spPr>
        <p:txBody>
          <a:bodyPr wrap="square" lIns="0" tIns="0" rIns="0" bIns="0" anchor="t">
            <a:spAutoFit/>
          </a:bodyPr>
          <a:lstStyle/>
          <a:p>
            <a:pPr algn="l"/>
            <a:r>
              <a:rPr sz="850" b="1" i="0">
                <a:solidFill>
                  <a:srgbClr val="FF6B35"/>
                </a:solidFill>
                <a:latin typeface="Calibri"/>
              </a:rPr>
              <a:t>👤  Benutzer-Task</a:t>
            </a:r>
          </a:p>
        </p:txBody>
      </p:sp>
      <p:sp>
        <p:nvSpPr>
          <p:cNvPr id="66" name="TextBox 65"/>
          <p:cNvSpPr txBox="1"/>
          <p:nvPr/>
        </p:nvSpPr>
        <p:spPr>
          <a:xfrm>
            <a:off x="3052799" y="3549600"/>
            <a:ext cx="1094400"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Prognose prüfen</a:t>
            </a:r>
          </a:p>
        </p:txBody>
      </p:sp>
      <p:sp>
        <p:nvSpPr>
          <p:cNvPr id="67" name="TextBox 66"/>
          <p:cNvSpPr txBox="1"/>
          <p:nvPr/>
        </p:nvSpPr>
        <p:spPr>
          <a:xfrm>
            <a:off x="3052799" y="3852000"/>
            <a:ext cx="1094400"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mit Begründung: «Warum diese Zahl?»</a:t>
            </a:r>
          </a:p>
        </p:txBody>
      </p:sp>
      <p:sp>
        <p:nvSpPr>
          <p:cNvPr id="68" name="Diamond 67"/>
          <p:cNvSpPr/>
          <p:nvPr/>
        </p:nvSpPr>
        <p:spPr>
          <a:xfrm>
            <a:off x="4482000" y="3546000"/>
            <a:ext cx="432000" cy="432000"/>
          </a:xfrm>
          <a:prstGeom prst="diamond">
            <a:avLst/>
          </a:prstGeom>
          <a:solidFill>
            <a:srgbClr val="111111"/>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4482000" y="3546000"/>
            <a:ext cx="432000" cy="432000"/>
          </a:xfrm>
          <a:prstGeom prst="rect">
            <a:avLst/>
          </a:prstGeom>
          <a:noFill/>
        </p:spPr>
        <p:txBody>
          <a:bodyPr wrap="square" lIns="0" tIns="0" rIns="0" bIns="0" anchor="ctr">
            <a:spAutoFit/>
          </a:bodyPr>
          <a:lstStyle/>
          <a:p>
            <a:pPr algn="ctr"/>
            <a:r>
              <a:rPr sz="1500" b="1" i="0">
                <a:solidFill>
                  <a:srgbClr val="FF6B35"/>
                </a:solidFill>
                <a:latin typeface="Calibri"/>
              </a:rPr>
              <a:t>✕</a:t>
            </a:r>
          </a:p>
        </p:txBody>
      </p:sp>
      <p:sp>
        <p:nvSpPr>
          <p:cNvPr id="70" name="TextBox 69"/>
          <p:cNvSpPr txBox="1"/>
          <p:nvPr/>
        </p:nvSpPr>
        <p:spPr>
          <a:xfrm>
            <a:off x="4266000" y="3283199"/>
            <a:ext cx="864000" cy="151200"/>
          </a:xfrm>
          <a:prstGeom prst="rect">
            <a:avLst/>
          </a:prstGeom>
          <a:noFill/>
        </p:spPr>
        <p:txBody>
          <a:bodyPr wrap="square" lIns="0" tIns="0" rIns="0" bIns="0" anchor="t">
            <a:spAutoFit/>
          </a:bodyPr>
          <a:lstStyle/>
          <a:p>
            <a:pPr algn="ctr"/>
            <a:r>
              <a:rPr sz="1000" b="1" i="0">
                <a:solidFill>
                  <a:srgbClr val="FF6B35"/>
                </a:solidFill>
                <a:latin typeface="Calibri"/>
              </a:rPr>
              <a:t>Plausibel?</a:t>
            </a:r>
          </a:p>
        </p:txBody>
      </p:sp>
      <p:sp>
        <p:nvSpPr>
          <p:cNvPr id="71" name="Rounded Rectangle 70"/>
          <p:cNvSpPr/>
          <p:nvPr/>
        </p:nvSpPr>
        <p:spPr>
          <a:xfrm>
            <a:off x="5148000" y="3258000"/>
            <a:ext cx="1188000" cy="468000"/>
          </a:xfrm>
          <a:prstGeom prst="roundRect">
            <a:avLst>
              <a:gd name="adj" fmla="val 10000"/>
            </a:avLst>
          </a:prstGeom>
          <a:solidFill>
            <a:srgbClr val="1B1D23"/>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5248800" y="3337200"/>
            <a:ext cx="986399"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Mise en Place nach Prognose</a:t>
            </a:r>
          </a:p>
        </p:txBody>
      </p:sp>
      <p:sp>
        <p:nvSpPr>
          <p:cNvPr id="73" name="Rounded Rectangle 72"/>
          <p:cNvSpPr/>
          <p:nvPr/>
        </p:nvSpPr>
        <p:spPr>
          <a:xfrm>
            <a:off x="5148000" y="3924000"/>
            <a:ext cx="1188000" cy="468000"/>
          </a:xfrm>
          <a:prstGeom prst="roundRect">
            <a:avLst>
              <a:gd name="adj" fmla="val 10000"/>
            </a:avLst>
          </a:prstGeom>
          <a:solidFill>
            <a:srgbClr val="1B1D23"/>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5248800" y="4003200"/>
            <a:ext cx="986399"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Override mit Begründung</a:t>
            </a:r>
          </a:p>
        </p:txBody>
      </p:sp>
      <p:sp>
        <p:nvSpPr>
          <p:cNvPr id="75" name="Rounded Rectangle 74"/>
          <p:cNvSpPr/>
          <p:nvPr/>
        </p:nvSpPr>
        <p:spPr>
          <a:xfrm>
            <a:off x="6588000" y="3348000"/>
            <a:ext cx="1475999" cy="827999"/>
          </a:xfrm>
          <a:prstGeom prst="roundRect">
            <a:avLst>
              <a:gd name="adj" fmla="val 10000"/>
            </a:avLst>
          </a:prstGeom>
          <a:solidFill>
            <a:srgbClr val="1B1D23"/>
          </a:solidFill>
          <a:ln w="2032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6688800" y="3412800"/>
            <a:ext cx="1274399" cy="136800"/>
          </a:xfrm>
          <a:prstGeom prst="rect">
            <a:avLst/>
          </a:prstGeom>
          <a:noFill/>
        </p:spPr>
        <p:txBody>
          <a:bodyPr wrap="square" lIns="0" tIns="0" rIns="0" bIns="0" anchor="t">
            <a:spAutoFit/>
          </a:bodyPr>
          <a:lstStyle/>
          <a:p>
            <a:pPr algn="l"/>
            <a:r>
              <a:rPr sz="850" b="1" i="0">
                <a:solidFill>
                  <a:srgbClr val="FF6B35"/>
                </a:solidFill>
                <a:latin typeface="Calibri"/>
              </a:rPr>
              <a:t>👤  Benutzer-Task</a:t>
            </a:r>
          </a:p>
        </p:txBody>
      </p:sp>
      <p:sp>
        <p:nvSpPr>
          <p:cNvPr id="77" name="TextBox 76"/>
          <p:cNvSpPr txBox="1"/>
          <p:nvPr/>
        </p:nvSpPr>
        <p:spPr>
          <a:xfrm>
            <a:off x="6688800" y="3549600"/>
            <a:ext cx="1274399" cy="342000"/>
          </a:xfrm>
          <a:prstGeom prst="rect">
            <a:avLst/>
          </a:prstGeom>
          <a:noFill/>
        </p:spPr>
        <p:txBody>
          <a:bodyPr wrap="square" lIns="0" tIns="0" rIns="0" bIns="0" anchor="t">
            <a:spAutoFit/>
          </a:bodyPr>
          <a:lstStyle/>
          <a:p>
            <a:pPr algn="l">
              <a:lnSpc>
                <a:spcPct val="105000"/>
              </a:lnSpc>
            </a:pPr>
            <a:r>
              <a:rPr sz="1200" b="1" i="0">
                <a:solidFill>
                  <a:srgbClr val="FFFFFF"/>
                </a:solidFill>
                <a:latin typeface="Calibri"/>
              </a:rPr>
              <a:t>Tagesabschluss</a:t>
            </a:r>
          </a:p>
        </p:txBody>
      </p:sp>
      <p:sp>
        <p:nvSpPr>
          <p:cNvPr id="78" name="TextBox 77"/>
          <p:cNvSpPr txBox="1"/>
          <p:nvPr/>
        </p:nvSpPr>
        <p:spPr>
          <a:xfrm>
            <a:off x="6688800" y="3852000"/>
            <a:ext cx="1274399" cy="280800"/>
          </a:xfrm>
          <a:prstGeom prst="rect">
            <a:avLst/>
          </a:prstGeom>
          <a:noFill/>
        </p:spPr>
        <p:txBody>
          <a:bodyPr wrap="square" lIns="0" tIns="0" rIns="0" bIns="0" anchor="t">
            <a:spAutoFit/>
          </a:bodyPr>
          <a:lstStyle/>
          <a:p>
            <a:pPr algn="l">
              <a:lnSpc>
                <a:spcPct val="115000"/>
              </a:lnSpc>
            </a:pPr>
            <a:r>
              <a:rPr sz="900" b="0" i="0">
                <a:solidFill>
                  <a:srgbClr val="B9BEC8"/>
                </a:solidFill>
                <a:latin typeface="Calibri"/>
              </a:rPr>
              <a:t>Ist · vorbereitet · ausverkauft · Abfall</a:t>
            </a:r>
          </a:p>
        </p:txBody>
      </p:sp>
      <p:cxnSp>
        <p:nvCxnSpPr>
          <p:cNvPr id="79" name="Connector 78"/>
          <p:cNvCxnSpPr/>
          <p:nvPr/>
        </p:nvCxnSpPr>
        <p:spPr>
          <a:xfrm>
            <a:off x="2772000" y="3761999"/>
            <a:ext cx="179999"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248000" y="3761999"/>
            <a:ext cx="234000"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14000" y="3491999"/>
            <a:ext cx="234000" cy="162001"/>
          </a:xfrm>
          <a:prstGeom prst="line">
            <a:avLst/>
          </a:prstGeom>
          <a:ln w="15875">
            <a:solidFill>
              <a:srgbClr val="FF6B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14000" y="3870000"/>
            <a:ext cx="234000" cy="161999"/>
          </a:xfrm>
          <a:prstGeom prst="line">
            <a:avLst/>
          </a:prstGeom>
          <a:ln w="15875">
            <a:solidFill>
              <a:srgbClr val="FF6B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4878000" y="3448800"/>
            <a:ext cx="251999" cy="136800"/>
          </a:xfrm>
          <a:prstGeom prst="rect">
            <a:avLst/>
          </a:prstGeom>
          <a:noFill/>
        </p:spPr>
        <p:txBody>
          <a:bodyPr wrap="square" lIns="0" tIns="0" rIns="0" bIns="0" anchor="t">
            <a:spAutoFit/>
          </a:bodyPr>
          <a:lstStyle/>
          <a:p>
            <a:pPr algn="l"/>
            <a:r>
              <a:rPr sz="1000" b="1" i="0">
                <a:solidFill>
                  <a:srgbClr val="22C55E"/>
                </a:solidFill>
                <a:latin typeface="Calibri"/>
              </a:rPr>
              <a:t>ja</a:t>
            </a:r>
          </a:p>
        </p:txBody>
      </p:sp>
      <p:sp>
        <p:nvSpPr>
          <p:cNvPr id="84" name="TextBox 83"/>
          <p:cNvSpPr txBox="1"/>
          <p:nvPr/>
        </p:nvSpPr>
        <p:spPr>
          <a:xfrm>
            <a:off x="4831200" y="4039200"/>
            <a:ext cx="306000" cy="136800"/>
          </a:xfrm>
          <a:prstGeom prst="rect">
            <a:avLst/>
          </a:prstGeom>
          <a:noFill/>
        </p:spPr>
        <p:txBody>
          <a:bodyPr wrap="square" lIns="0" tIns="0" rIns="0" bIns="0" anchor="t">
            <a:spAutoFit/>
          </a:bodyPr>
          <a:lstStyle/>
          <a:p>
            <a:pPr algn="l"/>
            <a:r>
              <a:rPr sz="1000" b="1" i="0">
                <a:solidFill>
                  <a:srgbClr val="FF6B35"/>
                </a:solidFill>
                <a:latin typeface="Calibri"/>
              </a:rPr>
              <a:t>nein</a:t>
            </a:r>
          </a:p>
        </p:txBody>
      </p:sp>
      <p:cxnSp>
        <p:nvCxnSpPr>
          <p:cNvPr id="85" name="Connector 84"/>
          <p:cNvCxnSpPr/>
          <p:nvPr/>
        </p:nvCxnSpPr>
        <p:spPr>
          <a:xfrm>
            <a:off x="6336000" y="3491999"/>
            <a:ext cx="252000" cy="162001"/>
          </a:xfrm>
          <a:prstGeom prst="line">
            <a:avLst/>
          </a:prstGeom>
          <a:ln w="15875">
            <a:solidFill>
              <a:srgbClr val="7C828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336000" y="3906000"/>
            <a:ext cx="252000" cy="252000"/>
          </a:xfrm>
          <a:prstGeom prst="line">
            <a:avLst/>
          </a:prstGeom>
          <a:ln w="15875">
            <a:solidFill>
              <a:srgbClr val="7C828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462000" y="3761999"/>
            <a:ext cx="126000" cy="0"/>
          </a:xfrm>
          <a:prstGeom prst="line">
            <a:avLst/>
          </a:prstGeom>
          <a:ln w="15875">
            <a:solidFill>
              <a:srgbClr val="7C828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7326000" y="2862000"/>
            <a:ext cx="0" cy="486000"/>
          </a:xfrm>
          <a:prstGeom prst="line">
            <a:avLst/>
          </a:prstGeom>
          <a:ln w="31750">
            <a:solidFill>
              <a:srgbClr val="22C55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7416000" y="2916000"/>
            <a:ext cx="1044000" cy="198000"/>
          </a:xfrm>
          <a:prstGeom prst="rect">
            <a:avLst/>
          </a:prstGeom>
          <a:noFill/>
        </p:spPr>
        <p:txBody>
          <a:bodyPr wrap="square" lIns="0" tIns="0" rIns="0" bIns="0" anchor="t">
            <a:spAutoFit/>
          </a:bodyPr>
          <a:lstStyle/>
          <a:p>
            <a:pPr algn="l"/>
            <a:r>
              <a:rPr sz="1100" b="1" i="0">
                <a:solidFill>
                  <a:srgbClr val="22C55E"/>
                </a:solidFill>
                <a:latin typeface="Calibri"/>
              </a:rPr>
              <a:t>Feedback-Loop</a:t>
            </a:r>
          </a:p>
        </p:txBody>
      </p:sp>
      <p:sp>
        <p:nvSpPr>
          <p:cNvPr id="90" name="TextBox 89"/>
          <p:cNvSpPr txBox="1"/>
          <p:nvPr/>
        </p:nvSpPr>
        <p:spPr>
          <a:xfrm>
            <a:off x="1602000" y="4572000"/>
            <a:ext cx="6983999" cy="162000"/>
          </a:xfrm>
          <a:prstGeom prst="rect">
            <a:avLst/>
          </a:prstGeom>
          <a:noFill/>
        </p:spPr>
        <p:txBody>
          <a:bodyPr wrap="square" lIns="0" tIns="0" rIns="0" bIns="0" anchor="t">
            <a:spAutoFit/>
          </a:bodyPr>
          <a:lstStyle/>
          <a:p>
            <a:pPr algn="l"/>
            <a:r>
              <a:rPr sz="950" b="0" i="0">
                <a:solidFill>
                  <a:srgbClr val="7C828D"/>
                </a:solidFill>
                <a:latin typeface="Calibri"/>
              </a:rPr>
              <a:t>Der grüne Pfeil überquert die Bahngrenze zurück — aus der Entscheidung des Menschen wird das Lernsignal des Systems.</a:t>
            </a:r>
          </a:p>
        </p:txBody>
      </p:sp>
      <p:sp>
        <p:nvSpPr>
          <p:cNvPr id="91" name="TextBox 90"/>
          <p:cNvSpPr txBox="1"/>
          <p:nvPr/>
        </p:nvSpPr>
        <p:spPr>
          <a:xfrm>
            <a:off x="540000" y="4770000"/>
            <a:ext cx="4320000" cy="251999"/>
          </a:xfrm>
          <a:prstGeom prst="rect">
            <a:avLst/>
          </a:prstGeom>
          <a:noFill/>
        </p:spPr>
        <p:txBody>
          <a:bodyPr wrap="square" lIns="0" tIns="0" rIns="0" bIns="0" anchor="t">
            <a:spAutoFit/>
          </a:bodyPr>
          <a:lstStyle/>
          <a:p>
            <a:pPr algn="l"/>
            <a:r>
              <a:rPr sz="1000" b="1" i="0">
                <a:solidFill>
                  <a:srgbClr val="7C828D"/>
                </a:solidFill>
                <a:latin typeface="Calibri"/>
              </a:rPr>
              <a:t>THOMAS BALLINARI  ·  SMARTGASTRO.AI</a:t>
            </a:r>
          </a:p>
        </p:txBody>
      </p:sp>
      <p:sp>
        <p:nvSpPr>
          <p:cNvPr id="92" name="TextBox 91"/>
          <p:cNvSpPr txBox="1"/>
          <p:nvPr/>
        </p:nvSpPr>
        <p:spPr>
          <a:xfrm>
            <a:off x="5183999" y="4770000"/>
            <a:ext cx="3420000" cy="251999"/>
          </a:xfrm>
          <a:prstGeom prst="rect">
            <a:avLst/>
          </a:prstGeom>
          <a:noFill/>
        </p:spPr>
        <p:txBody>
          <a:bodyPr wrap="square" lIns="0" tIns="0" rIns="0" bIns="0" anchor="t">
            <a:spAutoFit/>
          </a:bodyPr>
          <a:lstStyle/>
          <a:p>
            <a:pPr algn="r"/>
            <a:r>
              <a:rPr sz="1100" b="1" i="0">
                <a:solidFill>
                  <a:srgbClr val="FF6B35"/>
                </a:solidFill>
                <a:latin typeface="Calibri"/>
              </a:rPr>
              <a:t>ANHANG N  ·  BPMN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10633</Words>
  <Application>Microsoft Office PowerPoint</Application>
  <PresentationFormat>Bildschirmpräsentation (16:9)</PresentationFormat>
  <Paragraphs>943</Paragraphs>
  <Slides>25</Slides>
  <Notes>25</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25</vt:i4>
      </vt:variant>
    </vt:vector>
  </HeadingPairs>
  <TitlesOfParts>
    <vt:vector size="30" baseType="lpstr">
      <vt:lpstr>Arial</vt:lpstr>
      <vt:lpstr>Calibri</vt:lpstr>
      <vt:lpstr>Consolas</vt:lpstr>
      <vt:lpstr>Impact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SmartGastro.ai – Präsentation V3.8 Prüfung</dc:title>
  <dc:subject>15-Minuten-Präsentation: Flipchart-Use-Cases + 2:30 Dashboard-Demo</dc:subject>
  <dc:creator>PptxGenJS</dc:creator>
  <cp:lastModifiedBy>Murmeltier 9000</cp:lastModifiedBy>
  <cp:revision>10</cp:revision>
  <dcterms:created xsi:type="dcterms:W3CDTF">2026-05-16T17:41:36Z</dcterms:created>
  <dcterms:modified xsi:type="dcterms:W3CDTF">2026-10-03T03:59:52Z</dcterms:modified>
</cp:coreProperties>
</file>